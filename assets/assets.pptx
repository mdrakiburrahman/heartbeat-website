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147469933" r:id="rId2"/>
    <p:sldId id="2147469934" r:id="rId3"/>
    <p:sldId id="2147469935" r:id="rId4"/>
    <p:sldId id="214746993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D371"/>
    <a:srgbClr val="F5FAFD"/>
    <a:srgbClr val="F3F9FD"/>
    <a:srgbClr val="62E291"/>
    <a:srgbClr val="DEE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4194" y="222"/>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0153E-21CE-45DF-9122-75E0E1AE9D7B}" type="datetimeFigureOut">
              <a:rPr lang="en-CA" smtClean="0"/>
              <a:t>2026-03-07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492308-E548-43A9-8367-228B85112070}" type="slidenum">
              <a:rPr lang="en-CA" smtClean="0"/>
              <a:t>‹#›</a:t>
            </a:fld>
            <a:endParaRPr lang="en-CA"/>
          </a:p>
        </p:txBody>
      </p:sp>
    </p:spTree>
    <p:extLst>
      <p:ext uri="{BB962C8B-B14F-4D97-AF65-F5344CB8AC3E}">
        <p14:creationId xmlns:p14="http://schemas.microsoft.com/office/powerpoint/2010/main" val="640932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4432" lvl="1" indent="-171450">
              <a:buFont typeface="Arial" panose="020B0604020202020204" pitchFamily="34" charset="0"/>
              <a:buChar char="•"/>
            </a:pPr>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3FACBC-306F-47B9-81C3-428BB4AA8297}"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3/7/2026 1:01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9735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1F6D5-A605-73C8-D3EA-DD747B073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D90C6-C202-4F3D-46F8-BB0C8B9E22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43BDE-D3A6-5A56-26FB-0218F2DDDE44}"/>
              </a:ext>
            </a:extLst>
          </p:cNvPr>
          <p:cNvSpPr>
            <a:spLocks noGrp="1"/>
          </p:cNvSpPr>
          <p:nvPr>
            <p:ph type="body" idx="1"/>
          </p:nvPr>
        </p:nvSpPr>
        <p:spPr/>
        <p:txBody>
          <a:bodyPr/>
          <a:lstStyle/>
          <a:p>
            <a:pPr marL="384432" lvl="1" indent="-171450">
              <a:buFont typeface="Arial" panose="020B0604020202020204" pitchFamily="34" charset="0"/>
              <a:buChar char="•"/>
            </a:pPr>
            <a:endParaRPr lang="en-US"/>
          </a:p>
        </p:txBody>
      </p:sp>
      <p:sp>
        <p:nvSpPr>
          <p:cNvPr id="4" name="Header Placeholder 3">
            <a:extLst>
              <a:ext uri="{FF2B5EF4-FFF2-40B4-BE49-F238E27FC236}">
                <a16:creationId xmlns:a16="http://schemas.microsoft.com/office/drawing/2014/main" id="{A59AC12F-E898-5442-7823-891B428F8ECA}"/>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1B4EF6D6-7B20-8834-A405-2B5FBF4ABEC4}"/>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0B8E4D7-122C-7188-3EA8-11816F31BD16}"/>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3FACBC-306F-47B9-81C3-428BB4AA8297}"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3/7/2026 1:38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E9CD3996-221B-02ED-5513-57C36F80B6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7749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1A397-3327-AD4A-BF20-AD938B6ED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0A23D-700D-9822-45E6-AC4C212E9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87663-29B0-86F9-B0AF-85268B1A1E85}"/>
              </a:ext>
            </a:extLst>
          </p:cNvPr>
          <p:cNvSpPr>
            <a:spLocks noGrp="1"/>
          </p:cNvSpPr>
          <p:nvPr>
            <p:ph type="body" idx="1"/>
          </p:nvPr>
        </p:nvSpPr>
        <p:spPr/>
        <p:txBody>
          <a:bodyPr/>
          <a:lstStyle/>
          <a:p>
            <a:pPr marL="384432" lvl="1" indent="-171450">
              <a:buFont typeface="Arial" panose="020B0604020202020204" pitchFamily="34" charset="0"/>
              <a:buChar char="•"/>
            </a:pPr>
            <a:endParaRPr lang="en-US"/>
          </a:p>
        </p:txBody>
      </p:sp>
      <p:sp>
        <p:nvSpPr>
          <p:cNvPr id="4" name="Header Placeholder 3">
            <a:extLst>
              <a:ext uri="{FF2B5EF4-FFF2-40B4-BE49-F238E27FC236}">
                <a16:creationId xmlns:a16="http://schemas.microsoft.com/office/drawing/2014/main" id="{8779BBC6-8A70-DA56-F9CC-216423617335}"/>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FF141B9E-0A3D-8337-ECD1-B6C46D1D6CF0}"/>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A41F756-A51B-E775-AA8F-910F243D67DC}"/>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3FACBC-306F-47B9-81C3-428BB4AA8297}"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3/7/2026 2:09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B70574F8-BA3C-2A16-F7FD-AC44A8EF4D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2138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B13E-851B-FDD0-9BE7-3330623C32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8C4BD-5FFC-E6DB-5DAE-A53C76689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725BFC-E5A5-80B8-640D-3C36FAFCC586}"/>
              </a:ext>
            </a:extLst>
          </p:cNvPr>
          <p:cNvSpPr>
            <a:spLocks noGrp="1"/>
          </p:cNvSpPr>
          <p:nvPr>
            <p:ph type="body" idx="1"/>
          </p:nvPr>
        </p:nvSpPr>
        <p:spPr/>
        <p:txBody>
          <a:bodyPr/>
          <a:lstStyle/>
          <a:p>
            <a:pPr marL="384432" lvl="1" indent="-171450">
              <a:buFont typeface="Arial" panose="020B0604020202020204" pitchFamily="34" charset="0"/>
              <a:buChar char="•"/>
            </a:pPr>
            <a:endParaRPr lang="en-US"/>
          </a:p>
        </p:txBody>
      </p:sp>
      <p:sp>
        <p:nvSpPr>
          <p:cNvPr id="4" name="Header Placeholder 3">
            <a:extLst>
              <a:ext uri="{FF2B5EF4-FFF2-40B4-BE49-F238E27FC236}">
                <a16:creationId xmlns:a16="http://schemas.microsoft.com/office/drawing/2014/main" id="{169BCFA4-7740-8CA3-8F74-C6C339436A2E}"/>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E77850CD-7080-3FE5-DC0C-6596B9D69354}"/>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58EA2FB-C379-ACAE-4296-39416CAF94B2}"/>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3FACBC-306F-47B9-81C3-428BB4AA8297}"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3/7/2026 2:41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6D6D072A-E4AA-C10E-772A-BAACD869B9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0130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Pr>
        <a:solidFill>
          <a:srgbClr val="FFFFFF"/>
        </a:solidFill>
        <a:effectLst/>
      </p:bgPr>
    </p:bg>
    <p:spTree>
      <p:nvGrpSpPr>
        <p:cNvPr id="1" name=""/>
        <p:cNvGrpSpPr/>
        <p:nvPr/>
      </p:nvGrpSpPr>
      <p:grpSpPr>
        <a:xfrm>
          <a:off x="0" y="0"/>
          <a:ext cx="0" cy="0"/>
          <a:chOff x="0" y="0"/>
          <a:chExt cx="0" cy="0"/>
        </a:xfrm>
      </p:grpSpPr>
      <p:pic>
        <p:nvPicPr>
          <p:cNvPr id="3" name="Picture 2" descr="A picture containing snow, skiing, man, table&#10;&#10;Description automatically generated">
            <a:extLst>
              <a:ext uri="{FF2B5EF4-FFF2-40B4-BE49-F238E27FC236}">
                <a16:creationId xmlns:a16="http://schemas.microsoft.com/office/drawing/2014/main" id="{D05A0A04-3E77-4881-8D4B-236B7770FA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0121"/>
          <a:stretch/>
        </p:blipFill>
        <p:spPr>
          <a:xfrm>
            <a:off x="0" y="0"/>
            <a:ext cx="12192000" cy="6858001"/>
          </a:xfrm>
          <a:prstGeom prst="rect">
            <a:avLst/>
          </a:prstGeom>
        </p:spPr>
      </p:pic>
      <p:sp>
        <p:nvSpPr>
          <p:cNvPr id="4" name="Rectangle 3">
            <a:extLst>
              <a:ext uri="{FF2B5EF4-FFF2-40B4-BE49-F238E27FC236}">
                <a16:creationId xmlns:a16="http://schemas.microsoft.com/office/drawing/2014/main" id="{2D1DDD9B-8629-4A3D-934C-308CD31A16D7}"/>
              </a:ext>
            </a:extLst>
          </p:cNvPr>
          <p:cNvSpPr/>
          <p:nvPr userDrawn="1"/>
        </p:nvSpPr>
        <p:spPr bwMode="auto">
          <a:xfrm>
            <a:off x="0" y="1"/>
            <a:ext cx="7414260" cy="6858000"/>
          </a:xfrm>
          <a:prstGeom prst="rect">
            <a:avLst/>
          </a:prstGeom>
          <a:gradFill flip="none" rotWithShape="1">
            <a:gsLst>
              <a:gs pos="0">
                <a:schemeClr val="tx1"/>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9190" tIns="127352" rIns="159190" bIns="127352" numCol="1" spcCol="0" rtlCol="0" fromWordArt="0" anchor="t" anchorCtr="0" forceAA="0" compatLnSpc="1">
            <a:prstTxWarp prst="textNoShape">
              <a:avLst/>
            </a:prstTxWarp>
            <a:noAutofit/>
          </a:bodyPr>
          <a:lstStyle/>
          <a:p>
            <a:pPr algn="l" defTabSz="811730" fontAlgn="base">
              <a:spcBef>
                <a:spcPct val="0"/>
              </a:spcBef>
              <a:spcAft>
                <a:spcPct val="0"/>
              </a:spcAft>
            </a:pPr>
            <a:endParaRPr lang="en-CA" sz="1741"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4" y="2568914"/>
            <a:ext cx="4167887" cy="964623"/>
          </a:xfrm>
        </p:spPr>
        <p:txBody>
          <a:bodyPr anchor="b" anchorCtr="0">
            <a:spAutoFit/>
          </a:bodyPr>
          <a:lstStyle>
            <a:lvl1pPr>
              <a:defRPr>
                <a:solidFill>
                  <a:srgbClr val="30E5D0"/>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4164583" cy="294824"/>
          </a:xfrm>
          <a:noFill/>
        </p:spPr>
        <p:txBody>
          <a:bodyPr wrap="square" lIns="0" tIns="0" rIns="0" bIns="0">
            <a:spAutoFit/>
          </a:bodyPr>
          <a:lstStyle>
            <a:lvl1pPr marL="0" indent="0">
              <a:spcBef>
                <a:spcPts val="0"/>
              </a:spcBef>
              <a:buNone/>
              <a:defRPr sz="1916" spc="0" baseline="0">
                <a:solidFill>
                  <a:schemeClr val="tx1"/>
                </a:solidFill>
                <a:latin typeface="+mn-lt"/>
                <a:cs typeface="Segoe UI" panose="020B0502040204020203" pitchFamily="34" charset="0"/>
              </a:defRPr>
            </a:lvl1pPr>
          </a:lstStyle>
          <a:p>
            <a:pPr lvl="0"/>
            <a:r>
              <a:rPr lang="en-US"/>
              <a:t>Speaker name or subtitle</a:t>
            </a:r>
          </a:p>
        </p:txBody>
      </p:sp>
      <p:pic>
        <p:nvPicPr>
          <p:cNvPr id="22" name="MS logo gray - EMF" descr="Microsoft logo, gray text version">
            <a:extLst>
              <a:ext uri="{FF2B5EF4-FFF2-40B4-BE49-F238E27FC236}">
                <a16:creationId xmlns:a16="http://schemas.microsoft.com/office/drawing/2014/main" id="{7974B5BE-9DE3-4677-9705-03E3F55E5966}"/>
              </a:ext>
            </a:extLst>
          </p:cNvPr>
          <p:cNvPicPr>
            <a:picLocks noChangeAspect="1"/>
          </p:cNvPicPr>
          <p:nvPr userDrawn="1"/>
        </p:nvPicPr>
        <p:blipFill>
          <a:blip r:embed="rId3"/>
          <a:stretch>
            <a:fillRect/>
          </a:stretch>
        </p:blipFill>
        <p:spPr bwMode="black">
          <a:xfrm>
            <a:off x="1568195" y="589877"/>
            <a:ext cx="1366440" cy="292608"/>
          </a:xfrm>
          <a:prstGeom prst="rect">
            <a:avLst/>
          </a:prstGeom>
        </p:spPr>
      </p:pic>
      <p:pic>
        <p:nvPicPr>
          <p:cNvPr id="23" name="Picture 4" descr="Bell Canada - Wikipedia">
            <a:extLst>
              <a:ext uri="{FF2B5EF4-FFF2-40B4-BE49-F238E27FC236}">
                <a16:creationId xmlns:a16="http://schemas.microsoft.com/office/drawing/2014/main" id="{D56C791F-B339-4A4E-954F-B2676691D6BF}"/>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82043" y="585789"/>
            <a:ext cx="520521" cy="296697"/>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221A671E-C19A-48C3-A91F-668CCCE5323D}"/>
              </a:ext>
            </a:extLst>
          </p:cNvPr>
          <p:cNvCxnSpPr/>
          <p:nvPr userDrawn="1"/>
        </p:nvCxnSpPr>
        <p:spPr>
          <a:xfrm>
            <a:off x="1342070" y="585789"/>
            <a:ext cx="0" cy="296697"/>
          </a:xfrm>
          <a:prstGeom prst="line">
            <a:avLst/>
          </a:prstGeom>
          <a:ln w="12700">
            <a:solidFill>
              <a:srgbClr val="73737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1406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4" y="2568914"/>
            <a:ext cx="4167887" cy="964623"/>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4164583" cy="294824"/>
          </a:xfrm>
          <a:noFill/>
        </p:spPr>
        <p:txBody>
          <a:bodyPr wrap="square" lIns="0" tIns="0" rIns="0" bIns="0">
            <a:spAutoFit/>
          </a:bodyPr>
          <a:lstStyle>
            <a:lvl1pPr marL="0" indent="0">
              <a:spcBef>
                <a:spcPts val="0"/>
              </a:spcBef>
              <a:buNone/>
              <a:defRPr sz="1916"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Picture 5" descr="Two women working in an office.&#10;&#10;">
            <a:extLst>
              <a:ext uri="{FF2B5EF4-FFF2-40B4-BE49-F238E27FC236}">
                <a16:creationId xmlns:a16="http://schemas.microsoft.com/office/drawing/2014/main" id="{73666D3B-9CD2-42EE-B937-0DD8CE1638AA}"/>
              </a:ext>
            </a:extLst>
          </p:cNvPr>
          <p:cNvPicPr>
            <a:picLocks noChangeAspect="1"/>
          </p:cNvPicPr>
          <p:nvPr userDrawn="1"/>
        </p:nvPicPr>
        <p:blipFill rotWithShape="1">
          <a:blip r:embed="rId2"/>
          <a:srcRect l="10963" r="22388"/>
          <a:stretch/>
        </p:blipFill>
        <p:spPr bwMode="ltGray">
          <a:xfrm>
            <a:off x="5334000" y="1"/>
            <a:ext cx="6858000" cy="6858000"/>
          </a:xfrm>
          <a:prstGeom prst="rect">
            <a:avLst/>
          </a:prstGeom>
        </p:spPr>
      </p:pic>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3"/>
          <a:stretch>
            <a:fillRect/>
          </a:stretch>
        </p:blipFill>
        <p:spPr bwMode="black">
          <a:xfrm>
            <a:off x="584201" y="585788"/>
            <a:ext cx="1366440" cy="292608"/>
          </a:xfrm>
          <a:prstGeom prst="rect">
            <a:avLst/>
          </a:prstGeom>
        </p:spPr>
      </p:pic>
    </p:spTree>
    <p:extLst>
      <p:ext uri="{BB962C8B-B14F-4D97-AF65-F5344CB8AC3E}">
        <p14:creationId xmlns:p14="http://schemas.microsoft.com/office/powerpoint/2010/main" val="14991615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3051464"/>
            <a:ext cx="9144000" cy="482312"/>
          </a:xfrm>
          <a:noFill/>
        </p:spPr>
        <p:txBody>
          <a:bodyPr lIns="0" tIns="0" rIns="0" bIns="0" anchor="b" anchorCtr="0">
            <a:spAutoFit/>
          </a:bodyPr>
          <a:lstStyle>
            <a:lvl1pPr>
              <a:defRPr sz="3134" spc="-44"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94824"/>
          </a:xfrm>
          <a:noFill/>
        </p:spPr>
        <p:txBody>
          <a:bodyPr wrap="square" lIns="0" tIns="0" rIns="0" bIns="0">
            <a:spAutoFit/>
          </a:bodyPr>
          <a:lstStyle>
            <a:lvl1pPr marL="0" indent="0">
              <a:spcBef>
                <a:spcPts val="0"/>
              </a:spcBef>
              <a:buNone/>
              <a:defRPr sz="1916"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1" y="585788"/>
            <a:ext cx="1366245" cy="292608"/>
          </a:xfrm>
          <a:prstGeom prst="rect">
            <a:avLst/>
          </a:prstGeom>
        </p:spPr>
      </p:pic>
    </p:spTree>
    <p:extLst>
      <p:ext uri="{BB962C8B-B14F-4D97-AF65-F5344CB8AC3E}">
        <p14:creationId xmlns:p14="http://schemas.microsoft.com/office/powerpoint/2010/main" val="29679180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3051464"/>
            <a:ext cx="9144000" cy="482312"/>
          </a:xfrm>
          <a:noFill/>
        </p:spPr>
        <p:txBody>
          <a:bodyPr lIns="0" tIns="0" rIns="0" bIns="0" anchor="b" anchorCtr="0">
            <a:spAutoFit/>
          </a:bodyPr>
          <a:lstStyle>
            <a:lvl1pPr>
              <a:defRPr sz="3134" spc="-44"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94824"/>
          </a:xfrm>
          <a:noFill/>
        </p:spPr>
        <p:txBody>
          <a:bodyPr wrap="square" lIns="0" tIns="0" rIns="0" bIns="0">
            <a:spAutoFit/>
          </a:bodyPr>
          <a:lstStyle>
            <a:lvl1pPr marL="0" indent="0">
              <a:spcBef>
                <a:spcPts val="0"/>
              </a:spcBef>
              <a:buNone/>
              <a:defRPr sz="1916"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1" y="585788"/>
            <a:ext cx="1366440" cy="292608"/>
          </a:xfrm>
          <a:prstGeom prst="rect">
            <a:avLst/>
          </a:prstGeom>
        </p:spPr>
      </p:pic>
    </p:spTree>
    <p:extLst>
      <p:ext uri="{BB962C8B-B14F-4D97-AF65-F5344CB8AC3E}">
        <p14:creationId xmlns:p14="http://schemas.microsoft.com/office/powerpoint/2010/main" val="22955316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4040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6585473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1"/>
            <a:ext cx="11018520" cy="1404039"/>
          </a:xfrm>
        </p:spPr>
        <p:txBody>
          <a:bodyPr wrap="square">
            <a:spAutoFit/>
          </a:bodyPr>
          <a:lstStyle>
            <a:lvl1pPr marL="0" indent="0">
              <a:buNone/>
              <a:defRPr/>
            </a:lvl1pPr>
            <a:lvl2pPr marL="198999" indent="0">
              <a:buNone/>
              <a:defRPr/>
            </a:lvl2pPr>
            <a:lvl3pPr marL="397999" indent="0">
              <a:buNone/>
              <a:defRPr/>
            </a:lvl3pPr>
            <a:lvl4pPr marL="596998" indent="0">
              <a:buNone/>
              <a:defRPr/>
            </a:lvl4pPr>
            <a:lvl5pPr marL="795997"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291369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14040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4040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9511766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4" y="457200"/>
            <a:ext cx="11018520" cy="482312"/>
          </a:xfrm>
        </p:spPr>
        <p:txBody>
          <a:bodyPr/>
          <a:lstStyle/>
          <a:p>
            <a:r>
              <a:rPr lang="en-US"/>
              <a:t>Click to edit Master title style</a:t>
            </a:r>
          </a:p>
        </p:txBody>
      </p:sp>
      <p:sp>
        <p:nvSpPr>
          <p:cNvPr id="4" name="Text Placeholder 3"/>
          <p:cNvSpPr>
            <a:spLocks noGrp="1"/>
          </p:cNvSpPr>
          <p:nvPr>
            <p:ph type="body" sz="quarter" idx="10"/>
          </p:nvPr>
        </p:nvSpPr>
        <p:spPr>
          <a:xfrm>
            <a:off x="584201" y="1435100"/>
            <a:ext cx="5212080" cy="1404039"/>
          </a:xfrm>
        </p:spPr>
        <p:txBody>
          <a:bodyPr wrap="square">
            <a:spAutoFit/>
          </a:bodyPr>
          <a:lstStyle>
            <a:lvl1pPr marL="0" indent="0">
              <a:spcBef>
                <a:spcPts val="1066"/>
              </a:spcBef>
              <a:buClr>
                <a:schemeClr val="tx1"/>
              </a:buClr>
              <a:buFont typeface="Wingdings" panose="05000000000000000000" pitchFamily="2" charset="2"/>
              <a:buNone/>
              <a:defRPr sz="2437" b="0">
                <a:latin typeface="Segoe UI" panose="020B0502040204020203" pitchFamily="34" charset="0"/>
                <a:cs typeface="Segoe UI" panose="020B0502040204020203" pitchFamily="34" charset="0"/>
              </a:defRPr>
            </a:lvl1pPr>
            <a:lvl2pPr marL="222492" indent="0">
              <a:buFont typeface="Wingdings" panose="05000000000000000000" pitchFamily="2" charset="2"/>
              <a:buNone/>
              <a:defRPr sz="1741" b="0"/>
            </a:lvl2pPr>
            <a:lvl3pPr marL="392471" indent="0">
              <a:buFont typeface="Wingdings" panose="05000000000000000000" pitchFamily="2" charset="2"/>
              <a:buNone/>
              <a:tabLst/>
              <a:defRPr sz="1393" b="0"/>
            </a:lvl3pPr>
            <a:lvl4pPr marL="567977" indent="0">
              <a:buFont typeface="Wingdings" panose="05000000000000000000" pitchFamily="2" charset="2"/>
              <a:buNone/>
              <a:defRPr sz="1219" b="0"/>
            </a:lvl4pPr>
            <a:lvl5pPr marL="743484" indent="0">
              <a:buFont typeface="Wingdings" panose="05000000000000000000" pitchFamily="2" charset="2"/>
              <a:buNone/>
              <a:tabLst/>
              <a:defRPr sz="1219"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404039"/>
          </a:xfrm>
        </p:spPr>
        <p:txBody>
          <a:bodyPr wrap="square">
            <a:spAutoFit/>
          </a:bodyPr>
          <a:lstStyle>
            <a:lvl1pPr marL="0" indent="0">
              <a:spcBef>
                <a:spcPts val="1066"/>
              </a:spcBef>
              <a:buClr>
                <a:schemeClr val="tx1"/>
              </a:buClr>
              <a:buFont typeface="Wingdings" panose="05000000000000000000" pitchFamily="2" charset="2"/>
              <a:buNone/>
              <a:defRPr sz="2437" b="0">
                <a:latin typeface="Segoe UI" panose="020B0502040204020203" pitchFamily="34" charset="0"/>
                <a:cs typeface="Segoe UI" panose="020B0502040204020203" pitchFamily="34" charset="0"/>
              </a:defRPr>
            </a:lvl1pPr>
            <a:lvl2pPr marL="222492" indent="0">
              <a:buFont typeface="Wingdings" panose="05000000000000000000" pitchFamily="2" charset="2"/>
              <a:buNone/>
              <a:defRPr sz="1741" b="0"/>
            </a:lvl2pPr>
            <a:lvl3pPr marL="392471" indent="0">
              <a:buFont typeface="Wingdings" panose="05000000000000000000" pitchFamily="2" charset="2"/>
              <a:buNone/>
              <a:tabLst/>
              <a:defRPr sz="1393" b="0"/>
            </a:lvl3pPr>
            <a:lvl4pPr marL="567977" indent="0">
              <a:buFont typeface="Wingdings" panose="05000000000000000000" pitchFamily="2" charset="2"/>
              <a:buNone/>
              <a:defRPr sz="1219" b="0"/>
            </a:lvl4pPr>
            <a:lvl5pPr marL="743484" indent="0">
              <a:buFont typeface="Wingdings" panose="05000000000000000000" pitchFamily="2" charset="2"/>
              <a:buNone/>
              <a:tabLst/>
              <a:defRPr sz="1219"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44495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299411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32527"/>
          </a:xfrm>
        </p:spPr>
        <p:txBody>
          <a:bodyPr tIns="64008"/>
          <a:lstStyle>
            <a:lvl1pPr>
              <a:defRPr sz="1741"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654106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4" y="2159576"/>
            <a:ext cx="4158362" cy="964623"/>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294824"/>
          </a:xfrm>
        </p:spPr>
        <p:txBody>
          <a:bodyPr/>
          <a:lstStyle>
            <a:lvl1pPr marL="0" indent="0">
              <a:buNone/>
              <a:defRPr sz="1916">
                <a:latin typeface="+mn-lt"/>
              </a:defRPr>
            </a:lvl1pPr>
            <a:lvl2pPr marL="198999" indent="0">
              <a:buNone/>
              <a:defRPr/>
            </a:lvl2pPr>
            <a:lvl3pPr marL="397999" indent="0">
              <a:buNone/>
              <a:defRPr/>
            </a:lvl3pPr>
            <a:lvl4pPr marL="576269" indent="0">
              <a:buNone/>
              <a:defRPr/>
            </a:lvl4pPr>
            <a:lvl5pPr marL="744866"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1"/>
            <a:ext cx="6858000" cy="6858000"/>
          </a:xfrm>
          <a:blipFill>
            <a:blip r:embed="rId2"/>
            <a:stretch>
              <a:fillRect/>
            </a:stretch>
          </a:blipFill>
        </p:spPr>
        <p:txBody>
          <a:bodyPr lIns="0" tIns="2103120" rIns="0" anchor="t" anchorCtr="0">
            <a:noAutofit/>
          </a:bodyPr>
          <a:lstStyle>
            <a:lvl1pPr marL="0" indent="0" algn="ctr">
              <a:lnSpc>
                <a:spcPct val="100000"/>
              </a:lnSpc>
              <a:buNone/>
              <a:defRPr sz="1219"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85353375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4" y="2945101"/>
            <a:ext cx="4159950" cy="964623"/>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1"/>
            <a:ext cx="6858000" cy="6858000"/>
          </a:xfrm>
          <a:blipFill>
            <a:blip r:embed="rId2"/>
            <a:stretch>
              <a:fillRect/>
            </a:stretch>
          </a:blipFill>
        </p:spPr>
        <p:txBody>
          <a:bodyPr lIns="0" tIns="2103120" rIns="0" anchor="t" anchorCtr="0">
            <a:noAutofit/>
          </a:bodyPr>
          <a:lstStyle>
            <a:lvl1pPr marL="0" indent="0" algn="ctr">
              <a:lnSpc>
                <a:spcPct val="100000"/>
              </a:lnSpc>
              <a:buNone/>
              <a:defRPr sz="1219"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1707426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750077"/>
          </a:xfrm>
        </p:spPr>
        <p:txBody>
          <a:bodyPr anchor="t"/>
          <a:lstStyle>
            <a:lvl1pPr>
              <a:defRPr sz="2437"/>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1"/>
            <a:ext cx="6858000" cy="6858000"/>
          </a:xfrm>
          <a:blipFill>
            <a:blip r:embed="rId2"/>
            <a:stretch>
              <a:fillRect/>
            </a:stretch>
          </a:blipFill>
        </p:spPr>
        <p:txBody>
          <a:bodyPr lIns="0" tIns="2103120" rIns="0" anchor="t" anchorCtr="0">
            <a:noAutofit/>
          </a:bodyPr>
          <a:lstStyle>
            <a:lvl1pPr marL="0" indent="0" algn="ctr">
              <a:lnSpc>
                <a:spcPct val="100000"/>
              </a:lnSpc>
              <a:buNone/>
              <a:defRPr sz="1219"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136556296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1"/>
            <a:ext cx="12192000" cy="6858000"/>
          </a:xfrm>
          <a:blipFill>
            <a:blip r:embed="rId2"/>
            <a:stretch>
              <a:fillRect/>
            </a:stretch>
          </a:blipFill>
        </p:spPr>
        <p:txBody>
          <a:bodyPr wrap="none" bIns="2011680" anchor="ctr">
            <a:noAutofit/>
          </a:bodyPr>
          <a:lstStyle>
            <a:lvl1pPr marL="0" indent="0" algn="ctr">
              <a:buNone/>
              <a:defRPr sz="1219"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1"/>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134"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423088351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1"/>
            <a:ext cx="12192000" cy="6858000"/>
          </a:xfrm>
          <a:blipFill>
            <a:blip r:embed="rId2"/>
            <a:stretch>
              <a:fillRect/>
            </a:stretch>
          </a:blipFill>
        </p:spPr>
        <p:txBody>
          <a:bodyPr wrap="none" bIns="2011680" anchor="ctr">
            <a:noAutofit/>
          </a:bodyPr>
          <a:lstStyle>
            <a:lvl1pPr marL="0" indent="0" algn="ctr">
              <a:buNone/>
              <a:defRPr sz="1219"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1"/>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134"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235466716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1"/>
            <a:ext cx="12192000" cy="6858000"/>
          </a:xfrm>
          <a:blipFill>
            <a:blip r:embed="rId2"/>
            <a:stretch>
              <a:fillRect/>
            </a:stretch>
          </a:blipFill>
        </p:spPr>
        <p:txBody>
          <a:bodyPr wrap="none" bIns="2011680" anchor="ctr">
            <a:noAutofit/>
          </a:bodyPr>
          <a:lstStyle>
            <a:lvl1pPr marL="0" indent="0" algn="ctr">
              <a:buNone/>
              <a:defRPr sz="1219"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1" y="1"/>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134"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2857237382"/>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4" y="5471971"/>
            <a:ext cx="11018520" cy="48231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219" b="1" dirty="0">
                <a:solidFill>
                  <a:srgbClr val="000000"/>
                </a:solidFill>
              </a:defRPr>
            </a:lvl1pPr>
          </a:lstStyle>
          <a:p>
            <a:pPr marL="198999" lvl="0" indent="-198999"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151533735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4" y="902129"/>
            <a:ext cx="11018520" cy="48231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219" b="1" dirty="0">
                <a:solidFill>
                  <a:srgbClr val="000000"/>
                </a:solidFill>
              </a:defRPr>
            </a:lvl1pPr>
          </a:lstStyle>
          <a:p>
            <a:pPr marL="198999" lvl="0" indent="-198999"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3252214528"/>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4" y="457200"/>
            <a:ext cx="11018520" cy="482312"/>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871" b="1" dirty="0">
                <a:solidFill>
                  <a:srgbClr val="000000"/>
                </a:solidFill>
              </a:defRPr>
            </a:lvl1pPr>
          </a:lstStyle>
          <a:p>
            <a:pPr marL="198999" lvl="0" indent="-198999"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871" b="1" dirty="0">
                <a:solidFill>
                  <a:srgbClr val="000000"/>
                </a:solidFill>
              </a:defRPr>
            </a:lvl1pPr>
          </a:lstStyle>
          <a:p>
            <a:pPr marL="198999" lvl="0" indent="-198999"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143349781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4" y="457200"/>
            <a:ext cx="11018520" cy="482312"/>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4" y="5689600"/>
            <a:ext cx="3475037"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697"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1" y="5689600"/>
            <a:ext cx="3475037"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697"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89600"/>
            <a:ext cx="3475037" cy="241156"/>
          </a:xfrm>
        </p:spPr>
        <p:txBody>
          <a:bodyPr/>
          <a:lstStyle>
            <a:lvl1pPr marL="0" indent="0" algn="l">
              <a:spcBef>
                <a:spcPts val="0"/>
              </a:spcBef>
              <a:buNone/>
              <a:defRPr sz="1567">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4"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697"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416622183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4" y="457200"/>
            <a:ext cx="11018520" cy="482312"/>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9"/>
            <a:ext cx="2532888" cy="482312"/>
          </a:xfrm>
        </p:spPr>
        <p:txBody>
          <a:bodyPr/>
          <a:lstStyle>
            <a:lvl1pPr marL="0" indent="0" algn="l">
              <a:spcBef>
                <a:spcPts val="0"/>
              </a:spcBef>
              <a:buNone/>
              <a:defRPr sz="1567">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522"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9"/>
            <a:ext cx="2532888" cy="482312"/>
          </a:xfrm>
        </p:spPr>
        <p:txBody>
          <a:bodyPr/>
          <a:lstStyle>
            <a:lvl1pPr marL="0" indent="0" algn="l">
              <a:spcBef>
                <a:spcPts val="0"/>
              </a:spcBef>
              <a:buNone/>
              <a:defRPr sz="1567">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522"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5" y="4753939"/>
            <a:ext cx="2532888" cy="482312"/>
          </a:xfrm>
        </p:spPr>
        <p:txBody>
          <a:bodyPr/>
          <a:lstStyle>
            <a:lvl1pPr marL="0" indent="0" algn="l">
              <a:spcBef>
                <a:spcPts val="0"/>
              </a:spcBef>
              <a:buNone/>
              <a:defRPr sz="1567">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5"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522"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1" y="4753939"/>
            <a:ext cx="2532888" cy="482312"/>
          </a:xfrm>
        </p:spPr>
        <p:txBody>
          <a:bodyPr/>
          <a:lstStyle>
            <a:lvl1pPr marL="0" indent="0" algn="l">
              <a:spcBef>
                <a:spcPts val="0"/>
              </a:spcBef>
              <a:buNone/>
              <a:defRPr sz="1567">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1"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522"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224743838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2309812"/>
            <a:ext cx="3182027" cy="482312"/>
          </a:xfrm>
        </p:spPr>
        <p:txBody>
          <a:bodyPr anchor="t"/>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4" y="2309812"/>
            <a:ext cx="7254865" cy="375039"/>
          </a:xfrm>
        </p:spPr>
        <p:txBody>
          <a:bodyPr anchor="t"/>
          <a:lstStyle>
            <a:lvl1pPr marL="0" indent="0">
              <a:spcAft>
                <a:spcPts val="697"/>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7" y="2019300"/>
            <a:ext cx="3182112" cy="0"/>
          </a:xfrm>
          <a:prstGeom prst="line">
            <a:avLst/>
          </a:prstGeom>
          <a:ln w="28575">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4"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988502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4" y="3186257"/>
            <a:ext cx="3182027" cy="482312"/>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39893"/>
            <a:ext cx="6667500" cy="3750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1"/>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2" y="-203944"/>
            <a:ext cx="503343" cy="134011"/>
          </a:xfrm>
          <a:prstGeom prst="rect">
            <a:avLst/>
          </a:prstGeom>
          <a:noFill/>
        </p:spPr>
        <p:txBody>
          <a:bodyPr wrap="none" lIns="0" tIns="0" rIns="0" bIns="0" rtlCol="0">
            <a:spAutoFit/>
          </a:bodyPr>
          <a:lstStyle/>
          <a:p>
            <a:pPr algn="l"/>
            <a:r>
              <a:rPr lang="en-US" sz="871">
                <a:solidFill>
                  <a:srgbClr val="A3A3A3"/>
                </a:solidFill>
              </a:rPr>
              <a:t>ELT layout</a:t>
            </a:r>
          </a:p>
        </p:txBody>
      </p:sp>
    </p:spTree>
    <p:extLst>
      <p:ext uri="{BB962C8B-B14F-4D97-AF65-F5344CB8AC3E}">
        <p14:creationId xmlns:p14="http://schemas.microsoft.com/office/powerpoint/2010/main" val="89867782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97728"/>
            <a:ext cx="9144000" cy="434093"/>
          </a:xfrm>
          <a:noFill/>
        </p:spPr>
        <p:txBody>
          <a:bodyPr lIns="0" tIns="0" rIns="0" bIns="0" anchor="b" anchorCtr="0">
            <a:spAutoFit/>
          </a:bodyPr>
          <a:lstStyle>
            <a:lvl1pPr algn="l" defTabSz="811965" rtl="0" eaLnBrk="1" latinLnBrk="0" hangingPunct="1">
              <a:lnSpc>
                <a:spcPct val="90000"/>
              </a:lnSpc>
              <a:spcBef>
                <a:spcPct val="0"/>
              </a:spcBef>
              <a:buNone/>
              <a:defRPr lang="en-US" sz="3134" b="0" kern="1200" cap="none" spc="-44" baseline="0" dirty="0">
                <a:ln w="3175">
                  <a:noFill/>
                </a:ln>
                <a:solidFill>
                  <a:srgbClr val="30E5D0"/>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94824"/>
          </a:xfrm>
          <a:noFill/>
        </p:spPr>
        <p:txBody>
          <a:bodyPr lIns="0" tIns="0" rIns="0" bIns="0">
            <a:spAutoFit/>
          </a:bodyPr>
          <a:lstStyle>
            <a:lvl1pPr marL="0" indent="0">
              <a:spcBef>
                <a:spcPts val="0"/>
              </a:spcBef>
              <a:spcAft>
                <a:spcPts val="0"/>
              </a:spcAft>
              <a:buFont typeface="Arial" panose="020B0604020202020204" pitchFamily="34" charset="0"/>
              <a:buNone/>
              <a:defRPr sz="1916"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2274666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97728"/>
            <a:ext cx="9144000" cy="434093"/>
          </a:xfrm>
          <a:noFill/>
        </p:spPr>
        <p:txBody>
          <a:bodyPr lIns="0" tIns="0" rIns="0" bIns="0" anchor="b" anchorCtr="0">
            <a:spAutoFit/>
          </a:bodyPr>
          <a:lstStyle>
            <a:lvl1pPr algn="l" defTabSz="811965" rtl="0" eaLnBrk="1" latinLnBrk="0" hangingPunct="1">
              <a:lnSpc>
                <a:spcPct val="90000"/>
              </a:lnSpc>
              <a:spcBef>
                <a:spcPct val="0"/>
              </a:spcBef>
              <a:buNone/>
              <a:defRPr lang="en-US" sz="3134" b="0" kern="1200" cap="none" spc="-44"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94824"/>
          </a:xfrm>
          <a:noFill/>
        </p:spPr>
        <p:txBody>
          <a:bodyPr lIns="0" tIns="0" rIns="0" bIns="0">
            <a:spAutoFit/>
          </a:bodyPr>
          <a:lstStyle>
            <a:lvl1pPr marL="0" indent="0">
              <a:spcBef>
                <a:spcPts val="0"/>
              </a:spcBef>
              <a:spcAft>
                <a:spcPts val="0"/>
              </a:spcAft>
              <a:buFont typeface="Arial" panose="020B0604020202020204" pitchFamily="34" charset="0"/>
              <a:buNone/>
              <a:defRPr sz="1916"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106826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0313"/>
            <a:ext cx="9144000" cy="434093"/>
          </a:xfrm>
          <a:noFill/>
        </p:spPr>
        <p:txBody>
          <a:bodyPr lIns="0" tIns="0" rIns="0" bIns="0" anchor="b" anchorCtr="0">
            <a:spAutoFit/>
          </a:bodyPr>
          <a:lstStyle>
            <a:lvl1pPr algn="l" defTabSz="811965" rtl="0" eaLnBrk="1" latinLnBrk="0" hangingPunct="1">
              <a:lnSpc>
                <a:spcPct val="90000"/>
              </a:lnSpc>
              <a:spcBef>
                <a:spcPct val="0"/>
              </a:spcBef>
              <a:buNone/>
              <a:defRPr lang="en-US" sz="3134" b="0" kern="1200" cap="none" spc="-44" baseline="0" dirty="0">
                <a:ln w="3175">
                  <a:noFill/>
                </a:ln>
                <a:solidFill>
                  <a:srgbClr val="30E5D0"/>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705545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0313"/>
            <a:ext cx="9144000" cy="434093"/>
          </a:xfrm>
          <a:noFill/>
        </p:spPr>
        <p:txBody>
          <a:bodyPr lIns="0" tIns="0" rIns="0" bIns="0" anchor="b" anchorCtr="0">
            <a:spAutoFit/>
          </a:bodyPr>
          <a:lstStyle>
            <a:lvl1pPr algn="l" defTabSz="811965" rtl="0" eaLnBrk="1" latinLnBrk="0" hangingPunct="1">
              <a:lnSpc>
                <a:spcPct val="90000"/>
              </a:lnSpc>
              <a:spcBef>
                <a:spcPct val="0"/>
              </a:spcBef>
              <a:buNone/>
              <a:defRPr lang="en-US" sz="3134" b="0" kern="1200" cap="none" spc="-44"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933354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4248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86338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4" y="1436689"/>
            <a:ext cx="11018520" cy="1661224"/>
          </a:xfrm>
        </p:spPr>
        <p:txBody>
          <a:bodyPr/>
          <a:lstStyle>
            <a:lvl1pPr marL="0" indent="0">
              <a:buNone/>
              <a:defRPr sz="2437">
                <a:solidFill>
                  <a:schemeClr val="tx1"/>
                </a:solidFill>
                <a:latin typeface="Consolas" panose="020B0609020204030204" pitchFamily="49" charset="0"/>
                <a:cs typeface="Consolas" panose="020B0609020204030204" pitchFamily="49" charset="0"/>
              </a:defRPr>
            </a:lvl1pPr>
            <a:lvl2pPr marL="301679" indent="0">
              <a:buNone/>
              <a:defRPr sz="2090">
                <a:solidFill>
                  <a:schemeClr val="tx1"/>
                </a:solidFill>
                <a:latin typeface="Consolas" panose="020B0609020204030204" pitchFamily="49" charset="0"/>
                <a:cs typeface="Consolas" panose="020B0609020204030204" pitchFamily="49" charset="0"/>
              </a:defRPr>
            </a:lvl2pPr>
            <a:lvl3pPr marL="508908" indent="0">
              <a:buNone/>
              <a:defRPr sz="1741">
                <a:solidFill>
                  <a:schemeClr val="tx1"/>
                </a:solidFill>
                <a:latin typeface="Consolas" panose="020B0609020204030204" pitchFamily="49" charset="0"/>
                <a:cs typeface="Consolas" panose="020B0609020204030204" pitchFamily="49" charset="0"/>
              </a:defRPr>
            </a:lvl3pPr>
            <a:lvl4pPr marL="709088" indent="0">
              <a:buNone/>
              <a:defRPr sz="1567">
                <a:solidFill>
                  <a:schemeClr val="tx1"/>
                </a:solidFill>
                <a:latin typeface="Consolas" panose="020B0609020204030204" pitchFamily="49" charset="0"/>
                <a:cs typeface="Consolas" panose="020B0609020204030204" pitchFamily="49" charset="0"/>
              </a:defRPr>
            </a:lvl4pPr>
            <a:lvl5pPr marL="914907" indent="0">
              <a:buNone/>
              <a:defRPr sz="1567">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3292725"/>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1" y="6175295"/>
            <a:ext cx="4482124" cy="93744"/>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811571" eaLnBrk="0" hangingPunct="0"/>
            <a:r>
              <a:rPr lang="en-US" sz="609">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1" y="585788"/>
            <a:ext cx="1366245" cy="292608"/>
          </a:xfrm>
          <a:prstGeom prst="rect">
            <a:avLst/>
          </a:prstGeom>
        </p:spPr>
      </p:pic>
    </p:spTree>
    <p:extLst>
      <p:ext uri="{BB962C8B-B14F-4D97-AF65-F5344CB8AC3E}">
        <p14:creationId xmlns:p14="http://schemas.microsoft.com/office/powerpoint/2010/main" val="6124793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9"/>
            <a:ext cx="11018838" cy="1929182"/>
          </a:xfrm>
        </p:spPr>
        <p:txBody>
          <a:bodyPr>
            <a:spAutoFit/>
          </a:bodyPr>
          <a:lstStyle>
            <a:lvl1pPr>
              <a:defRPr sz="3134">
                <a:latin typeface="+mn-lt"/>
              </a:defRPr>
            </a:lvl1pPr>
            <a:lvl2pPr>
              <a:defRPr sz="2437">
                <a:latin typeface="+mn-lt"/>
              </a:defRPr>
            </a:lvl2pPr>
            <a:lvl3pPr>
              <a:defRPr sz="2090">
                <a:latin typeface="+mn-lt"/>
              </a:defRPr>
            </a:lvl3pPr>
            <a:lvl4pPr>
              <a:defRPr sz="1741">
                <a:latin typeface="+mn-lt"/>
              </a:defRPr>
            </a:lvl4pPr>
            <a:lvl5pPr>
              <a:defRPr sz="1567">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221" spc="-45"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41233528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6B261-C839-433B-9392-9F2254CA90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BF400E92-10F6-43F2-97F5-3DF35A0980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061D615-976A-4557-8B59-F1B941D2DAF7}"/>
              </a:ext>
            </a:extLst>
          </p:cNvPr>
          <p:cNvSpPr>
            <a:spLocks noGrp="1"/>
          </p:cNvSpPr>
          <p:nvPr>
            <p:ph type="dt" sz="half" idx="10"/>
          </p:nvPr>
        </p:nvSpPr>
        <p:spPr/>
        <p:txBody>
          <a:bodyPr/>
          <a:lstStyle/>
          <a:p>
            <a:fld id="{1E6860D9-D6A3-4042-90D8-3CED1D349778}" type="datetimeFigureOut">
              <a:rPr lang="en-CA" smtClean="0"/>
              <a:t>2026-03-07</a:t>
            </a:fld>
            <a:endParaRPr lang="en-CA"/>
          </a:p>
        </p:txBody>
      </p:sp>
      <p:sp>
        <p:nvSpPr>
          <p:cNvPr id="5" name="Footer Placeholder 4">
            <a:extLst>
              <a:ext uri="{FF2B5EF4-FFF2-40B4-BE49-F238E27FC236}">
                <a16:creationId xmlns:a16="http://schemas.microsoft.com/office/drawing/2014/main" id="{BF52CDA1-B83B-45D0-BC15-E8C81119141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3A6866F-DD43-4C34-AB6E-6EEDBAC5C91F}"/>
              </a:ext>
            </a:extLst>
          </p:cNvPr>
          <p:cNvSpPr>
            <a:spLocks noGrp="1"/>
          </p:cNvSpPr>
          <p:nvPr>
            <p:ph type="sldNum" sz="quarter" idx="12"/>
          </p:nvPr>
        </p:nvSpPr>
        <p:spPr/>
        <p:txBody>
          <a:bodyPr/>
          <a:lstStyle/>
          <a:p>
            <a:fld id="{5C5667A9-B547-45B3-85CE-D0DF93A1BAE1}" type="slidenum">
              <a:rPr lang="en-CA" smtClean="0"/>
              <a:t>‹#›</a:t>
            </a:fld>
            <a:endParaRPr lang="en-CA"/>
          </a:p>
        </p:txBody>
      </p:sp>
    </p:spTree>
    <p:extLst>
      <p:ext uri="{BB962C8B-B14F-4D97-AF65-F5344CB8AC3E}">
        <p14:creationId xmlns:p14="http://schemas.microsoft.com/office/powerpoint/2010/main" val="22668487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4" y="457200"/>
            <a:ext cx="11018520" cy="482312"/>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40403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1"/>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1"/>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9190" tIns="127352" rIns="159190" bIns="127352" numCol="1" spcCol="0" rtlCol="0" fromWordArt="0" anchor="t" anchorCtr="0" forceAA="0" compatLnSpc="1">
            <a:prstTxWarp prst="textNoShape">
              <a:avLst/>
            </a:prstTxWarp>
            <a:noAutofit/>
          </a:bodyPr>
          <a:lstStyle/>
          <a:p>
            <a:pPr algn="ctr" defTabSz="811730" fontAlgn="base">
              <a:lnSpc>
                <a:spcPct val="90000"/>
              </a:lnSpc>
              <a:spcBef>
                <a:spcPct val="0"/>
              </a:spcBef>
              <a:spcAft>
                <a:spcPct val="0"/>
              </a:spcAft>
            </a:pPr>
            <a:endParaRPr lang="en-US" sz="209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9190" tIns="127352" rIns="159190" bIns="127352" numCol="1" spcCol="0" rtlCol="0" fromWordArt="0" anchor="t" anchorCtr="0" forceAA="0" compatLnSpc="1">
            <a:prstTxWarp prst="textNoShape">
              <a:avLst/>
            </a:prstTxWarp>
            <a:noAutofit/>
          </a:bodyPr>
          <a:lstStyle/>
          <a:p>
            <a:pPr algn="ctr" defTabSz="811730" fontAlgn="base">
              <a:lnSpc>
                <a:spcPct val="90000"/>
              </a:lnSpc>
              <a:spcBef>
                <a:spcPct val="0"/>
              </a:spcBef>
              <a:spcAft>
                <a:spcPct val="0"/>
              </a:spcAft>
            </a:pPr>
            <a:endParaRPr lang="en-US" sz="209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5"/>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481590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transition>
    <p:fade/>
  </p:transition>
  <p:hf sldNum="0" hdr="0" ftr="0" dt="0"/>
  <p:txStyles>
    <p:titleStyle>
      <a:lvl1pPr algn="l" defTabSz="811965" rtl="0" eaLnBrk="1" latinLnBrk="0" hangingPunct="1">
        <a:lnSpc>
          <a:spcPct val="100000"/>
        </a:lnSpc>
        <a:spcBef>
          <a:spcPct val="0"/>
        </a:spcBef>
        <a:buNone/>
        <a:defRPr lang="en-US" sz="3134" b="0" kern="1200" cap="none" spc="-44" baseline="0" dirty="0" smtClean="0">
          <a:ln w="3175">
            <a:noFill/>
          </a:ln>
          <a:solidFill>
            <a:schemeClr val="tx1"/>
          </a:solidFill>
          <a:effectLst/>
          <a:latin typeface="+mj-lt"/>
          <a:ea typeface="+mn-ea"/>
          <a:cs typeface="Segoe UI" pitchFamily="34" charset="0"/>
        </a:defRPr>
      </a:lvl1pPr>
    </p:titleStyle>
    <p:bodyStyle>
      <a:lvl1pPr marL="198999" marR="0" indent="-198999"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437" kern="1200" spc="0" baseline="0">
          <a:solidFill>
            <a:schemeClr val="tx1"/>
          </a:solidFill>
          <a:latin typeface="+mn-lt"/>
          <a:ea typeface="+mn-ea"/>
          <a:cs typeface="Segoe UI" panose="020B0502040204020203" pitchFamily="34" charset="0"/>
        </a:defRPr>
      </a:lvl1pPr>
      <a:lvl2pPr marL="397999" marR="0" indent="-198999"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741" kern="1200" spc="0" baseline="0">
          <a:solidFill>
            <a:schemeClr val="tx1"/>
          </a:solidFill>
          <a:latin typeface="+mn-lt"/>
          <a:ea typeface="+mn-ea"/>
          <a:cs typeface="+mn-cs"/>
        </a:defRPr>
      </a:lvl2pPr>
      <a:lvl3pPr marL="572123" marR="0" indent="-174125"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93" kern="1200" spc="0" baseline="0">
          <a:solidFill>
            <a:schemeClr val="tx1"/>
          </a:solidFill>
          <a:latin typeface="+mn-lt"/>
          <a:ea typeface="+mn-ea"/>
          <a:cs typeface="+mn-cs"/>
        </a:defRPr>
      </a:lvl3pPr>
      <a:lvl4pPr marL="733811" marR="0" indent="-157541"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19" kern="1200" spc="0" baseline="0">
          <a:solidFill>
            <a:schemeClr val="tx1"/>
          </a:solidFill>
          <a:latin typeface="+mn-lt"/>
          <a:ea typeface="+mn-ea"/>
          <a:cs typeface="+mn-cs"/>
        </a:defRPr>
      </a:lvl4pPr>
      <a:lvl5pPr marL="891352" marR="0" indent="-146486" algn="l" defTabSz="811965"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19" kern="1200" spc="0" baseline="0">
          <a:solidFill>
            <a:schemeClr val="tx1"/>
          </a:solidFill>
          <a:latin typeface="+mn-lt"/>
          <a:ea typeface="+mn-ea"/>
          <a:cs typeface="+mn-cs"/>
        </a:defRPr>
      </a:lvl5pPr>
      <a:lvl6pPr marL="2232902" indent="-202991" algn="l" defTabSz="811965" rtl="0" eaLnBrk="1" latinLnBrk="0" hangingPunct="1">
        <a:spcBef>
          <a:spcPct val="20000"/>
        </a:spcBef>
        <a:buFont typeface="Arial" pitchFamily="34" charset="0"/>
        <a:buChar char="•"/>
        <a:defRPr sz="1741" kern="1200">
          <a:solidFill>
            <a:schemeClr val="tx1"/>
          </a:solidFill>
          <a:latin typeface="+mn-lt"/>
          <a:ea typeface="+mn-ea"/>
          <a:cs typeface="+mn-cs"/>
        </a:defRPr>
      </a:lvl6pPr>
      <a:lvl7pPr marL="2638885" indent="-202991" algn="l" defTabSz="811965" rtl="0" eaLnBrk="1" latinLnBrk="0" hangingPunct="1">
        <a:spcBef>
          <a:spcPct val="20000"/>
        </a:spcBef>
        <a:buFont typeface="Arial" pitchFamily="34" charset="0"/>
        <a:buChar char="•"/>
        <a:defRPr sz="1741" kern="1200">
          <a:solidFill>
            <a:schemeClr val="tx1"/>
          </a:solidFill>
          <a:latin typeface="+mn-lt"/>
          <a:ea typeface="+mn-ea"/>
          <a:cs typeface="+mn-cs"/>
        </a:defRPr>
      </a:lvl7pPr>
      <a:lvl8pPr marL="3044868" indent="-202991" algn="l" defTabSz="811965" rtl="0" eaLnBrk="1" latinLnBrk="0" hangingPunct="1">
        <a:spcBef>
          <a:spcPct val="20000"/>
        </a:spcBef>
        <a:buFont typeface="Arial" pitchFamily="34" charset="0"/>
        <a:buChar char="•"/>
        <a:defRPr sz="1741" kern="1200">
          <a:solidFill>
            <a:schemeClr val="tx1"/>
          </a:solidFill>
          <a:latin typeface="+mn-lt"/>
          <a:ea typeface="+mn-ea"/>
          <a:cs typeface="+mn-cs"/>
        </a:defRPr>
      </a:lvl8pPr>
      <a:lvl9pPr marL="3450851" indent="-202991" algn="l" defTabSz="811965" rtl="0" eaLnBrk="1" latinLnBrk="0" hangingPunct="1">
        <a:spcBef>
          <a:spcPct val="20000"/>
        </a:spcBef>
        <a:buFont typeface="Arial" pitchFamily="34" charset="0"/>
        <a:buChar char="•"/>
        <a:defRPr sz="1741" kern="1200">
          <a:solidFill>
            <a:schemeClr val="tx1"/>
          </a:solidFill>
          <a:latin typeface="+mn-lt"/>
          <a:ea typeface="+mn-ea"/>
          <a:cs typeface="+mn-cs"/>
        </a:defRPr>
      </a:lvl9pPr>
    </p:bodyStyle>
    <p:otherStyle>
      <a:defPPr>
        <a:defRPr lang="en-US"/>
      </a:defPPr>
      <a:lvl1pPr marL="0" algn="l" defTabSz="811965" rtl="0" eaLnBrk="1" latinLnBrk="0" hangingPunct="1">
        <a:defRPr sz="1567" kern="1200">
          <a:solidFill>
            <a:schemeClr val="tx1"/>
          </a:solidFill>
          <a:latin typeface="+mn-lt"/>
          <a:ea typeface="+mn-ea"/>
          <a:cs typeface="+mn-cs"/>
        </a:defRPr>
      </a:lvl1pPr>
      <a:lvl2pPr marL="405982" algn="l" defTabSz="811965" rtl="0" eaLnBrk="1" latinLnBrk="0" hangingPunct="1">
        <a:defRPr sz="1567" kern="1200">
          <a:solidFill>
            <a:schemeClr val="tx1"/>
          </a:solidFill>
          <a:latin typeface="+mn-lt"/>
          <a:ea typeface="+mn-ea"/>
          <a:cs typeface="+mn-cs"/>
        </a:defRPr>
      </a:lvl2pPr>
      <a:lvl3pPr marL="811965" algn="l" defTabSz="811965" rtl="0" eaLnBrk="1" latinLnBrk="0" hangingPunct="1">
        <a:defRPr sz="1567" kern="1200">
          <a:solidFill>
            <a:schemeClr val="tx1"/>
          </a:solidFill>
          <a:latin typeface="+mn-lt"/>
          <a:ea typeface="+mn-ea"/>
          <a:cs typeface="+mn-cs"/>
        </a:defRPr>
      </a:lvl3pPr>
      <a:lvl4pPr marL="1217947" algn="l" defTabSz="811965" rtl="0" eaLnBrk="1" latinLnBrk="0" hangingPunct="1">
        <a:defRPr sz="1567" kern="1200">
          <a:solidFill>
            <a:schemeClr val="tx1"/>
          </a:solidFill>
          <a:latin typeface="+mn-lt"/>
          <a:ea typeface="+mn-ea"/>
          <a:cs typeface="+mn-cs"/>
        </a:defRPr>
      </a:lvl4pPr>
      <a:lvl5pPr marL="1623929" algn="l" defTabSz="811965" rtl="0" eaLnBrk="1" latinLnBrk="0" hangingPunct="1">
        <a:defRPr sz="1567" kern="1200">
          <a:solidFill>
            <a:schemeClr val="tx1"/>
          </a:solidFill>
          <a:latin typeface="+mn-lt"/>
          <a:ea typeface="+mn-ea"/>
          <a:cs typeface="+mn-cs"/>
        </a:defRPr>
      </a:lvl5pPr>
      <a:lvl6pPr marL="2029912" algn="l" defTabSz="811965" rtl="0" eaLnBrk="1" latinLnBrk="0" hangingPunct="1">
        <a:defRPr sz="1567" kern="1200">
          <a:solidFill>
            <a:schemeClr val="tx1"/>
          </a:solidFill>
          <a:latin typeface="+mn-lt"/>
          <a:ea typeface="+mn-ea"/>
          <a:cs typeface="+mn-cs"/>
        </a:defRPr>
      </a:lvl6pPr>
      <a:lvl7pPr marL="2435893" algn="l" defTabSz="811965" rtl="0" eaLnBrk="1" latinLnBrk="0" hangingPunct="1">
        <a:defRPr sz="1567" kern="1200">
          <a:solidFill>
            <a:schemeClr val="tx1"/>
          </a:solidFill>
          <a:latin typeface="+mn-lt"/>
          <a:ea typeface="+mn-ea"/>
          <a:cs typeface="+mn-cs"/>
        </a:defRPr>
      </a:lvl7pPr>
      <a:lvl8pPr marL="2841875" algn="l" defTabSz="811965" rtl="0" eaLnBrk="1" latinLnBrk="0" hangingPunct="1">
        <a:defRPr sz="1567" kern="1200">
          <a:solidFill>
            <a:schemeClr val="tx1"/>
          </a:solidFill>
          <a:latin typeface="+mn-lt"/>
          <a:ea typeface="+mn-ea"/>
          <a:cs typeface="+mn-cs"/>
        </a:defRPr>
      </a:lvl8pPr>
      <a:lvl9pPr marL="3247859" algn="l" defTabSz="811965" rtl="0" eaLnBrk="1" latinLnBrk="0" hangingPunct="1">
        <a:defRPr sz="156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sv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png"/><Relationship Id="rId15" Type="http://schemas.openxmlformats.org/officeDocument/2006/relationships/image" Target="../media/image23.svg"/><Relationship Id="rId10" Type="http://schemas.openxmlformats.org/officeDocument/2006/relationships/image" Target="../media/image18.png"/><Relationship Id="rId4" Type="http://schemas.openxmlformats.org/officeDocument/2006/relationships/image" Target="../media/image12.emf"/><Relationship Id="rId9" Type="http://schemas.openxmlformats.org/officeDocument/2006/relationships/image" Target="../media/image17.svg"/><Relationship Id="rId14" Type="http://schemas.openxmlformats.org/officeDocument/2006/relationships/image" Target="../media/image22.sv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2.svg"/><Relationship Id="rId3" Type="http://schemas.openxmlformats.org/officeDocument/2006/relationships/image" Target="../media/image15.svg"/><Relationship Id="rId7" Type="http://schemas.openxmlformats.org/officeDocument/2006/relationships/image" Target="../media/image18.png"/><Relationship Id="rId12" Type="http://schemas.openxmlformats.org/officeDocument/2006/relationships/image" Target="../media/image21.png"/><Relationship Id="rId2" Type="http://schemas.openxmlformats.org/officeDocument/2006/relationships/notesSlide" Target="../notesSlides/notesSlide2.xml"/><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7.svg"/><Relationship Id="rId5" Type="http://schemas.openxmlformats.org/officeDocument/2006/relationships/image" Target="../media/image14.png"/><Relationship Id="rId15" Type="http://schemas.openxmlformats.org/officeDocument/2006/relationships/image" Target="../media/image19.svg"/><Relationship Id="rId10" Type="http://schemas.openxmlformats.org/officeDocument/2006/relationships/image" Target="../media/image12.emf"/><Relationship Id="rId4" Type="http://schemas.openxmlformats.org/officeDocument/2006/relationships/image" Target="../media/image13.png"/><Relationship Id="rId9" Type="http://schemas.openxmlformats.org/officeDocument/2006/relationships/image" Target="../media/image11.svg"/><Relationship Id="rId14" Type="http://schemas.openxmlformats.org/officeDocument/2006/relationships/image" Target="../media/image23.sv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23.svg"/><Relationship Id="rId3" Type="http://schemas.openxmlformats.org/officeDocument/2006/relationships/image" Target="../media/image15.svg"/><Relationship Id="rId7" Type="http://schemas.openxmlformats.org/officeDocument/2006/relationships/image" Target="../media/image20.png"/><Relationship Id="rId12" Type="http://schemas.openxmlformats.org/officeDocument/2006/relationships/image" Target="../media/image2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1.png"/><Relationship Id="rId5" Type="http://schemas.openxmlformats.org/officeDocument/2006/relationships/image" Target="../media/image14.png"/><Relationship Id="rId15" Type="http://schemas.openxmlformats.org/officeDocument/2006/relationships/image" Target="../media/image16.png"/><Relationship Id="rId10" Type="http://schemas.openxmlformats.org/officeDocument/2006/relationships/image" Target="../media/image17.svg"/><Relationship Id="rId4" Type="http://schemas.openxmlformats.org/officeDocument/2006/relationships/image" Target="../media/image13.png"/><Relationship Id="rId9" Type="http://schemas.openxmlformats.org/officeDocument/2006/relationships/image" Target="../media/image12.emf"/><Relationship Id="rId14" Type="http://schemas.openxmlformats.org/officeDocument/2006/relationships/image" Target="../media/image19.svg"/></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2.svg"/><Relationship Id="rId3" Type="http://schemas.openxmlformats.org/officeDocument/2006/relationships/image" Target="../media/image11.svg"/><Relationship Id="rId7" Type="http://schemas.openxmlformats.org/officeDocument/2006/relationships/image" Target="../media/image12.emf"/><Relationship Id="rId12" Type="http://schemas.openxmlformats.org/officeDocument/2006/relationships/image" Target="../media/image20.png"/><Relationship Id="rId2" Type="http://schemas.openxmlformats.org/officeDocument/2006/relationships/notesSlide" Target="../notesSlides/notesSlide4.xml"/><Relationship Id="rId16"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9.svg"/><Relationship Id="rId11" Type="http://schemas.openxmlformats.org/officeDocument/2006/relationships/image" Target="../media/image18.png"/><Relationship Id="rId5" Type="http://schemas.openxmlformats.org/officeDocument/2006/relationships/image" Target="../media/image17.svg"/><Relationship Id="rId15" Type="http://schemas.openxmlformats.org/officeDocument/2006/relationships/image" Target="../media/image23.svg"/><Relationship Id="rId10" Type="http://schemas.openxmlformats.org/officeDocument/2006/relationships/image" Target="../media/image14.png"/><Relationship Id="rId4" Type="http://schemas.openxmlformats.org/officeDocument/2006/relationships/image" Target="../media/image21.png"/><Relationship Id="rId9" Type="http://schemas.openxmlformats.org/officeDocument/2006/relationships/image" Target="../media/image13.png"/><Relationship Id="rId1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8" name="Group 577">
            <a:extLst>
              <a:ext uri="{FF2B5EF4-FFF2-40B4-BE49-F238E27FC236}">
                <a16:creationId xmlns:a16="http://schemas.microsoft.com/office/drawing/2014/main" id="{A5F265BC-1BF3-FB1E-45FD-D27ED038DDDC}"/>
              </a:ext>
            </a:extLst>
          </p:cNvPr>
          <p:cNvGrpSpPr/>
          <p:nvPr/>
        </p:nvGrpSpPr>
        <p:grpSpPr>
          <a:xfrm>
            <a:off x="3970020" y="1058355"/>
            <a:ext cx="6097242" cy="5018595"/>
            <a:chOff x="3970020" y="1058355"/>
            <a:chExt cx="6097242" cy="5018595"/>
          </a:xfrm>
        </p:grpSpPr>
        <p:sp>
          <p:nvSpPr>
            <p:cNvPr id="63" name="Rectangle 62">
              <a:extLst>
                <a:ext uri="{FF2B5EF4-FFF2-40B4-BE49-F238E27FC236}">
                  <a16:creationId xmlns:a16="http://schemas.microsoft.com/office/drawing/2014/main" id="{7F60887B-E1DE-294A-CB3E-261B66E653B7}"/>
                </a:ext>
              </a:extLst>
            </p:cNvPr>
            <p:cNvSpPr/>
            <p:nvPr/>
          </p:nvSpPr>
          <p:spPr bwMode="auto">
            <a:xfrm>
              <a:off x="3970020" y="1058355"/>
              <a:ext cx="6097242" cy="5018595"/>
            </a:xfrm>
            <a:prstGeom prst="rect">
              <a:avLst/>
            </a:prstGeom>
            <a:gradFill>
              <a:gsLst>
                <a:gs pos="0">
                  <a:srgbClr val="F7FDFD"/>
                </a:gs>
                <a:gs pos="100000">
                  <a:srgbClr val="EEEEF5"/>
                </a:gs>
              </a:gsLst>
              <a:lin ang="189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6" name="Rectangle: Rounded Corners 135">
              <a:extLst>
                <a:ext uri="{FF2B5EF4-FFF2-40B4-BE49-F238E27FC236}">
                  <a16:creationId xmlns:a16="http://schemas.microsoft.com/office/drawing/2014/main" id="{196B7824-E0D3-D33E-452C-5ADED3515A00}"/>
                </a:ext>
              </a:extLst>
            </p:cNvPr>
            <p:cNvSpPr/>
            <p:nvPr/>
          </p:nvSpPr>
          <p:spPr bwMode="auto">
            <a:xfrm>
              <a:off x="8797757" y="1685721"/>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4" name="Rectangle: Rounded Corners 133">
              <a:extLst>
                <a:ext uri="{FF2B5EF4-FFF2-40B4-BE49-F238E27FC236}">
                  <a16:creationId xmlns:a16="http://schemas.microsoft.com/office/drawing/2014/main" id="{11BA97EB-73D3-773F-0A76-CDDB1FEA16EF}"/>
                </a:ext>
              </a:extLst>
            </p:cNvPr>
            <p:cNvSpPr/>
            <p:nvPr/>
          </p:nvSpPr>
          <p:spPr bwMode="auto">
            <a:xfrm>
              <a:off x="4270354" y="1789153"/>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2" name="Rectangle: Rounded Corners 131">
              <a:extLst>
                <a:ext uri="{FF2B5EF4-FFF2-40B4-BE49-F238E27FC236}">
                  <a16:creationId xmlns:a16="http://schemas.microsoft.com/office/drawing/2014/main" id="{1DC90013-17B3-27DE-9F00-EB77C836CF73}"/>
                </a:ext>
              </a:extLst>
            </p:cNvPr>
            <p:cNvSpPr/>
            <p:nvPr/>
          </p:nvSpPr>
          <p:spPr bwMode="auto">
            <a:xfrm>
              <a:off x="4199629" y="1704955"/>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6" name="Rectangle: Rounded Corners 75">
              <a:extLst>
                <a:ext uri="{FF2B5EF4-FFF2-40B4-BE49-F238E27FC236}">
                  <a16:creationId xmlns:a16="http://schemas.microsoft.com/office/drawing/2014/main" id="{98629A9D-C7A7-CEA3-9FD8-CF0EABC4CFE9}"/>
                </a:ext>
              </a:extLst>
            </p:cNvPr>
            <p:cNvSpPr/>
            <p:nvPr/>
          </p:nvSpPr>
          <p:spPr bwMode="auto">
            <a:xfrm>
              <a:off x="5503076" y="1142495"/>
              <a:ext cx="3153957" cy="2964820"/>
            </a:xfrm>
            <a:prstGeom prst="roundRect">
              <a:avLst>
                <a:gd name="adj" fmla="val 1988"/>
              </a:avLst>
            </a:prstGeom>
            <a:solidFill>
              <a:srgbClr val="E1ECEA"/>
            </a:solidFill>
            <a:ln w="4445" cap="flat" cmpd="sng" algn="ctr">
              <a:solidFill>
                <a:srgbClr val="CAE4E1"/>
              </a:solidFill>
              <a:prstDash val="solid"/>
              <a:headEnd type="none" w="med" len="med"/>
              <a:tailEnd type="none" w="med" len="med"/>
            </a:ln>
            <a:effectLst>
              <a:outerShdw blurRad="50800" dist="38100" dir="5400000" algn="t" rotWithShape="0">
                <a:prstClr val="black">
                  <a:alpha val="7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CA" sz="20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0" name="Rectangle: Rounded Corners 109">
              <a:extLst>
                <a:ext uri="{FF2B5EF4-FFF2-40B4-BE49-F238E27FC236}">
                  <a16:creationId xmlns:a16="http://schemas.microsoft.com/office/drawing/2014/main" id="{11D5BEFC-4C22-27D6-946A-66E94D8FBF5D}"/>
                </a:ext>
              </a:extLst>
            </p:cNvPr>
            <p:cNvSpPr/>
            <p:nvPr/>
          </p:nvSpPr>
          <p:spPr bwMode="auto">
            <a:xfrm>
              <a:off x="5991023" y="2619375"/>
              <a:ext cx="1914718" cy="1257300"/>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2" name="Rectangle: Rounded Corners 111">
              <a:extLst>
                <a:ext uri="{FF2B5EF4-FFF2-40B4-BE49-F238E27FC236}">
                  <a16:creationId xmlns:a16="http://schemas.microsoft.com/office/drawing/2014/main" id="{F0EF838B-3D06-41EE-9D44-F6910DA8C1E1}"/>
                </a:ext>
              </a:extLst>
            </p:cNvPr>
            <p:cNvSpPr/>
            <p:nvPr/>
          </p:nvSpPr>
          <p:spPr bwMode="auto">
            <a:xfrm>
              <a:off x="6044243" y="3282105"/>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1" name="Rectangle: Rounded Corners 110">
              <a:extLst>
                <a:ext uri="{FF2B5EF4-FFF2-40B4-BE49-F238E27FC236}">
                  <a16:creationId xmlns:a16="http://schemas.microsoft.com/office/drawing/2014/main" id="{A70E8606-6A88-2F20-0CA3-66E0057DF313}"/>
                </a:ext>
              </a:extLst>
            </p:cNvPr>
            <p:cNvSpPr/>
            <p:nvPr/>
          </p:nvSpPr>
          <p:spPr bwMode="auto">
            <a:xfrm>
              <a:off x="6056273" y="2698004"/>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0" name="Rectangle: Rounded Corners 99">
              <a:extLst>
                <a:ext uri="{FF2B5EF4-FFF2-40B4-BE49-F238E27FC236}">
                  <a16:creationId xmlns:a16="http://schemas.microsoft.com/office/drawing/2014/main" id="{C3544D85-B2E9-B2AE-3666-D34383A8CD82}"/>
                </a:ext>
              </a:extLst>
            </p:cNvPr>
            <p:cNvSpPr/>
            <p:nvPr/>
          </p:nvSpPr>
          <p:spPr bwMode="auto">
            <a:xfrm>
              <a:off x="5596322" y="1603939"/>
              <a:ext cx="2646164" cy="724079"/>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3" name="Rectangle: Rounded Corners 102">
              <a:extLst>
                <a:ext uri="{FF2B5EF4-FFF2-40B4-BE49-F238E27FC236}">
                  <a16:creationId xmlns:a16="http://schemas.microsoft.com/office/drawing/2014/main" id="{FCA3819E-2211-A159-2C1D-194ECF21E6C7}"/>
                </a:ext>
              </a:extLst>
            </p:cNvPr>
            <p:cNvSpPr/>
            <p:nvPr/>
          </p:nvSpPr>
          <p:spPr bwMode="auto">
            <a:xfrm>
              <a:off x="7130707" y="1678803"/>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1" name="Rectangle: Rounded Corners 100">
              <a:extLst>
                <a:ext uri="{FF2B5EF4-FFF2-40B4-BE49-F238E27FC236}">
                  <a16:creationId xmlns:a16="http://schemas.microsoft.com/office/drawing/2014/main" id="{A2863022-2F55-133F-67DB-A7128C963EB4}"/>
                </a:ext>
              </a:extLst>
            </p:cNvPr>
            <p:cNvSpPr/>
            <p:nvPr/>
          </p:nvSpPr>
          <p:spPr bwMode="auto">
            <a:xfrm>
              <a:off x="5690191" y="1706027"/>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053" name="Straight Connector 2052">
              <a:extLst>
                <a:ext uri="{FF2B5EF4-FFF2-40B4-BE49-F238E27FC236}">
                  <a16:creationId xmlns:a16="http://schemas.microsoft.com/office/drawing/2014/main" id="{3164B2DB-0245-4CA3-8627-9E9F5DD3869D}"/>
                </a:ext>
              </a:extLst>
            </p:cNvPr>
            <p:cNvCxnSpPr>
              <a:cxnSpLocks/>
            </p:cNvCxnSpPr>
            <p:nvPr/>
          </p:nvCxnSpPr>
          <p:spPr>
            <a:xfrm>
              <a:off x="5505282" y="1420349"/>
              <a:ext cx="37025"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7D40340E-AA60-4C3E-BCE3-58519E68D8B1}"/>
                </a:ext>
              </a:extLst>
            </p:cNvPr>
            <p:cNvCxnSpPr>
              <a:cxnSpLocks/>
            </p:cNvCxnSpPr>
            <p:nvPr/>
          </p:nvCxnSpPr>
          <p:spPr>
            <a:xfrm>
              <a:off x="8660812" y="1441304"/>
              <a:ext cx="0" cy="4635646"/>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A136D47A-D38B-4037-98E6-B06C2B2C2E2D}"/>
                </a:ext>
              </a:extLst>
            </p:cNvPr>
            <p:cNvSpPr/>
            <p:nvPr/>
          </p:nvSpPr>
          <p:spPr bwMode="auto">
            <a:xfrm>
              <a:off x="4414747" y="1680706"/>
              <a:ext cx="93972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sp>
          <p:nvSpPr>
            <p:cNvPr id="160" name="Rectangle 159">
              <a:extLst>
                <a:ext uri="{FF2B5EF4-FFF2-40B4-BE49-F238E27FC236}">
                  <a16:creationId xmlns:a16="http://schemas.microsoft.com/office/drawing/2014/main" id="{0BAB1F88-DC87-437D-9892-89EA31C6B212}"/>
                </a:ext>
              </a:extLst>
            </p:cNvPr>
            <p:cNvSpPr/>
            <p:nvPr/>
          </p:nvSpPr>
          <p:spPr bwMode="auto">
            <a:xfrm>
              <a:off x="6391734" y="2685026"/>
              <a:ext cx="1479478"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Apache Spark</a:t>
              </a:r>
              <a:br>
                <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Structured Streaming</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607" name="Rectangle 606">
              <a:extLst>
                <a:ext uri="{FF2B5EF4-FFF2-40B4-BE49-F238E27FC236}">
                  <a16:creationId xmlns:a16="http://schemas.microsoft.com/office/drawing/2014/main" id="{E618F98E-BD55-4689-ABB2-2EE5C6210C55}"/>
                </a:ext>
              </a:extLst>
            </p:cNvPr>
            <p:cNvSpPr/>
            <p:nvPr/>
          </p:nvSpPr>
          <p:spPr bwMode="auto">
            <a:xfrm>
              <a:off x="4073064" y="1259486"/>
              <a:ext cx="1432220"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8" name="Rectangle 607">
              <a:extLst>
                <a:ext uri="{FF2B5EF4-FFF2-40B4-BE49-F238E27FC236}">
                  <a16:creationId xmlns:a16="http://schemas.microsoft.com/office/drawing/2014/main" id="{FBCB9438-40F2-4B54-B411-4BA054878E9B}"/>
                </a:ext>
              </a:extLst>
            </p:cNvPr>
            <p:cNvSpPr/>
            <p:nvPr/>
          </p:nvSpPr>
          <p:spPr bwMode="auto">
            <a:xfrm>
              <a:off x="4406769" y="1269301"/>
              <a:ext cx="803361"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grpSp>
          <p:nvGrpSpPr>
            <p:cNvPr id="609" name="migrate 2" descr="migrate">
              <a:extLst>
                <a:ext uri="{FF2B5EF4-FFF2-40B4-BE49-F238E27FC236}">
                  <a16:creationId xmlns:a16="http://schemas.microsoft.com/office/drawing/2014/main" id="{A45CED65-88CF-44A3-9CF0-2E59C6801CFB}"/>
                </a:ext>
              </a:extLst>
            </p:cNvPr>
            <p:cNvGrpSpPr/>
            <p:nvPr/>
          </p:nvGrpSpPr>
          <p:grpSpPr>
            <a:xfrm>
              <a:off x="4467337" y="1296144"/>
              <a:ext cx="105208" cy="104839"/>
              <a:chOff x="697286" y="2098371"/>
              <a:chExt cx="443544" cy="441988"/>
            </a:xfrm>
          </p:grpSpPr>
          <p:sp>
            <p:nvSpPr>
              <p:cNvPr id="610" name="Freeform 765">
                <a:extLst>
                  <a:ext uri="{FF2B5EF4-FFF2-40B4-BE49-F238E27FC236}">
                    <a16:creationId xmlns:a16="http://schemas.microsoft.com/office/drawing/2014/main" id="{BE4EA399-BB3D-46AB-95B3-DE1AF6E2CEB1}"/>
                  </a:ext>
                </a:extLst>
              </p:cNvPr>
              <p:cNvSpPr>
                <a:spLocks/>
              </p:cNvSpPr>
              <p:nvPr/>
            </p:nvSpPr>
            <p:spPr bwMode="auto">
              <a:xfrm>
                <a:off x="1024108" y="2099928"/>
                <a:ext cx="116722" cy="116722"/>
              </a:xfrm>
              <a:custGeom>
                <a:avLst/>
                <a:gdLst>
                  <a:gd name="T0" fmla="*/ 50 w 101"/>
                  <a:gd name="T1" fmla="*/ 101 h 101"/>
                  <a:gd name="T2" fmla="*/ 0 w 101"/>
                  <a:gd name="T3" fmla="*/ 51 h 101"/>
                  <a:gd name="T4" fmla="*/ 50 w 101"/>
                  <a:gd name="T5" fmla="*/ 0 h 101"/>
                  <a:gd name="T6" fmla="*/ 101 w 101"/>
                  <a:gd name="T7" fmla="*/ 51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9"/>
                      <a:pt x="0" y="51"/>
                    </a:cubicBezTo>
                    <a:cubicBezTo>
                      <a:pt x="0" y="23"/>
                      <a:pt x="22" y="0"/>
                      <a:pt x="50" y="0"/>
                    </a:cubicBezTo>
                    <a:cubicBezTo>
                      <a:pt x="78" y="0"/>
                      <a:pt x="101" y="23"/>
                      <a:pt x="101" y="51"/>
                    </a:cubicBezTo>
                    <a:cubicBezTo>
                      <a:pt x="101" y="79"/>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1" name="Freeform 766">
                <a:extLst>
                  <a:ext uri="{FF2B5EF4-FFF2-40B4-BE49-F238E27FC236}">
                    <a16:creationId xmlns:a16="http://schemas.microsoft.com/office/drawing/2014/main" id="{97D8361A-2FF7-4EE5-AB8E-D8527961EAB7}"/>
                  </a:ext>
                </a:extLst>
              </p:cNvPr>
              <p:cNvSpPr>
                <a:spLocks/>
              </p:cNvSpPr>
              <p:nvPr/>
            </p:nvSpPr>
            <p:spPr bwMode="auto">
              <a:xfrm>
                <a:off x="1024108" y="2261782"/>
                <a:ext cx="116722" cy="116722"/>
              </a:xfrm>
              <a:custGeom>
                <a:avLst/>
                <a:gdLst>
                  <a:gd name="T0" fmla="*/ 50 w 101"/>
                  <a:gd name="T1" fmla="*/ 101 h 101"/>
                  <a:gd name="T2" fmla="*/ 0 w 101"/>
                  <a:gd name="T3" fmla="*/ 50 h 101"/>
                  <a:gd name="T4" fmla="*/ 50 w 101"/>
                  <a:gd name="T5" fmla="*/ 0 h 101"/>
                  <a:gd name="T6" fmla="*/ 101 w 101"/>
                  <a:gd name="T7" fmla="*/ 50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8"/>
                      <a:pt x="0" y="50"/>
                    </a:cubicBezTo>
                    <a:cubicBezTo>
                      <a:pt x="0" y="22"/>
                      <a:pt x="22" y="0"/>
                      <a:pt x="50" y="0"/>
                    </a:cubicBezTo>
                    <a:cubicBezTo>
                      <a:pt x="78" y="0"/>
                      <a:pt x="101" y="22"/>
                      <a:pt x="101" y="50"/>
                    </a:cubicBezTo>
                    <a:cubicBezTo>
                      <a:pt x="101" y="78"/>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2" name="Rectangle 767">
                <a:extLst>
                  <a:ext uri="{FF2B5EF4-FFF2-40B4-BE49-F238E27FC236}">
                    <a16:creationId xmlns:a16="http://schemas.microsoft.com/office/drawing/2014/main" id="{74CDAE8F-75FD-4BE4-8A19-CA0390FFCF89}"/>
                  </a:ext>
                </a:extLst>
              </p:cNvPr>
              <p:cNvSpPr>
                <a:spLocks noChangeArrowheads="1"/>
              </p:cNvSpPr>
              <p:nvPr/>
            </p:nvSpPr>
            <p:spPr bwMode="auto">
              <a:xfrm>
                <a:off x="697286" y="2261782"/>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3" name="Rectangle 768">
                <a:extLst>
                  <a:ext uri="{FF2B5EF4-FFF2-40B4-BE49-F238E27FC236}">
                    <a16:creationId xmlns:a16="http://schemas.microsoft.com/office/drawing/2014/main" id="{3685140C-6969-4142-953F-776CE0DE6177}"/>
                  </a:ext>
                </a:extLst>
              </p:cNvPr>
              <p:cNvSpPr>
                <a:spLocks noChangeArrowheads="1"/>
              </p:cNvSpPr>
              <p:nvPr/>
            </p:nvSpPr>
            <p:spPr bwMode="auto">
              <a:xfrm>
                <a:off x="697286" y="2098371"/>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4" name="Rectangle 769">
                <a:extLst>
                  <a:ext uri="{FF2B5EF4-FFF2-40B4-BE49-F238E27FC236}">
                    <a16:creationId xmlns:a16="http://schemas.microsoft.com/office/drawing/2014/main" id="{BC15FD2E-77ED-4F73-99D0-FE6B564E8C39}"/>
                  </a:ext>
                </a:extLst>
              </p:cNvPr>
              <p:cNvSpPr>
                <a:spLocks noChangeArrowheads="1"/>
              </p:cNvSpPr>
              <p:nvPr/>
            </p:nvSpPr>
            <p:spPr bwMode="auto">
              <a:xfrm>
                <a:off x="697286" y="2423637"/>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5" name="Freeform 770">
                <a:extLst>
                  <a:ext uri="{FF2B5EF4-FFF2-40B4-BE49-F238E27FC236}">
                    <a16:creationId xmlns:a16="http://schemas.microsoft.com/office/drawing/2014/main" id="{5928EF95-D007-4D30-A0DB-F3A81D9C7D34}"/>
                  </a:ext>
                </a:extLst>
              </p:cNvPr>
              <p:cNvSpPr>
                <a:spLocks/>
              </p:cNvSpPr>
              <p:nvPr/>
            </p:nvSpPr>
            <p:spPr bwMode="auto">
              <a:xfrm>
                <a:off x="1024108" y="2423637"/>
                <a:ext cx="116722" cy="116722"/>
              </a:xfrm>
              <a:custGeom>
                <a:avLst/>
                <a:gdLst>
                  <a:gd name="T0" fmla="*/ 50 w 101"/>
                  <a:gd name="T1" fmla="*/ 102 h 102"/>
                  <a:gd name="T2" fmla="*/ 0 w 101"/>
                  <a:gd name="T3" fmla="*/ 51 h 102"/>
                  <a:gd name="T4" fmla="*/ 50 w 101"/>
                  <a:gd name="T5" fmla="*/ 0 h 102"/>
                  <a:gd name="T6" fmla="*/ 101 w 101"/>
                  <a:gd name="T7" fmla="*/ 51 h 102"/>
                  <a:gd name="T8" fmla="*/ 50 w 101"/>
                  <a:gd name="T9" fmla="*/ 102 h 102"/>
                </a:gdLst>
                <a:ahLst/>
                <a:cxnLst>
                  <a:cxn ang="0">
                    <a:pos x="T0" y="T1"/>
                  </a:cxn>
                  <a:cxn ang="0">
                    <a:pos x="T2" y="T3"/>
                  </a:cxn>
                  <a:cxn ang="0">
                    <a:pos x="T4" y="T5"/>
                  </a:cxn>
                  <a:cxn ang="0">
                    <a:pos x="T6" y="T7"/>
                  </a:cxn>
                  <a:cxn ang="0">
                    <a:pos x="T8" y="T9"/>
                  </a:cxn>
                </a:cxnLst>
                <a:rect l="0" t="0" r="r" b="b"/>
                <a:pathLst>
                  <a:path w="101" h="102">
                    <a:moveTo>
                      <a:pt x="50" y="102"/>
                    </a:moveTo>
                    <a:cubicBezTo>
                      <a:pt x="22" y="102"/>
                      <a:pt x="0" y="79"/>
                      <a:pt x="0" y="51"/>
                    </a:cubicBezTo>
                    <a:cubicBezTo>
                      <a:pt x="0" y="23"/>
                      <a:pt x="22" y="0"/>
                      <a:pt x="50" y="0"/>
                    </a:cubicBezTo>
                    <a:cubicBezTo>
                      <a:pt x="78" y="0"/>
                      <a:pt x="101" y="23"/>
                      <a:pt x="101" y="51"/>
                    </a:cubicBezTo>
                    <a:cubicBezTo>
                      <a:pt x="101" y="79"/>
                      <a:pt x="79" y="102"/>
                      <a:pt x="50" y="102"/>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6" name="Freeform 771">
                <a:extLst>
                  <a:ext uri="{FF2B5EF4-FFF2-40B4-BE49-F238E27FC236}">
                    <a16:creationId xmlns:a16="http://schemas.microsoft.com/office/drawing/2014/main" id="{0157DC3C-BCF3-422E-B98D-FCF5212B6BBB}"/>
                  </a:ext>
                </a:extLst>
              </p:cNvPr>
              <p:cNvSpPr>
                <a:spLocks/>
              </p:cNvSpPr>
              <p:nvPr/>
            </p:nvSpPr>
            <p:spPr bwMode="auto">
              <a:xfrm>
                <a:off x="873147" y="2436087"/>
                <a:ext cx="116722" cy="94934"/>
              </a:xfrm>
              <a:custGeom>
                <a:avLst/>
                <a:gdLst>
                  <a:gd name="T0" fmla="*/ 75 w 75"/>
                  <a:gd name="T1" fmla="*/ 31 h 61"/>
                  <a:gd name="T2" fmla="*/ 44 w 75"/>
                  <a:gd name="T3" fmla="*/ 0 h 61"/>
                  <a:gd name="T4" fmla="*/ 44 w 75"/>
                  <a:gd name="T5" fmla="*/ 15 h 61"/>
                  <a:gd name="T6" fmla="*/ 0 w 75"/>
                  <a:gd name="T7" fmla="*/ 15 h 61"/>
                  <a:gd name="T8" fmla="*/ 0 w 75"/>
                  <a:gd name="T9" fmla="*/ 46 h 61"/>
                  <a:gd name="T10" fmla="*/ 44 w 75"/>
                  <a:gd name="T11" fmla="*/ 46 h 61"/>
                  <a:gd name="T12" fmla="*/ 44 w 75"/>
                  <a:gd name="T13" fmla="*/ 61 h 61"/>
                  <a:gd name="T14" fmla="*/ 75 w 75"/>
                  <a:gd name="T15" fmla="*/ 3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1">
                    <a:moveTo>
                      <a:pt x="75" y="31"/>
                    </a:moveTo>
                    <a:lnTo>
                      <a:pt x="44" y="0"/>
                    </a:lnTo>
                    <a:lnTo>
                      <a:pt x="44" y="15"/>
                    </a:lnTo>
                    <a:lnTo>
                      <a:pt x="0" y="15"/>
                    </a:lnTo>
                    <a:lnTo>
                      <a:pt x="0" y="46"/>
                    </a:lnTo>
                    <a:lnTo>
                      <a:pt x="44" y="46"/>
                    </a:lnTo>
                    <a:lnTo>
                      <a:pt x="44" y="61"/>
                    </a:lnTo>
                    <a:lnTo>
                      <a:pt x="75" y="3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7" name="Freeform 772">
                <a:extLst>
                  <a:ext uri="{FF2B5EF4-FFF2-40B4-BE49-F238E27FC236}">
                    <a16:creationId xmlns:a16="http://schemas.microsoft.com/office/drawing/2014/main" id="{A4E7211D-EBDF-4908-9D87-3C6540116A2C}"/>
                  </a:ext>
                </a:extLst>
              </p:cNvPr>
              <p:cNvSpPr>
                <a:spLocks/>
              </p:cNvSpPr>
              <p:nvPr/>
            </p:nvSpPr>
            <p:spPr bwMode="auto">
              <a:xfrm>
                <a:off x="873147" y="2274233"/>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8" name="Freeform 773">
                <a:extLst>
                  <a:ext uri="{FF2B5EF4-FFF2-40B4-BE49-F238E27FC236}">
                    <a16:creationId xmlns:a16="http://schemas.microsoft.com/office/drawing/2014/main" id="{C0D4A957-A922-4D70-BA07-77FF1DBE417D}"/>
                  </a:ext>
                </a:extLst>
              </p:cNvPr>
              <p:cNvSpPr>
                <a:spLocks/>
              </p:cNvSpPr>
              <p:nvPr/>
            </p:nvSpPr>
            <p:spPr bwMode="auto">
              <a:xfrm>
                <a:off x="873147" y="2110821"/>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19" name="Rectangle 618">
              <a:extLst>
                <a:ext uri="{FF2B5EF4-FFF2-40B4-BE49-F238E27FC236}">
                  <a16:creationId xmlns:a16="http://schemas.microsoft.com/office/drawing/2014/main" id="{CEEB1E88-A9ED-4FBB-BC06-0B48DA5281D2}"/>
                </a:ext>
              </a:extLst>
            </p:cNvPr>
            <p:cNvSpPr/>
            <p:nvPr/>
          </p:nvSpPr>
          <p:spPr bwMode="auto">
            <a:xfrm>
              <a:off x="5499491" y="1259486"/>
              <a:ext cx="1665269"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20" name="Rectangle 619">
              <a:extLst>
                <a:ext uri="{FF2B5EF4-FFF2-40B4-BE49-F238E27FC236}">
                  <a16:creationId xmlns:a16="http://schemas.microsoft.com/office/drawing/2014/main" id="{699AD406-0682-4F42-89AC-A0740E859C23}"/>
                </a:ext>
              </a:extLst>
            </p:cNvPr>
            <p:cNvSpPr/>
            <p:nvPr/>
          </p:nvSpPr>
          <p:spPr bwMode="auto">
            <a:xfrm>
              <a:off x="5277960" y="1267983"/>
              <a:ext cx="226873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Real-time Transformation (&lt;1s)</a:t>
              </a:r>
            </a:p>
          </p:txBody>
        </p:sp>
        <p:grpSp>
          <p:nvGrpSpPr>
            <p:cNvPr id="640" name="simplify" descr="simplify">
              <a:extLst>
                <a:ext uri="{FF2B5EF4-FFF2-40B4-BE49-F238E27FC236}">
                  <a16:creationId xmlns:a16="http://schemas.microsoft.com/office/drawing/2014/main" id="{0E389427-8ED9-4DEF-931F-6F47D7CC885E}"/>
                </a:ext>
              </a:extLst>
            </p:cNvPr>
            <p:cNvGrpSpPr/>
            <p:nvPr/>
          </p:nvGrpSpPr>
          <p:grpSpPr>
            <a:xfrm>
              <a:off x="5599281" y="1296466"/>
              <a:ext cx="113523" cy="111133"/>
              <a:chOff x="2668480" y="1249680"/>
              <a:chExt cx="412066" cy="403390"/>
            </a:xfrm>
          </p:grpSpPr>
          <p:sp>
            <p:nvSpPr>
              <p:cNvPr id="641" name="Freeform 987">
                <a:extLst>
                  <a:ext uri="{FF2B5EF4-FFF2-40B4-BE49-F238E27FC236}">
                    <a16:creationId xmlns:a16="http://schemas.microsoft.com/office/drawing/2014/main" id="{C4309ED0-E25D-4C35-AAD1-C481D8D3B636}"/>
                  </a:ext>
                </a:extLst>
              </p:cNvPr>
              <p:cNvSpPr>
                <a:spLocks/>
              </p:cNvSpPr>
              <p:nvPr/>
            </p:nvSpPr>
            <p:spPr bwMode="auto">
              <a:xfrm>
                <a:off x="2749447" y="1282935"/>
                <a:ext cx="331099" cy="344110"/>
              </a:xfrm>
              <a:custGeom>
                <a:avLst/>
                <a:gdLst>
                  <a:gd name="T0" fmla="*/ 229 w 229"/>
                  <a:gd name="T1" fmla="*/ 112 h 238"/>
                  <a:gd name="T2" fmla="*/ 200 w 229"/>
                  <a:gd name="T3" fmla="*/ 81 h 238"/>
                  <a:gd name="T4" fmla="*/ 200 w 229"/>
                  <a:gd name="T5" fmla="*/ 104 h 238"/>
                  <a:gd name="T6" fmla="*/ 125 w 229"/>
                  <a:gd name="T7" fmla="*/ 104 h 238"/>
                  <a:gd name="T8" fmla="*/ 125 w 229"/>
                  <a:gd name="T9" fmla="*/ 0 h 238"/>
                  <a:gd name="T10" fmla="*/ 0 w 229"/>
                  <a:gd name="T11" fmla="*/ 0 h 238"/>
                  <a:gd name="T12" fmla="*/ 0 w 229"/>
                  <a:gd name="T13" fmla="*/ 15 h 238"/>
                  <a:gd name="T14" fmla="*/ 110 w 229"/>
                  <a:gd name="T15" fmla="*/ 15 h 238"/>
                  <a:gd name="T16" fmla="*/ 110 w 229"/>
                  <a:gd name="T17" fmla="*/ 104 h 238"/>
                  <a:gd name="T18" fmla="*/ 5 w 229"/>
                  <a:gd name="T19" fmla="*/ 104 h 238"/>
                  <a:gd name="T20" fmla="*/ 5 w 229"/>
                  <a:gd name="T21" fmla="*/ 119 h 238"/>
                  <a:gd name="T22" fmla="*/ 110 w 229"/>
                  <a:gd name="T23" fmla="*/ 119 h 238"/>
                  <a:gd name="T24" fmla="*/ 110 w 229"/>
                  <a:gd name="T25" fmla="*/ 223 h 238"/>
                  <a:gd name="T26" fmla="*/ 0 w 229"/>
                  <a:gd name="T27" fmla="*/ 223 h 238"/>
                  <a:gd name="T28" fmla="*/ 0 w 229"/>
                  <a:gd name="T29" fmla="*/ 238 h 238"/>
                  <a:gd name="T30" fmla="*/ 125 w 229"/>
                  <a:gd name="T31" fmla="*/ 238 h 238"/>
                  <a:gd name="T32" fmla="*/ 125 w 229"/>
                  <a:gd name="T33" fmla="*/ 119 h 238"/>
                  <a:gd name="T34" fmla="*/ 200 w 229"/>
                  <a:gd name="T35" fmla="*/ 119 h 238"/>
                  <a:gd name="T36" fmla="*/ 200 w 229"/>
                  <a:gd name="T37" fmla="*/ 141 h 238"/>
                  <a:gd name="T38" fmla="*/ 229 w 229"/>
                  <a:gd name="T39" fmla="*/ 11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9" h="238">
                    <a:moveTo>
                      <a:pt x="229" y="112"/>
                    </a:moveTo>
                    <a:lnTo>
                      <a:pt x="200" y="81"/>
                    </a:lnTo>
                    <a:lnTo>
                      <a:pt x="200" y="104"/>
                    </a:lnTo>
                    <a:lnTo>
                      <a:pt x="125" y="104"/>
                    </a:lnTo>
                    <a:lnTo>
                      <a:pt x="125" y="0"/>
                    </a:lnTo>
                    <a:lnTo>
                      <a:pt x="0" y="0"/>
                    </a:lnTo>
                    <a:lnTo>
                      <a:pt x="0" y="15"/>
                    </a:lnTo>
                    <a:lnTo>
                      <a:pt x="110" y="15"/>
                    </a:lnTo>
                    <a:lnTo>
                      <a:pt x="110" y="104"/>
                    </a:lnTo>
                    <a:lnTo>
                      <a:pt x="5" y="104"/>
                    </a:lnTo>
                    <a:lnTo>
                      <a:pt x="5" y="119"/>
                    </a:lnTo>
                    <a:lnTo>
                      <a:pt x="110" y="119"/>
                    </a:lnTo>
                    <a:lnTo>
                      <a:pt x="110" y="223"/>
                    </a:lnTo>
                    <a:lnTo>
                      <a:pt x="0" y="223"/>
                    </a:lnTo>
                    <a:lnTo>
                      <a:pt x="0" y="238"/>
                    </a:lnTo>
                    <a:lnTo>
                      <a:pt x="125" y="238"/>
                    </a:lnTo>
                    <a:lnTo>
                      <a:pt x="125" y="119"/>
                    </a:lnTo>
                    <a:lnTo>
                      <a:pt x="200" y="119"/>
                    </a:lnTo>
                    <a:lnTo>
                      <a:pt x="200" y="141"/>
                    </a:lnTo>
                    <a:lnTo>
                      <a:pt x="229" y="11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2" name="Freeform 988">
                <a:extLst>
                  <a:ext uri="{FF2B5EF4-FFF2-40B4-BE49-F238E27FC236}">
                    <a16:creationId xmlns:a16="http://schemas.microsoft.com/office/drawing/2014/main" id="{2932965C-9088-4743-81CB-5C982E79B516}"/>
                  </a:ext>
                </a:extLst>
              </p:cNvPr>
              <p:cNvSpPr>
                <a:spLocks/>
              </p:cNvSpPr>
              <p:nvPr/>
            </p:nvSpPr>
            <p:spPr bwMode="auto">
              <a:xfrm>
                <a:off x="2669925" y="1378360"/>
                <a:ext cx="127234" cy="127234"/>
              </a:xfrm>
              <a:custGeom>
                <a:avLst/>
                <a:gdLst>
                  <a:gd name="T0" fmla="*/ 118 w 118"/>
                  <a:gd name="T1" fmla="*/ 66 h 119"/>
                  <a:gd name="T2" fmla="*/ 118 w 118"/>
                  <a:gd name="T3" fmla="*/ 53 h 119"/>
                  <a:gd name="T4" fmla="*/ 105 w 118"/>
                  <a:gd name="T5" fmla="*/ 53 h 119"/>
                  <a:gd name="T6" fmla="*/ 96 w 118"/>
                  <a:gd name="T7" fmla="*/ 31 h 119"/>
                  <a:gd name="T8" fmla="*/ 105 w 118"/>
                  <a:gd name="T9" fmla="*/ 22 h 119"/>
                  <a:gd name="T10" fmla="*/ 97 w 118"/>
                  <a:gd name="T11" fmla="*/ 13 h 119"/>
                  <a:gd name="T12" fmla="*/ 87 w 118"/>
                  <a:gd name="T13" fmla="*/ 22 h 119"/>
                  <a:gd name="T14" fmla="*/ 65 w 118"/>
                  <a:gd name="T15" fmla="*/ 13 h 119"/>
                  <a:gd name="T16" fmla="*/ 65 w 118"/>
                  <a:gd name="T17" fmla="*/ 0 h 119"/>
                  <a:gd name="T18" fmla="*/ 53 w 118"/>
                  <a:gd name="T19" fmla="*/ 0 h 119"/>
                  <a:gd name="T20" fmla="*/ 53 w 118"/>
                  <a:gd name="T21" fmla="*/ 13 h 119"/>
                  <a:gd name="T22" fmla="*/ 31 w 118"/>
                  <a:gd name="T23" fmla="*/ 22 h 119"/>
                  <a:gd name="T24" fmla="*/ 22 w 118"/>
                  <a:gd name="T25" fmla="*/ 13 h 119"/>
                  <a:gd name="T26" fmla="*/ 13 w 118"/>
                  <a:gd name="T27" fmla="*/ 22 h 119"/>
                  <a:gd name="T28" fmla="*/ 22 w 118"/>
                  <a:gd name="T29" fmla="*/ 31 h 119"/>
                  <a:gd name="T30" fmla="*/ 13 w 118"/>
                  <a:gd name="T31" fmla="*/ 53 h 119"/>
                  <a:gd name="T32" fmla="*/ 0 w 118"/>
                  <a:gd name="T33" fmla="*/ 53 h 119"/>
                  <a:gd name="T34" fmla="*/ 0 w 118"/>
                  <a:gd name="T35" fmla="*/ 66 h 119"/>
                  <a:gd name="T36" fmla="*/ 13 w 118"/>
                  <a:gd name="T37" fmla="*/ 66 h 119"/>
                  <a:gd name="T38" fmla="*/ 22 w 118"/>
                  <a:gd name="T39" fmla="*/ 88 h 119"/>
                  <a:gd name="T40" fmla="*/ 13 w 118"/>
                  <a:gd name="T41" fmla="*/ 97 h 119"/>
                  <a:gd name="T42" fmla="*/ 21 w 118"/>
                  <a:gd name="T43" fmla="*/ 106 h 119"/>
                  <a:gd name="T44" fmla="*/ 31 w 118"/>
                  <a:gd name="T45" fmla="*/ 97 h 119"/>
                  <a:gd name="T46" fmla="*/ 53 w 118"/>
                  <a:gd name="T47" fmla="*/ 106 h 119"/>
                  <a:gd name="T48" fmla="*/ 53 w 118"/>
                  <a:gd name="T49" fmla="*/ 119 h 119"/>
                  <a:gd name="T50" fmla="*/ 65 w 118"/>
                  <a:gd name="T51" fmla="*/ 119 h 119"/>
                  <a:gd name="T52" fmla="*/ 65 w 118"/>
                  <a:gd name="T53" fmla="*/ 106 h 119"/>
                  <a:gd name="T54" fmla="*/ 87 w 118"/>
                  <a:gd name="T55" fmla="*/ 97 h 119"/>
                  <a:gd name="T56" fmla="*/ 97 w 118"/>
                  <a:gd name="T57" fmla="*/ 106 h 119"/>
                  <a:gd name="T58" fmla="*/ 105 w 118"/>
                  <a:gd name="T59" fmla="*/ 97 h 119"/>
                  <a:gd name="T60" fmla="*/ 96 w 118"/>
                  <a:gd name="T61" fmla="*/ 88 h 119"/>
                  <a:gd name="T62" fmla="*/ 105 w 118"/>
                  <a:gd name="T63" fmla="*/ 66 h 119"/>
                  <a:gd name="T64" fmla="*/ 118 w 118"/>
                  <a:gd name="T65" fmla="*/ 6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8" h="119">
                    <a:moveTo>
                      <a:pt x="118" y="66"/>
                    </a:moveTo>
                    <a:cubicBezTo>
                      <a:pt x="118" y="53"/>
                      <a:pt x="118" y="53"/>
                      <a:pt x="118" y="53"/>
                    </a:cubicBezTo>
                    <a:cubicBezTo>
                      <a:pt x="105" y="53"/>
                      <a:pt x="105" y="53"/>
                      <a:pt x="105" y="53"/>
                    </a:cubicBezTo>
                    <a:cubicBezTo>
                      <a:pt x="104" y="45"/>
                      <a:pt x="101" y="37"/>
                      <a:pt x="96" y="31"/>
                    </a:cubicBezTo>
                    <a:cubicBezTo>
                      <a:pt x="105" y="22"/>
                      <a:pt x="105" y="22"/>
                      <a:pt x="105" y="22"/>
                    </a:cubicBezTo>
                    <a:cubicBezTo>
                      <a:pt x="97" y="13"/>
                      <a:pt x="97" y="13"/>
                      <a:pt x="97" y="13"/>
                    </a:cubicBezTo>
                    <a:cubicBezTo>
                      <a:pt x="87" y="22"/>
                      <a:pt x="87" y="22"/>
                      <a:pt x="87" y="22"/>
                    </a:cubicBezTo>
                    <a:cubicBezTo>
                      <a:pt x="81" y="18"/>
                      <a:pt x="73" y="14"/>
                      <a:pt x="65" y="13"/>
                    </a:cubicBezTo>
                    <a:cubicBezTo>
                      <a:pt x="65" y="0"/>
                      <a:pt x="65" y="0"/>
                      <a:pt x="65" y="0"/>
                    </a:cubicBezTo>
                    <a:cubicBezTo>
                      <a:pt x="53" y="0"/>
                      <a:pt x="53" y="0"/>
                      <a:pt x="53" y="0"/>
                    </a:cubicBezTo>
                    <a:cubicBezTo>
                      <a:pt x="53" y="13"/>
                      <a:pt x="53" y="13"/>
                      <a:pt x="53" y="13"/>
                    </a:cubicBezTo>
                    <a:cubicBezTo>
                      <a:pt x="45" y="14"/>
                      <a:pt x="37" y="18"/>
                      <a:pt x="31" y="22"/>
                    </a:cubicBezTo>
                    <a:cubicBezTo>
                      <a:pt x="22" y="13"/>
                      <a:pt x="22" y="13"/>
                      <a:pt x="22" y="13"/>
                    </a:cubicBezTo>
                    <a:cubicBezTo>
                      <a:pt x="13" y="22"/>
                      <a:pt x="13" y="22"/>
                      <a:pt x="13" y="22"/>
                    </a:cubicBezTo>
                    <a:cubicBezTo>
                      <a:pt x="22" y="31"/>
                      <a:pt x="22" y="31"/>
                      <a:pt x="22" y="31"/>
                    </a:cubicBezTo>
                    <a:cubicBezTo>
                      <a:pt x="17" y="38"/>
                      <a:pt x="14" y="45"/>
                      <a:pt x="13" y="53"/>
                    </a:cubicBezTo>
                    <a:cubicBezTo>
                      <a:pt x="0" y="53"/>
                      <a:pt x="0" y="53"/>
                      <a:pt x="0" y="53"/>
                    </a:cubicBezTo>
                    <a:cubicBezTo>
                      <a:pt x="0" y="66"/>
                      <a:pt x="0" y="66"/>
                      <a:pt x="0" y="66"/>
                    </a:cubicBezTo>
                    <a:cubicBezTo>
                      <a:pt x="13" y="66"/>
                      <a:pt x="13" y="66"/>
                      <a:pt x="13" y="66"/>
                    </a:cubicBezTo>
                    <a:cubicBezTo>
                      <a:pt x="14" y="74"/>
                      <a:pt x="17" y="82"/>
                      <a:pt x="22" y="88"/>
                    </a:cubicBezTo>
                    <a:cubicBezTo>
                      <a:pt x="13" y="97"/>
                      <a:pt x="13" y="97"/>
                      <a:pt x="13" y="97"/>
                    </a:cubicBezTo>
                    <a:cubicBezTo>
                      <a:pt x="21" y="106"/>
                      <a:pt x="21" y="106"/>
                      <a:pt x="21" y="106"/>
                    </a:cubicBezTo>
                    <a:cubicBezTo>
                      <a:pt x="31" y="97"/>
                      <a:pt x="31" y="97"/>
                      <a:pt x="31" y="97"/>
                    </a:cubicBezTo>
                    <a:cubicBezTo>
                      <a:pt x="37" y="102"/>
                      <a:pt x="45" y="105"/>
                      <a:pt x="53" y="106"/>
                    </a:cubicBezTo>
                    <a:cubicBezTo>
                      <a:pt x="53" y="119"/>
                      <a:pt x="53" y="119"/>
                      <a:pt x="53" y="119"/>
                    </a:cubicBezTo>
                    <a:cubicBezTo>
                      <a:pt x="65" y="119"/>
                      <a:pt x="65" y="119"/>
                      <a:pt x="65" y="119"/>
                    </a:cubicBezTo>
                    <a:cubicBezTo>
                      <a:pt x="65" y="106"/>
                      <a:pt x="65" y="106"/>
                      <a:pt x="65" y="106"/>
                    </a:cubicBezTo>
                    <a:cubicBezTo>
                      <a:pt x="74" y="105"/>
                      <a:pt x="81" y="102"/>
                      <a:pt x="87" y="97"/>
                    </a:cubicBezTo>
                    <a:cubicBezTo>
                      <a:pt x="97" y="106"/>
                      <a:pt x="97" y="106"/>
                      <a:pt x="97" y="106"/>
                    </a:cubicBezTo>
                    <a:cubicBezTo>
                      <a:pt x="105" y="97"/>
                      <a:pt x="105" y="97"/>
                      <a:pt x="105" y="97"/>
                    </a:cubicBezTo>
                    <a:cubicBezTo>
                      <a:pt x="96" y="88"/>
                      <a:pt x="96" y="88"/>
                      <a:pt x="96" y="88"/>
                    </a:cubicBezTo>
                    <a:cubicBezTo>
                      <a:pt x="101" y="82"/>
                      <a:pt x="104" y="74"/>
                      <a:pt x="105" y="66"/>
                    </a:cubicBezTo>
                    <a:lnTo>
                      <a:pt x="118" y="6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3" name="Oval 989">
                <a:extLst>
                  <a:ext uri="{FF2B5EF4-FFF2-40B4-BE49-F238E27FC236}">
                    <a16:creationId xmlns:a16="http://schemas.microsoft.com/office/drawing/2014/main" id="{684088E5-80BA-4619-BA64-E256957A795E}"/>
                  </a:ext>
                </a:extLst>
              </p:cNvPr>
              <p:cNvSpPr>
                <a:spLocks noChangeArrowheads="1"/>
              </p:cNvSpPr>
              <p:nvPr/>
            </p:nvSpPr>
            <p:spPr bwMode="auto">
              <a:xfrm>
                <a:off x="2708964" y="1418844"/>
                <a:ext cx="49159" cy="477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4" name="Rectangle 990">
                <a:extLst>
                  <a:ext uri="{FF2B5EF4-FFF2-40B4-BE49-F238E27FC236}">
                    <a16:creationId xmlns:a16="http://schemas.microsoft.com/office/drawing/2014/main" id="{A30ACB26-F3E3-498C-96E7-E9EBF3DB909C}"/>
                  </a:ext>
                </a:extLst>
              </p:cNvPr>
              <p:cNvSpPr>
                <a:spLocks noChangeArrowheads="1"/>
              </p:cNvSpPr>
              <p:nvPr/>
            </p:nvSpPr>
            <p:spPr bwMode="auto">
              <a:xfrm>
                <a:off x="2680047" y="1249680"/>
                <a:ext cx="108439" cy="10843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5" name="Freeform 991">
                <a:extLst>
                  <a:ext uri="{FF2B5EF4-FFF2-40B4-BE49-F238E27FC236}">
                    <a16:creationId xmlns:a16="http://schemas.microsoft.com/office/drawing/2014/main" id="{AA073483-E070-4220-9D63-8254A7E16DB5}"/>
                  </a:ext>
                </a:extLst>
              </p:cNvPr>
              <p:cNvSpPr>
                <a:spLocks/>
              </p:cNvSpPr>
              <p:nvPr/>
            </p:nvSpPr>
            <p:spPr bwMode="auto">
              <a:xfrm>
                <a:off x="2668480" y="1521498"/>
                <a:ext cx="133018" cy="131572"/>
              </a:xfrm>
              <a:custGeom>
                <a:avLst/>
                <a:gdLst>
                  <a:gd name="T0" fmla="*/ 92 w 92"/>
                  <a:gd name="T1" fmla="*/ 46 h 91"/>
                  <a:gd name="T2" fmla="*/ 46 w 92"/>
                  <a:gd name="T3" fmla="*/ 0 h 91"/>
                  <a:gd name="T4" fmla="*/ 0 w 92"/>
                  <a:gd name="T5" fmla="*/ 46 h 91"/>
                  <a:gd name="T6" fmla="*/ 46 w 92"/>
                  <a:gd name="T7" fmla="*/ 91 h 91"/>
                  <a:gd name="T8" fmla="*/ 92 w 92"/>
                  <a:gd name="T9" fmla="*/ 46 h 91"/>
                </a:gdLst>
                <a:ahLst/>
                <a:cxnLst>
                  <a:cxn ang="0">
                    <a:pos x="T0" y="T1"/>
                  </a:cxn>
                  <a:cxn ang="0">
                    <a:pos x="T2" y="T3"/>
                  </a:cxn>
                  <a:cxn ang="0">
                    <a:pos x="T4" y="T5"/>
                  </a:cxn>
                  <a:cxn ang="0">
                    <a:pos x="T6" y="T7"/>
                  </a:cxn>
                  <a:cxn ang="0">
                    <a:pos x="T8" y="T9"/>
                  </a:cxn>
                </a:cxnLst>
                <a:rect l="0" t="0" r="r" b="b"/>
                <a:pathLst>
                  <a:path w="92" h="91">
                    <a:moveTo>
                      <a:pt x="92" y="46"/>
                    </a:moveTo>
                    <a:lnTo>
                      <a:pt x="46" y="0"/>
                    </a:lnTo>
                    <a:lnTo>
                      <a:pt x="0" y="46"/>
                    </a:lnTo>
                    <a:lnTo>
                      <a:pt x="46" y="91"/>
                    </a:lnTo>
                    <a:lnTo>
                      <a:pt x="92" y="4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49" name="Rectangle 648">
              <a:extLst>
                <a:ext uri="{FF2B5EF4-FFF2-40B4-BE49-F238E27FC236}">
                  <a16:creationId xmlns:a16="http://schemas.microsoft.com/office/drawing/2014/main" id="{B2137668-5CA1-4AEF-B0E9-5100DFD79F85}"/>
                </a:ext>
              </a:extLst>
            </p:cNvPr>
            <p:cNvSpPr/>
            <p:nvPr/>
          </p:nvSpPr>
          <p:spPr bwMode="auto">
            <a:xfrm>
              <a:off x="7161105" y="1259486"/>
              <a:ext cx="1503291"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0" name="Rectangle 649">
              <a:extLst>
                <a:ext uri="{FF2B5EF4-FFF2-40B4-BE49-F238E27FC236}">
                  <a16:creationId xmlns:a16="http://schemas.microsoft.com/office/drawing/2014/main" id="{A2F0F58F-846C-4A61-A743-41752BD0CA9C}"/>
                </a:ext>
              </a:extLst>
            </p:cNvPr>
            <p:cNvSpPr/>
            <p:nvPr/>
          </p:nvSpPr>
          <p:spPr bwMode="auto">
            <a:xfrm>
              <a:off x="6887368" y="1267644"/>
              <a:ext cx="213561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Alerting</a:t>
              </a:r>
            </a:p>
          </p:txBody>
        </p:sp>
        <p:grpSp>
          <p:nvGrpSpPr>
            <p:cNvPr id="721" name="analyze" descr="analyze, search">
              <a:extLst>
                <a:ext uri="{FF2B5EF4-FFF2-40B4-BE49-F238E27FC236}">
                  <a16:creationId xmlns:a16="http://schemas.microsoft.com/office/drawing/2014/main" id="{B42B1825-87B9-4440-911E-78BFCB397882}"/>
                </a:ext>
              </a:extLst>
            </p:cNvPr>
            <p:cNvGrpSpPr>
              <a:grpSpLocks noChangeAspect="1"/>
            </p:cNvGrpSpPr>
            <p:nvPr/>
          </p:nvGrpSpPr>
          <p:grpSpPr bwMode="auto">
            <a:xfrm>
              <a:off x="7613805" y="1296144"/>
              <a:ext cx="109547" cy="109547"/>
              <a:chOff x="1654" y="806"/>
              <a:chExt cx="239" cy="239"/>
            </a:xfrm>
          </p:grpSpPr>
          <p:sp>
            <p:nvSpPr>
              <p:cNvPr id="722" name="AutoShape 37">
                <a:extLst>
                  <a:ext uri="{FF2B5EF4-FFF2-40B4-BE49-F238E27FC236}">
                    <a16:creationId xmlns:a16="http://schemas.microsoft.com/office/drawing/2014/main" id="{336B3DF5-B469-43E5-BD38-6FA6A16AE581}"/>
                  </a:ext>
                </a:extLst>
              </p:cNvPr>
              <p:cNvSpPr>
                <a:spLocks noChangeAspect="1" noChangeArrowheads="1" noTextEdit="1"/>
              </p:cNvSpPr>
              <p:nvPr/>
            </p:nvSpPr>
            <p:spPr bwMode="auto">
              <a:xfrm>
                <a:off x="1654" y="806"/>
                <a:ext cx="23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3" name="Freeform 39">
                <a:extLst>
                  <a:ext uri="{FF2B5EF4-FFF2-40B4-BE49-F238E27FC236}">
                    <a16:creationId xmlns:a16="http://schemas.microsoft.com/office/drawing/2014/main" id="{FDB41ACD-A7C2-4762-AF04-992334B8B026}"/>
                  </a:ext>
                </a:extLst>
              </p:cNvPr>
              <p:cNvSpPr>
                <a:spLocks/>
              </p:cNvSpPr>
              <p:nvPr/>
            </p:nvSpPr>
            <p:spPr bwMode="auto">
              <a:xfrm>
                <a:off x="1653" y="80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4" name="Oval 40">
                <a:extLst>
                  <a:ext uri="{FF2B5EF4-FFF2-40B4-BE49-F238E27FC236}">
                    <a16:creationId xmlns:a16="http://schemas.microsoft.com/office/drawing/2014/main" id="{1D981104-C408-4147-9951-DAF7A5A168CC}"/>
                  </a:ext>
                </a:extLst>
              </p:cNvPr>
              <p:cNvSpPr>
                <a:spLocks noChangeArrowheads="1"/>
              </p:cNvSpPr>
              <p:nvPr/>
            </p:nvSpPr>
            <p:spPr bwMode="auto">
              <a:xfrm>
                <a:off x="169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5" name="Oval 41">
                <a:extLst>
                  <a:ext uri="{FF2B5EF4-FFF2-40B4-BE49-F238E27FC236}">
                    <a16:creationId xmlns:a16="http://schemas.microsoft.com/office/drawing/2014/main" id="{74B8A3DC-9F4C-4A2F-B0CF-D733533AEEB7}"/>
                  </a:ext>
                </a:extLst>
              </p:cNvPr>
              <p:cNvSpPr>
                <a:spLocks noChangeArrowheads="1"/>
              </p:cNvSpPr>
              <p:nvPr/>
            </p:nvSpPr>
            <p:spPr bwMode="auto">
              <a:xfrm>
                <a:off x="173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6" name="Oval 42">
                <a:extLst>
                  <a:ext uri="{FF2B5EF4-FFF2-40B4-BE49-F238E27FC236}">
                    <a16:creationId xmlns:a16="http://schemas.microsoft.com/office/drawing/2014/main" id="{FC9DD712-745D-4CB6-9459-DD51D52B3ABB}"/>
                  </a:ext>
                </a:extLst>
              </p:cNvPr>
              <p:cNvSpPr>
                <a:spLocks noChangeArrowheads="1"/>
              </p:cNvSpPr>
              <p:nvPr/>
            </p:nvSpPr>
            <p:spPr bwMode="auto">
              <a:xfrm>
                <a:off x="177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7" name="Oval 43">
                <a:extLst>
                  <a:ext uri="{FF2B5EF4-FFF2-40B4-BE49-F238E27FC236}">
                    <a16:creationId xmlns:a16="http://schemas.microsoft.com/office/drawing/2014/main" id="{1294030E-B313-4E51-80FD-DD505005887B}"/>
                  </a:ext>
                </a:extLst>
              </p:cNvPr>
              <p:cNvSpPr>
                <a:spLocks noChangeArrowheads="1"/>
              </p:cNvSpPr>
              <p:nvPr/>
            </p:nvSpPr>
            <p:spPr bwMode="auto">
              <a:xfrm>
                <a:off x="181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8" name="Oval 44">
                <a:extLst>
                  <a:ext uri="{FF2B5EF4-FFF2-40B4-BE49-F238E27FC236}">
                    <a16:creationId xmlns:a16="http://schemas.microsoft.com/office/drawing/2014/main" id="{9375FDC6-4E91-4378-B689-852A08CB266D}"/>
                  </a:ext>
                </a:extLst>
              </p:cNvPr>
              <p:cNvSpPr>
                <a:spLocks noChangeArrowheads="1"/>
              </p:cNvSpPr>
              <p:nvPr/>
            </p:nvSpPr>
            <p:spPr bwMode="auto">
              <a:xfrm>
                <a:off x="185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9" name="Freeform 45">
                <a:extLst>
                  <a:ext uri="{FF2B5EF4-FFF2-40B4-BE49-F238E27FC236}">
                    <a16:creationId xmlns:a16="http://schemas.microsoft.com/office/drawing/2014/main" id="{83F1DF1C-FCF0-43A6-A9B5-98DDE9B86F08}"/>
                  </a:ext>
                </a:extLst>
              </p:cNvPr>
              <p:cNvSpPr>
                <a:spLocks/>
              </p:cNvSpPr>
              <p:nvPr/>
            </p:nvSpPr>
            <p:spPr bwMode="auto">
              <a:xfrm>
                <a:off x="1653" y="846"/>
                <a:ext cx="27" cy="26"/>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0" name="Oval 46">
                <a:extLst>
                  <a:ext uri="{FF2B5EF4-FFF2-40B4-BE49-F238E27FC236}">
                    <a16:creationId xmlns:a16="http://schemas.microsoft.com/office/drawing/2014/main" id="{95688C10-8270-4FC8-B153-A53F1B04A3BC}"/>
                  </a:ext>
                </a:extLst>
              </p:cNvPr>
              <p:cNvSpPr>
                <a:spLocks noChangeArrowheads="1"/>
              </p:cNvSpPr>
              <p:nvPr/>
            </p:nvSpPr>
            <p:spPr bwMode="auto">
              <a:xfrm>
                <a:off x="169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1" name="Oval 47">
                <a:extLst>
                  <a:ext uri="{FF2B5EF4-FFF2-40B4-BE49-F238E27FC236}">
                    <a16:creationId xmlns:a16="http://schemas.microsoft.com/office/drawing/2014/main" id="{21B89C81-A5D5-4105-97D2-ED18152C8182}"/>
                  </a:ext>
                </a:extLst>
              </p:cNvPr>
              <p:cNvSpPr>
                <a:spLocks noChangeArrowheads="1"/>
              </p:cNvSpPr>
              <p:nvPr/>
            </p:nvSpPr>
            <p:spPr bwMode="auto">
              <a:xfrm>
                <a:off x="173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2" name="Oval 48">
                <a:extLst>
                  <a:ext uri="{FF2B5EF4-FFF2-40B4-BE49-F238E27FC236}">
                    <a16:creationId xmlns:a16="http://schemas.microsoft.com/office/drawing/2014/main" id="{D0B7E461-08A4-4176-AE42-C9F51A168E8A}"/>
                  </a:ext>
                </a:extLst>
              </p:cNvPr>
              <p:cNvSpPr>
                <a:spLocks noChangeArrowheads="1"/>
              </p:cNvSpPr>
              <p:nvPr/>
            </p:nvSpPr>
            <p:spPr bwMode="auto">
              <a:xfrm>
                <a:off x="177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3" name="Oval 49">
                <a:extLst>
                  <a:ext uri="{FF2B5EF4-FFF2-40B4-BE49-F238E27FC236}">
                    <a16:creationId xmlns:a16="http://schemas.microsoft.com/office/drawing/2014/main" id="{ADE8E24A-98D6-4E88-8C6D-C7C93BBE92F2}"/>
                  </a:ext>
                </a:extLst>
              </p:cNvPr>
              <p:cNvSpPr>
                <a:spLocks noChangeArrowheads="1"/>
              </p:cNvSpPr>
              <p:nvPr/>
            </p:nvSpPr>
            <p:spPr bwMode="auto">
              <a:xfrm>
                <a:off x="181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4" name="Oval 50">
                <a:extLst>
                  <a:ext uri="{FF2B5EF4-FFF2-40B4-BE49-F238E27FC236}">
                    <a16:creationId xmlns:a16="http://schemas.microsoft.com/office/drawing/2014/main" id="{82C021E1-F7DA-48B1-BB1A-8E7ACFEC7435}"/>
                  </a:ext>
                </a:extLst>
              </p:cNvPr>
              <p:cNvSpPr>
                <a:spLocks noChangeArrowheads="1"/>
              </p:cNvSpPr>
              <p:nvPr/>
            </p:nvSpPr>
            <p:spPr bwMode="auto">
              <a:xfrm>
                <a:off x="185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5" name="Freeform 51">
                <a:extLst>
                  <a:ext uri="{FF2B5EF4-FFF2-40B4-BE49-F238E27FC236}">
                    <a16:creationId xmlns:a16="http://schemas.microsoft.com/office/drawing/2014/main" id="{38613F60-D7E5-4861-B18E-FAECA6FE5707}"/>
                  </a:ext>
                </a:extLst>
              </p:cNvPr>
              <p:cNvSpPr>
                <a:spLocks/>
              </p:cNvSpPr>
              <p:nvPr/>
            </p:nvSpPr>
            <p:spPr bwMode="auto">
              <a:xfrm>
                <a:off x="1653" y="885"/>
                <a:ext cx="27" cy="27"/>
              </a:xfrm>
              <a:custGeom>
                <a:avLst/>
                <a:gdLst>
                  <a:gd name="T0" fmla="*/ 20 w 41"/>
                  <a:gd name="T1" fmla="*/ 41 h 41"/>
                  <a:gd name="T2" fmla="*/ 0 w 41"/>
                  <a:gd name="T3" fmla="*/ 21 h 41"/>
                  <a:gd name="T4" fmla="*/ 20 w 41"/>
                  <a:gd name="T5" fmla="*/ 0 h 41"/>
                  <a:gd name="T6" fmla="*/ 41 w 41"/>
                  <a:gd name="T7" fmla="*/ 21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1"/>
                    </a:cubicBezTo>
                    <a:cubicBezTo>
                      <a:pt x="0" y="9"/>
                      <a:pt x="9" y="0"/>
                      <a:pt x="20" y="0"/>
                    </a:cubicBezTo>
                    <a:cubicBezTo>
                      <a:pt x="32" y="0"/>
                      <a:pt x="41" y="9"/>
                      <a:pt x="41" y="21"/>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6" name="Oval 52">
                <a:extLst>
                  <a:ext uri="{FF2B5EF4-FFF2-40B4-BE49-F238E27FC236}">
                    <a16:creationId xmlns:a16="http://schemas.microsoft.com/office/drawing/2014/main" id="{D19053F4-2631-439D-8F32-B32D09B1D8C7}"/>
                  </a:ext>
                </a:extLst>
              </p:cNvPr>
              <p:cNvSpPr>
                <a:spLocks noChangeArrowheads="1"/>
              </p:cNvSpPr>
              <p:nvPr/>
            </p:nvSpPr>
            <p:spPr bwMode="auto">
              <a:xfrm>
                <a:off x="169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7" name="Oval 53">
                <a:extLst>
                  <a:ext uri="{FF2B5EF4-FFF2-40B4-BE49-F238E27FC236}">
                    <a16:creationId xmlns:a16="http://schemas.microsoft.com/office/drawing/2014/main" id="{0B8871CE-BE05-42BD-A8B2-EC8D17A759B9}"/>
                  </a:ext>
                </a:extLst>
              </p:cNvPr>
              <p:cNvSpPr>
                <a:spLocks noChangeArrowheads="1"/>
              </p:cNvSpPr>
              <p:nvPr/>
            </p:nvSpPr>
            <p:spPr bwMode="auto">
              <a:xfrm>
                <a:off x="173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8" name="Oval 54">
                <a:extLst>
                  <a:ext uri="{FF2B5EF4-FFF2-40B4-BE49-F238E27FC236}">
                    <a16:creationId xmlns:a16="http://schemas.microsoft.com/office/drawing/2014/main" id="{FEDA3BDC-7F40-4FE4-B080-E36FC4BA004A}"/>
                  </a:ext>
                </a:extLst>
              </p:cNvPr>
              <p:cNvSpPr>
                <a:spLocks noChangeArrowheads="1"/>
              </p:cNvSpPr>
              <p:nvPr/>
            </p:nvSpPr>
            <p:spPr bwMode="auto">
              <a:xfrm>
                <a:off x="177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9" name="Oval 55">
                <a:extLst>
                  <a:ext uri="{FF2B5EF4-FFF2-40B4-BE49-F238E27FC236}">
                    <a16:creationId xmlns:a16="http://schemas.microsoft.com/office/drawing/2014/main" id="{3923F993-64A3-4A2E-A834-E3EC141ADB6F}"/>
                  </a:ext>
                </a:extLst>
              </p:cNvPr>
              <p:cNvSpPr>
                <a:spLocks noChangeArrowheads="1"/>
              </p:cNvSpPr>
              <p:nvPr/>
            </p:nvSpPr>
            <p:spPr bwMode="auto">
              <a:xfrm>
                <a:off x="181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0" name="Oval 56">
                <a:extLst>
                  <a:ext uri="{FF2B5EF4-FFF2-40B4-BE49-F238E27FC236}">
                    <a16:creationId xmlns:a16="http://schemas.microsoft.com/office/drawing/2014/main" id="{05172401-97A2-4184-9590-71AAB8C23230}"/>
                  </a:ext>
                </a:extLst>
              </p:cNvPr>
              <p:cNvSpPr>
                <a:spLocks noChangeArrowheads="1"/>
              </p:cNvSpPr>
              <p:nvPr/>
            </p:nvSpPr>
            <p:spPr bwMode="auto">
              <a:xfrm>
                <a:off x="185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1" name="Freeform 57">
                <a:extLst>
                  <a:ext uri="{FF2B5EF4-FFF2-40B4-BE49-F238E27FC236}">
                    <a16:creationId xmlns:a16="http://schemas.microsoft.com/office/drawing/2014/main" id="{65AE5254-9373-4AFE-B145-13C82E1C9686}"/>
                  </a:ext>
                </a:extLst>
              </p:cNvPr>
              <p:cNvSpPr>
                <a:spLocks/>
              </p:cNvSpPr>
              <p:nvPr/>
            </p:nvSpPr>
            <p:spPr bwMode="auto">
              <a:xfrm>
                <a:off x="1653" y="92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2" name="Oval 58">
                <a:extLst>
                  <a:ext uri="{FF2B5EF4-FFF2-40B4-BE49-F238E27FC236}">
                    <a16:creationId xmlns:a16="http://schemas.microsoft.com/office/drawing/2014/main" id="{5E755442-5AA6-45A4-B160-A70B1AFBF3E4}"/>
                  </a:ext>
                </a:extLst>
              </p:cNvPr>
              <p:cNvSpPr>
                <a:spLocks noChangeArrowheads="1"/>
              </p:cNvSpPr>
              <p:nvPr/>
            </p:nvSpPr>
            <p:spPr bwMode="auto">
              <a:xfrm>
                <a:off x="169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3" name="Oval 59">
                <a:extLst>
                  <a:ext uri="{FF2B5EF4-FFF2-40B4-BE49-F238E27FC236}">
                    <a16:creationId xmlns:a16="http://schemas.microsoft.com/office/drawing/2014/main" id="{23DE8090-8238-459D-95EA-09D1FC1566A4}"/>
                  </a:ext>
                </a:extLst>
              </p:cNvPr>
              <p:cNvSpPr>
                <a:spLocks noChangeArrowheads="1"/>
              </p:cNvSpPr>
              <p:nvPr/>
            </p:nvSpPr>
            <p:spPr bwMode="auto">
              <a:xfrm>
                <a:off x="173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4" name="Freeform 60">
                <a:extLst>
                  <a:ext uri="{FF2B5EF4-FFF2-40B4-BE49-F238E27FC236}">
                    <a16:creationId xmlns:a16="http://schemas.microsoft.com/office/drawing/2014/main" id="{DF08E9E5-95C0-41A4-8EBB-BBAB7C1297DB}"/>
                  </a:ext>
                </a:extLst>
              </p:cNvPr>
              <p:cNvSpPr>
                <a:spLocks/>
              </p:cNvSpPr>
              <p:nvPr/>
            </p:nvSpPr>
            <p:spPr bwMode="auto">
              <a:xfrm>
                <a:off x="1653" y="96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5" name="Oval 61">
                <a:extLst>
                  <a:ext uri="{FF2B5EF4-FFF2-40B4-BE49-F238E27FC236}">
                    <a16:creationId xmlns:a16="http://schemas.microsoft.com/office/drawing/2014/main" id="{F4BF0532-BD94-435C-AF27-BD760EA110A1}"/>
                  </a:ext>
                </a:extLst>
              </p:cNvPr>
              <p:cNvSpPr>
                <a:spLocks noChangeArrowheads="1"/>
              </p:cNvSpPr>
              <p:nvPr/>
            </p:nvSpPr>
            <p:spPr bwMode="auto">
              <a:xfrm>
                <a:off x="169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6" name="Oval 62">
                <a:extLst>
                  <a:ext uri="{FF2B5EF4-FFF2-40B4-BE49-F238E27FC236}">
                    <a16:creationId xmlns:a16="http://schemas.microsoft.com/office/drawing/2014/main" id="{2901F00D-1920-42BA-A64B-6AD3C5F4338C}"/>
                  </a:ext>
                </a:extLst>
              </p:cNvPr>
              <p:cNvSpPr>
                <a:spLocks noChangeArrowheads="1"/>
              </p:cNvSpPr>
              <p:nvPr/>
            </p:nvSpPr>
            <p:spPr bwMode="auto">
              <a:xfrm>
                <a:off x="173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7" name="Freeform 63">
                <a:extLst>
                  <a:ext uri="{FF2B5EF4-FFF2-40B4-BE49-F238E27FC236}">
                    <a16:creationId xmlns:a16="http://schemas.microsoft.com/office/drawing/2014/main" id="{0718B473-C6EB-45D8-AA55-73E1FB94736C}"/>
                  </a:ext>
                </a:extLst>
              </p:cNvPr>
              <p:cNvSpPr>
                <a:spLocks/>
              </p:cNvSpPr>
              <p:nvPr/>
            </p:nvSpPr>
            <p:spPr bwMode="auto">
              <a:xfrm>
                <a:off x="1653" y="1005"/>
                <a:ext cx="27" cy="27"/>
              </a:xfrm>
              <a:custGeom>
                <a:avLst/>
                <a:gdLst>
                  <a:gd name="T0" fmla="*/ 20 w 41"/>
                  <a:gd name="T1" fmla="*/ 41 h 41"/>
                  <a:gd name="T2" fmla="*/ 0 w 41"/>
                  <a:gd name="T3" fmla="*/ 20 h 41"/>
                  <a:gd name="T4" fmla="*/ 20 w 41"/>
                  <a:gd name="T5" fmla="*/ 0 h 41"/>
                  <a:gd name="T6" fmla="*/ 41 w 41"/>
                  <a:gd name="T7" fmla="*/ 20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0"/>
                    </a:cubicBezTo>
                    <a:cubicBezTo>
                      <a:pt x="0" y="9"/>
                      <a:pt x="9" y="0"/>
                      <a:pt x="20" y="0"/>
                    </a:cubicBezTo>
                    <a:cubicBezTo>
                      <a:pt x="32" y="0"/>
                      <a:pt x="41" y="9"/>
                      <a:pt x="41" y="20"/>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8" name="Oval 64">
                <a:extLst>
                  <a:ext uri="{FF2B5EF4-FFF2-40B4-BE49-F238E27FC236}">
                    <a16:creationId xmlns:a16="http://schemas.microsoft.com/office/drawing/2014/main" id="{83BA823C-B379-48EA-824B-D7CAD628B1D4}"/>
                  </a:ext>
                </a:extLst>
              </p:cNvPr>
              <p:cNvSpPr>
                <a:spLocks noChangeArrowheads="1"/>
              </p:cNvSpPr>
              <p:nvPr/>
            </p:nvSpPr>
            <p:spPr bwMode="auto">
              <a:xfrm>
                <a:off x="169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9" name="Oval 65">
                <a:extLst>
                  <a:ext uri="{FF2B5EF4-FFF2-40B4-BE49-F238E27FC236}">
                    <a16:creationId xmlns:a16="http://schemas.microsoft.com/office/drawing/2014/main" id="{F870A753-DA68-4D3C-BD13-6412D2C1133E}"/>
                  </a:ext>
                </a:extLst>
              </p:cNvPr>
              <p:cNvSpPr>
                <a:spLocks noChangeArrowheads="1"/>
              </p:cNvSpPr>
              <p:nvPr/>
            </p:nvSpPr>
            <p:spPr bwMode="auto">
              <a:xfrm>
                <a:off x="173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50" name="Freeform 66">
                <a:extLst>
                  <a:ext uri="{FF2B5EF4-FFF2-40B4-BE49-F238E27FC236}">
                    <a16:creationId xmlns:a16="http://schemas.microsoft.com/office/drawing/2014/main" id="{2D0A2D2F-C39C-49E7-8203-B539A66E66B1}"/>
                  </a:ext>
                </a:extLst>
              </p:cNvPr>
              <p:cNvSpPr>
                <a:spLocks noEditPoints="1"/>
              </p:cNvSpPr>
              <p:nvPr/>
            </p:nvSpPr>
            <p:spPr bwMode="auto">
              <a:xfrm>
                <a:off x="1774" y="925"/>
                <a:ext cx="119" cy="120"/>
              </a:xfrm>
              <a:custGeom>
                <a:avLst/>
                <a:gdLst>
                  <a:gd name="T0" fmla="*/ 181 w 181"/>
                  <a:gd name="T1" fmla="*/ 169 h 183"/>
                  <a:gd name="T2" fmla="*/ 123 w 181"/>
                  <a:gd name="T3" fmla="*/ 111 h 183"/>
                  <a:gd name="T4" fmla="*/ 137 w 181"/>
                  <a:gd name="T5" fmla="*/ 69 h 183"/>
                  <a:gd name="T6" fmla="*/ 68 w 181"/>
                  <a:gd name="T7" fmla="*/ 0 h 183"/>
                  <a:gd name="T8" fmla="*/ 0 w 181"/>
                  <a:gd name="T9" fmla="*/ 69 h 183"/>
                  <a:gd name="T10" fmla="*/ 68 w 181"/>
                  <a:gd name="T11" fmla="*/ 138 h 183"/>
                  <a:gd name="T12" fmla="*/ 108 w 181"/>
                  <a:gd name="T13" fmla="*/ 125 h 183"/>
                  <a:gd name="T14" fmla="*/ 167 w 181"/>
                  <a:gd name="T15" fmla="*/ 183 h 183"/>
                  <a:gd name="T16" fmla="*/ 181 w 181"/>
                  <a:gd name="T17" fmla="*/ 169 h 183"/>
                  <a:gd name="T18" fmla="*/ 68 w 181"/>
                  <a:gd name="T19" fmla="*/ 118 h 183"/>
                  <a:gd name="T20" fmla="*/ 20 w 181"/>
                  <a:gd name="T21" fmla="*/ 69 h 183"/>
                  <a:gd name="T22" fmla="*/ 68 w 181"/>
                  <a:gd name="T23" fmla="*/ 21 h 183"/>
                  <a:gd name="T24" fmla="*/ 117 w 181"/>
                  <a:gd name="T25" fmla="*/ 69 h 183"/>
                  <a:gd name="T26" fmla="*/ 68 w 181"/>
                  <a:gd name="T27" fmla="*/ 11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 h="183">
                    <a:moveTo>
                      <a:pt x="181" y="169"/>
                    </a:moveTo>
                    <a:cubicBezTo>
                      <a:pt x="123" y="111"/>
                      <a:pt x="123" y="111"/>
                      <a:pt x="123" y="111"/>
                    </a:cubicBezTo>
                    <a:cubicBezTo>
                      <a:pt x="132" y="99"/>
                      <a:pt x="137" y="85"/>
                      <a:pt x="137" y="69"/>
                    </a:cubicBezTo>
                    <a:cubicBezTo>
                      <a:pt x="137" y="31"/>
                      <a:pt x="106" y="0"/>
                      <a:pt x="68" y="0"/>
                    </a:cubicBezTo>
                    <a:cubicBezTo>
                      <a:pt x="30" y="0"/>
                      <a:pt x="0" y="31"/>
                      <a:pt x="0" y="69"/>
                    </a:cubicBezTo>
                    <a:cubicBezTo>
                      <a:pt x="0" y="107"/>
                      <a:pt x="30" y="138"/>
                      <a:pt x="68" y="138"/>
                    </a:cubicBezTo>
                    <a:cubicBezTo>
                      <a:pt x="83" y="138"/>
                      <a:pt x="97" y="133"/>
                      <a:pt x="108" y="125"/>
                    </a:cubicBezTo>
                    <a:cubicBezTo>
                      <a:pt x="167" y="183"/>
                      <a:pt x="167" y="183"/>
                      <a:pt x="167" y="183"/>
                    </a:cubicBezTo>
                    <a:lnTo>
                      <a:pt x="181" y="169"/>
                    </a:lnTo>
                    <a:close/>
                    <a:moveTo>
                      <a:pt x="68" y="118"/>
                    </a:moveTo>
                    <a:cubicBezTo>
                      <a:pt x="42" y="118"/>
                      <a:pt x="20" y="96"/>
                      <a:pt x="20" y="69"/>
                    </a:cubicBezTo>
                    <a:cubicBezTo>
                      <a:pt x="20" y="42"/>
                      <a:pt x="42" y="21"/>
                      <a:pt x="68" y="21"/>
                    </a:cubicBezTo>
                    <a:cubicBezTo>
                      <a:pt x="95" y="21"/>
                      <a:pt x="117" y="42"/>
                      <a:pt x="117" y="69"/>
                    </a:cubicBezTo>
                    <a:cubicBezTo>
                      <a:pt x="117" y="96"/>
                      <a:pt x="95" y="118"/>
                      <a:pt x="68" y="118"/>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751" name="Rectangle 750">
              <a:extLst>
                <a:ext uri="{FF2B5EF4-FFF2-40B4-BE49-F238E27FC236}">
                  <a16:creationId xmlns:a16="http://schemas.microsoft.com/office/drawing/2014/main" id="{BA6B3D23-3F91-477D-8271-2C09AA2514BC}"/>
                </a:ext>
              </a:extLst>
            </p:cNvPr>
            <p:cNvSpPr/>
            <p:nvPr/>
          </p:nvSpPr>
          <p:spPr bwMode="auto">
            <a:xfrm>
              <a:off x="8664397" y="1259486"/>
              <a:ext cx="1265416"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52" name="Rectangle 751">
              <a:extLst>
                <a:ext uri="{FF2B5EF4-FFF2-40B4-BE49-F238E27FC236}">
                  <a16:creationId xmlns:a16="http://schemas.microsoft.com/office/drawing/2014/main" id="{F3C452AE-CC1F-485F-BD58-B7270ECFD3CB}"/>
                </a:ext>
              </a:extLst>
            </p:cNvPr>
            <p:cNvSpPr/>
            <p:nvPr/>
          </p:nvSpPr>
          <p:spPr bwMode="auto">
            <a:xfrm>
              <a:off x="8909376" y="1265404"/>
              <a:ext cx="809499" cy="15488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Actioning</a:t>
              </a:r>
            </a:p>
          </p:txBody>
        </p:sp>
        <p:pic>
          <p:nvPicPr>
            <p:cNvPr id="202" name="Graphic 201">
              <a:extLst>
                <a:ext uri="{FF2B5EF4-FFF2-40B4-BE49-F238E27FC236}">
                  <a16:creationId xmlns:a16="http://schemas.microsoft.com/office/drawing/2014/main" id="{C4041097-FBF9-45D2-8546-4A960044C9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54200" y="1298694"/>
              <a:ext cx="116843" cy="115017"/>
            </a:xfrm>
            <a:prstGeom prst="rect">
              <a:avLst/>
            </a:prstGeom>
          </p:spPr>
        </p:pic>
        <p:cxnSp>
          <p:nvCxnSpPr>
            <p:cNvPr id="209" name="Straight Connector 208">
              <a:extLst>
                <a:ext uri="{FF2B5EF4-FFF2-40B4-BE49-F238E27FC236}">
                  <a16:creationId xmlns:a16="http://schemas.microsoft.com/office/drawing/2014/main" id="{205A2F5A-C60E-43EA-8423-8FC91FE0899C}"/>
                </a:ext>
              </a:extLst>
            </p:cNvPr>
            <p:cNvCxnSpPr>
              <a:cxnSpLocks/>
            </p:cNvCxnSpPr>
            <p:nvPr/>
          </p:nvCxnSpPr>
          <p:spPr>
            <a:xfrm>
              <a:off x="9929813" y="1420349"/>
              <a:ext cx="0"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7" name="Event Hubs" descr="Event Hubs">
              <a:extLst>
                <a:ext uri="{FF2B5EF4-FFF2-40B4-BE49-F238E27FC236}">
                  <a16:creationId xmlns:a16="http://schemas.microsoft.com/office/drawing/2014/main" id="{2AE0FE26-69B0-7CED-3E10-D15FCA0CD1B1}"/>
                </a:ext>
              </a:extLst>
            </p:cNvPr>
            <p:cNvPicPr>
              <a:picLocks noChangeAspect="1"/>
            </p:cNvPicPr>
            <p:nvPr/>
          </p:nvPicPr>
          <p:blipFill>
            <a:blip r:embed="rId4"/>
            <a:stretch>
              <a:fillRect/>
            </a:stretch>
          </p:blipFill>
          <p:spPr>
            <a:xfrm>
              <a:off x="7207926" y="1822527"/>
              <a:ext cx="233868" cy="246263"/>
            </a:xfrm>
            <a:prstGeom prst="rect">
              <a:avLst/>
            </a:prstGeom>
          </p:spPr>
        </p:pic>
        <p:sp>
          <p:nvSpPr>
            <p:cNvPr id="48" name="Rectangle 47">
              <a:extLst>
                <a:ext uri="{FF2B5EF4-FFF2-40B4-BE49-F238E27FC236}">
                  <a16:creationId xmlns:a16="http://schemas.microsoft.com/office/drawing/2014/main" id="{AD6F8CCA-389B-B4DE-C408-C278DFC3D272}"/>
                </a:ext>
              </a:extLst>
            </p:cNvPr>
            <p:cNvSpPr/>
            <p:nvPr/>
          </p:nvSpPr>
          <p:spPr bwMode="auto">
            <a:xfrm>
              <a:off x="9054041" y="1665890"/>
              <a:ext cx="1013221"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Consumers</a:t>
              </a:r>
            </a:p>
          </p:txBody>
        </p:sp>
        <p:sp>
          <p:nvSpPr>
            <p:cNvPr id="168" name="Rectangle 167">
              <a:extLst>
                <a:ext uri="{FF2B5EF4-FFF2-40B4-BE49-F238E27FC236}">
                  <a16:creationId xmlns:a16="http://schemas.microsoft.com/office/drawing/2014/main" id="{10562EC5-3D5A-2A03-496B-5222062EDA21}"/>
                </a:ext>
              </a:extLst>
            </p:cNvPr>
            <p:cNvSpPr/>
            <p:nvPr/>
          </p:nvSpPr>
          <p:spPr bwMode="auto">
            <a:xfrm>
              <a:off x="6201814" y="3186991"/>
              <a:ext cx="2040675"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RocksDB </a:t>
              </a: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(Built-in State Store)</a:t>
              </a:r>
            </a:p>
          </p:txBody>
        </p:sp>
        <p:pic>
          <p:nvPicPr>
            <p:cNvPr id="170" name="Picture 169" descr="A yellow cheetah on a blue background&#10;&#10;Description automatically generated">
              <a:extLst>
                <a:ext uri="{FF2B5EF4-FFF2-40B4-BE49-F238E27FC236}">
                  <a16:creationId xmlns:a16="http://schemas.microsoft.com/office/drawing/2014/main" id="{8A12A2FA-50C3-DA1F-DBDF-DC3E76E1BD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46443" y="3367759"/>
              <a:ext cx="176874" cy="177568"/>
            </a:xfrm>
            <a:prstGeom prst="rect">
              <a:avLst/>
            </a:prstGeom>
          </p:spPr>
        </p:pic>
        <p:pic>
          <p:nvPicPr>
            <p:cNvPr id="77" name="Picture 6" descr="Microsoft Fabric | Logopedia | Fandom">
              <a:extLst>
                <a:ext uri="{FF2B5EF4-FFF2-40B4-BE49-F238E27FC236}">
                  <a16:creationId xmlns:a16="http://schemas.microsoft.com/office/drawing/2014/main" id="{4A85D825-58FC-035E-9709-FB49248F6E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9658" y="3862933"/>
              <a:ext cx="184481" cy="184481"/>
            </a:xfrm>
            <a:prstGeom prst="rect">
              <a:avLst/>
            </a:prstGeom>
            <a:noFill/>
            <a:extLst>
              <a:ext uri="{909E8E84-426E-40DD-AFC4-6F175D3DCCD1}">
                <a14:hiddenFill xmlns:a14="http://schemas.microsoft.com/office/drawing/2010/main">
                  <a:solidFill>
                    <a:srgbClr val="FFFFFF"/>
                  </a:solidFill>
                </a14:hiddenFill>
              </a:ext>
            </a:extLst>
          </p:spPr>
        </p:pic>
        <p:grpSp>
          <p:nvGrpSpPr>
            <p:cNvPr id="99" name="Group 98">
              <a:extLst>
                <a:ext uri="{FF2B5EF4-FFF2-40B4-BE49-F238E27FC236}">
                  <a16:creationId xmlns:a16="http://schemas.microsoft.com/office/drawing/2014/main" id="{55317766-8942-CE9E-8FFE-5CC90FBA8AC2}"/>
                </a:ext>
              </a:extLst>
            </p:cNvPr>
            <p:cNvGrpSpPr/>
            <p:nvPr/>
          </p:nvGrpSpPr>
          <p:grpSpPr>
            <a:xfrm>
              <a:off x="5653892" y="4078244"/>
              <a:ext cx="2914377" cy="1884209"/>
              <a:chOff x="8099402" y="3176360"/>
              <a:chExt cx="2914377" cy="1884209"/>
            </a:xfrm>
          </p:grpSpPr>
          <p:sp>
            <p:nvSpPr>
              <p:cNvPr id="190" name="Rectangle 189">
                <a:extLst>
                  <a:ext uri="{FF2B5EF4-FFF2-40B4-BE49-F238E27FC236}">
                    <a16:creationId xmlns:a16="http://schemas.microsoft.com/office/drawing/2014/main" id="{A10A40F0-EDB3-7D64-FBDD-2DBE4B4B1162}"/>
                  </a:ext>
                </a:extLst>
              </p:cNvPr>
              <p:cNvSpPr/>
              <p:nvPr/>
            </p:nvSpPr>
            <p:spPr bwMode="auto">
              <a:xfrm>
                <a:off x="8099402" y="3176360"/>
                <a:ext cx="2813462" cy="1884209"/>
              </a:xfrm>
              <a:prstGeom prst="rect">
                <a:avLst/>
              </a:prstGeom>
              <a:solidFill>
                <a:schemeClr val="bg1"/>
              </a:solidFill>
              <a:ln w="15875" cap="rnd" cmpd="sng" algn="ctr">
                <a:solidFill>
                  <a:schemeClr val="tx1">
                    <a:lumMod val="95000"/>
                  </a:schemeClr>
                </a:solidFill>
                <a:prstDash val="solid"/>
                <a:headEnd type="none" w="med" len="med"/>
                <a:tailEnd type="none" w="med" len="med"/>
              </a:ln>
              <a:effectLst>
                <a:outerShdw blurRad="63500" algn="ctr" rotWithShape="0">
                  <a:prstClr val="black">
                    <a:alpha val="20000"/>
                  </a:prstClr>
                </a:outerShdw>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92" name="Rectangle 191">
                <a:extLst>
                  <a:ext uri="{FF2B5EF4-FFF2-40B4-BE49-F238E27FC236}">
                    <a16:creationId xmlns:a16="http://schemas.microsoft.com/office/drawing/2014/main" id="{D74EBDEA-2D0D-96E7-201B-27CA4606BD0C}"/>
                  </a:ext>
                </a:extLst>
              </p:cNvPr>
              <p:cNvSpPr/>
              <p:nvPr/>
            </p:nvSpPr>
            <p:spPr bwMode="auto">
              <a:xfrm>
                <a:off x="8292392" y="3360504"/>
                <a:ext cx="2721387" cy="1520097"/>
              </a:xfrm>
              <a:prstGeom prst="rect">
                <a:avLst/>
              </a:prstGeom>
              <a:no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gradFill>
                      <a:gsLst>
                        <a:gs pos="0">
                          <a:srgbClr val="000000"/>
                        </a:gs>
                        <a:gs pos="100000">
                          <a:srgbClr val="000000">
                            <a:lumMod val="85000"/>
                          </a:srgbClr>
                        </a:gs>
                      </a:gsLst>
                      <a:lin ang="2700000" scaled="1"/>
                    </a:gradFill>
                    <a:effectLst/>
                    <a:uLnTx/>
                    <a:uFill>
                      <a:solidFill>
                        <a:srgbClr val="50E6FF"/>
                      </a:solidFill>
                    </a:uFill>
                    <a:latin typeface="Cascadia Code" panose="020B0609020000020004" pitchFamily="49" charset="0"/>
                    <a:ea typeface="Segoe UI" pitchFamily="34" charset="0"/>
                    <a:cs typeface="Cascadia Code" panose="020B0609020000020004" pitchFamily="49" charset="0"/>
                  </a:rPr>
                  <a:t>Arbitrary Stateful Processing</a:t>
                </a:r>
              </a:p>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Basically, Spark guarantees a callback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f(x)</a:t>
                </a:r>
                <a:r>
                  <a:rPr kumimoji="0" lang="en-US" sz="800" b="0"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will execute with a microbatch of all events related to a key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Spark also guarantees a event-time based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timeout</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callback, if events don’t arrive for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1" i="0" u="none" strike="noStrike" kern="0" cap="none" spc="0" normalizeH="0" baseline="0" noProof="0">
                    <a:ln>
                      <a:noFill/>
                    </a:ln>
                    <a:solidFill>
                      <a:srgbClr val="DA2430"/>
                    </a:solidFill>
                    <a:effectLst/>
                    <a:uLnTx/>
                    <a:uFillTx/>
                    <a:latin typeface="Cascadia Code" panose="020B0609020000020004" pitchFamily="49" charset="0"/>
                    <a:ea typeface="Segoe UI" pitchFamily="34" charset="0"/>
                    <a:cs typeface="Cascadia Code" panose="020B0609020000020004" pitchFamily="49" charset="0"/>
                  </a:rPr>
                  <a:t>(heartbeat offline)</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Key differentiator:</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massively scalable because of Spark’s horizontal scalability (</a:t>
                </a:r>
                <a:r>
                  <a:rPr kumimoji="0" lang="en-US" sz="8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million+ events/min</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with guaranteed latency.</a:t>
                </a: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1"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Use cases:</a:t>
                </a:r>
                <a:r>
                  <a:rPr kumimoji="0" lang="en-US" sz="800" b="0"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ClickStream Analytics, IoT Heartbeat</a:t>
                </a:r>
                <a:endParaRPr kumimoji="0" lang="en-US" sz="1100" b="1" i="1" u="none" strike="noStrike" kern="0" cap="none" spc="0" normalizeH="0" baseline="0" noProof="0">
                  <a:ln>
                    <a:noFill/>
                  </a:ln>
                  <a:solidFill>
                    <a:srgbClr val="000000"/>
                  </a:solidFill>
                  <a:effectLst/>
                  <a:uLnTx/>
                  <a:uFillTx/>
                  <a:latin typeface="Segoe UI"/>
                  <a:ea typeface="Segoe UI" pitchFamily="34" charset="0"/>
                  <a:cs typeface="Segoe UI Semibold" panose="020B0702040204020203" pitchFamily="34" charset="0"/>
                </a:endParaRPr>
              </a:p>
            </p:txBody>
          </p:sp>
          <p:pic>
            <p:nvPicPr>
              <p:cNvPr id="193" name="Graphic 192">
                <a:extLst>
                  <a:ext uri="{FF2B5EF4-FFF2-40B4-BE49-F238E27FC236}">
                    <a16:creationId xmlns:a16="http://schemas.microsoft.com/office/drawing/2014/main" id="{C430D0C7-BD6E-8839-CB64-4F0E998453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60616" y="3314052"/>
                <a:ext cx="228600" cy="228600"/>
              </a:xfrm>
              <a:prstGeom prst="rect">
                <a:avLst/>
              </a:prstGeom>
            </p:spPr>
          </p:pic>
        </p:grpSp>
        <p:pic>
          <p:nvPicPr>
            <p:cNvPr id="14" name="Picture 4" descr="Apache, spark, logo Icon in Vector Logo">
              <a:extLst>
                <a:ext uri="{FF2B5EF4-FFF2-40B4-BE49-F238E27FC236}">
                  <a16:creationId xmlns:a16="http://schemas.microsoft.com/office/drawing/2014/main" id="{DAB6D2BC-C941-970B-488E-E746906D36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0529" y="2765957"/>
              <a:ext cx="403701" cy="4037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347C6E54-5C3B-E087-994F-470E822EF303}"/>
                </a:ext>
              </a:extLst>
            </p:cNvPr>
            <p:cNvSpPr/>
            <p:nvPr/>
          </p:nvSpPr>
          <p:spPr bwMode="auto">
            <a:xfrm>
              <a:off x="5852157" y="1691224"/>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b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a:t>
              </a:r>
            </a:p>
          </p:txBody>
        </p:sp>
        <p:pic>
          <p:nvPicPr>
            <p:cNvPr id="10" name="Event Hubs" descr="Event Hubs">
              <a:extLst>
                <a:ext uri="{FF2B5EF4-FFF2-40B4-BE49-F238E27FC236}">
                  <a16:creationId xmlns:a16="http://schemas.microsoft.com/office/drawing/2014/main" id="{9BD43A92-9B82-5FCE-E9E4-D7C535E0708E}"/>
                </a:ext>
              </a:extLst>
            </p:cNvPr>
            <p:cNvPicPr>
              <a:picLocks noChangeAspect="1"/>
            </p:cNvPicPr>
            <p:nvPr/>
          </p:nvPicPr>
          <p:blipFill>
            <a:blip r:embed="rId4"/>
            <a:stretch>
              <a:fillRect/>
            </a:stretch>
          </p:blipFill>
          <p:spPr>
            <a:xfrm>
              <a:off x="5747062" y="1848678"/>
              <a:ext cx="233868" cy="246263"/>
            </a:xfrm>
            <a:prstGeom prst="rect">
              <a:avLst/>
            </a:prstGeom>
          </p:spPr>
        </p:pic>
        <p:sp>
          <p:nvSpPr>
            <p:cNvPr id="38" name="Rectangle 37">
              <a:extLst>
                <a:ext uri="{FF2B5EF4-FFF2-40B4-BE49-F238E27FC236}">
                  <a16:creationId xmlns:a16="http://schemas.microsoft.com/office/drawing/2014/main" id="{73E69E16-998F-4DE6-A6A6-B972F1E4D134}"/>
                </a:ext>
              </a:extLst>
            </p:cNvPr>
            <p:cNvSpPr/>
            <p:nvPr/>
          </p:nvSpPr>
          <p:spPr bwMode="auto">
            <a:xfrm>
              <a:off x="7313021" y="1665073"/>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a:t>
              </a:r>
            </a:p>
          </p:txBody>
        </p:sp>
        <p:pic>
          <p:nvPicPr>
            <p:cNvPr id="31" name="Graphic 30">
              <a:extLst>
                <a:ext uri="{FF2B5EF4-FFF2-40B4-BE49-F238E27FC236}">
                  <a16:creationId xmlns:a16="http://schemas.microsoft.com/office/drawing/2014/main" id="{929CAA41-084E-7630-DD94-04261CAC05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15190" y="1820637"/>
              <a:ext cx="262697" cy="262697"/>
            </a:xfrm>
            <a:prstGeom prst="rect">
              <a:avLst/>
            </a:prstGeom>
          </p:spPr>
        </p:pic>
        <p:pic>
          <p:nvPicPr>
            <p:cNvPr id="32" name="Graphic 31">
              <a:extLst>
                <a:ext uri="{FF2B5EF4-FFF2-40B4-BE49-F238E27FC236}">
                  <a16:creationId xmlns:a16="http://schemas.microsoft.com/office/drawing/2014/main" id="{B1E6766A-E877-263E-96F8-08F96552C0F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03570" y="1806073"/>
              <a:ext cx="262697" cy="262697"/>
            </a:xfrm>
            <a:prstGeom prst="rect">
              <a:avLst/>
            </a:prstGeom>
          </p:spPr>
        </p:pic>
        <p:grpSp>
          <p:nvGrpSpPr>
            <p:cNvPr id="34" name="Group 33">
              <a:extLst>
                <a:ext uri="{FF2B5EF4-FFF2-40B4-BE49-F238E27FC236}">
                  <a16:creationId xmlns:a16="http://schemas.microsoft.com/office/drawing/2014/main" id="{7C027385-03FA-9629-7FAC-101C484FD332}"/>
                </a:ext>
              </a:extLst>
            </p:cNvPr>
            <p:cNvGrpSpPr/>
            <p:nvPr/>
          </p:nvGrpSpPr>
          <p:grpSpPr>
            <a:xfrm>
              <a:off x="6366012" y="3451771"/>
              <a:ext cx="1226973" cy="404075"/>
              <a:chOff x="5400851" y="3713092"/>
              <a:chExt cx="1226973" cy="404075"/>
            </a:xfrm>
          </p:grpSpPr>
          <p:sp>
            <p:nvSpPr>
              <p:cNvPr id="145" name="Rectangle 144">
                <a:extLst>
                  <a:ext uri="{FF2B5EF4-FFF2-40B4-BE49-F238E27FC236}">
                    <a16:creationId xmlns:a16="http://schemas.microsoft.com/office/drawing/2014/main" id="{41600785-E637-5B29-A8BF-C842B8C913C9}"/>
                  </a:ext>
                </a:extLst>
              </p:cNvPr>
              <p:cNvSpPr/>
              <p:nvPr/>
            </p:nvSpPr>
            <p:spPr bwMode="auto">
              <a:xfrm>
                <a:off x="5400851" y="3713092"/>
                <a:ext cx="1226973" cy="40407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OneLake</a:t>
                </a:r>
                <a:endParaRPr kumimoji="0" lang="en-US" sz="800" b="1"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33" name="Picture 32" descr="How Azure OneLake will revolutionize the way we manage and ...">
                <a:extLst>
                  <a:ext uri="{FF2B5EF4-FFF2-40B4-BE49-F238E27FC236}">
                    <a16:creationId xmlns:a16="http://schemas.microsoft.com/office/drawing/2014/main" id="{CD7FCACD-EF21-98DB-2BA8-7B8499B41E6B}"/>
                  </a:ext>
                </a:extLst>
              </p:cNvPr>
              <p:cNvPicPr>
                <a:picLocks noChangeAspect="1"/>
              </p:cNvPicPr>
              <p:nvPr/>
            </p:nvPicPr>
            <p:blipFill>
              <a:blip r:embed="rId10"/>
              <a:srcRect b="16396"/>
              <a:stretch>
                <a:fillRect/>
              </a:stretch>
            </p:blipFill>
            <p:spPr>
              <a:xfrm>
                <a:off x="5736147" y="3871164"/>
                <a:ext cx="95370" cy="99667"/>
              </a:xfrm>
              <a:prstGeom prst="rect">
                <a:avLst/>
              </a:prstGeom>
            </p:spPr>
          </p:pic>
        </p:grpSp>
        <p:cxnSp>
          <p:nvCxnSpPr>
            <p:cNvPr id="57" name="Straight Connector 56">
              <a:extLst>
                <a:ext uri="{FF2B5EF4-FFF2-40B4-BE49-F238E27FC236}">
                  <a16:creationId xmlns:a16="http://schemas.microsoft.com/office/drawing/2014/main" id="{676C9B5E-B4BB-0446-29AA-15F238650DF6}"/>
                </a:ext>
              </a:extLst>
            </p:cNvPr>
            <p:cNvCxnSpPr>
              <a:cxnSpLocks/>
            </p:cNvCxnSpPr>
            <p:nvPr/>
          </p:nvCxnSpPr>
          <p:spPr>
            <a:xfrm>
              <a:off x="4073064" y="1369168"/>
              <a:ext cx="0" cy="4707782"/>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C3616BB0-5101-8F03-55B0-CE79A24148A5}"/>
                </a:ext>
              </a:extLst>
            </p:cNvPr>
            <p:cNvCxnSpPr>
              <a:cxnSpLocks/>
              <a:stCxn id="132" idx="3"/>
              <a:endCxn id="101" idx="1"/>
            </p:cNvCxnSpPr>
            <p:nvPr/>
          </p:nvCxnSpPr>
          <p:spPr>
            <a:xfrm>
              <a:off x="5248929" y="1963573"/>
              <a:ext cx="441262" cy="10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09" name="Graphic 108">
              <a:extLst>
                <a:ext uri="{FF2B5EF4-FFF2-40B4-BE49-F238E27FC236}">
                  <a16:creationId xmlns:a16="http://schemas.microsoft.com/office/drawing/2014/main" id="{2F3D1E18-BBC9-AAED-CE8F-626B1759A75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12826" y="1861027"/>
              <a:ext cx="229481" cy="229481"/>
            </a:xfrm>
            <a:prstGeom prst="rect">
              <a:avLst/>
            </a:prstGeom>
          </p:spPr>
        </p:pic>
        <p:pic>
          <p:nvPicPr>
            <p:cNvPr id="113" name="Picture 112" descr="Lakehouse">
              <a:extLst>
                <a:ext uri="{FF2B5EF4-FFF2-40B4-BE49-F238E27FC236}">
                  <a16:creationId xmlns:a16="http://schemas.microsoft.com/office/drawing/2014/main" id="{80C3E4C6-7C03-3027-1DC1-29FBB4FF0D47}"/>
                </a:ext>
              </a:extLst>
            </p:cNvPr>
            <p:cNvPicPr>
              <a:picLocks noChangeAspect="1"/>
            </p:cNvPicPr>
            <p:nvPr/>
          </p:nvPicPr>
          <p:blipFill>
            <a:blip r:embed="rId12"/>
            <a:stretch>
              <a:fillRect/>
            </a:stretch>
          </p:blipFill>
          <p:spPr>
            <a:xfrm>
              <a:off x="5853732" y="3685685"/>
              <a:ext cx="329389" cy="329389"/>
            </a:xfrm>
            <a:prstGeom prst="rect">
              <a:avLst/>
            </a:prstGeom>
          </p:spPr>
        </p:pic>
        <p:pic>
          <p:nvPicPr>
            <p:cNvPr id="114" name="Picture 113" descr="Eventstream">
              <a:extLst>
                <a:ext uri="{FF2B5EF4-FFF2-40B4-BE49-F238E27FC236}">
                  <a16:creationId xmlns:a16="http://schemas.microsoft.com/office/drawing/2014/main" id="{F0BA69F9-540B-86EF-5966-455D3D39E87A}"/>
                </a:ext>
              </a:extLst>
            </p:cNvPr>
            <p:cNvPicPr>
              <a:picLocks noChangeAspect="1"/>
            </p:cNvPicPr>
            <p:nvPr/>
          </p:nvPicPr>
          <p:blipFill>
            <a:blip r:embed="rId13"/>
            <a:stretch>
              <a:fillRect/>
            </a:stretch>
          </p:blipFill>
          <p:spPr>
            <a:xfrm>
              <a:off x="6802782" y="1790441"/>
              <a:ext cx="311417" cy="311417"/>
            </a:xfrm>
            <a:prstGeom prst="rect">
              <a:avLst/>
            </a:prstGeom>
          </p:spPr>
        </p:pic>
        <p:cxnSp>
          <p:nvCxnSpPr>
            <p:cNvPr id="115" name="Straight Arrow Connector 114">
              <a:extLst>
                <a:ext uri="{FF2B5EF4-FFF2-40B4-BE49-F238E27FC236}">
                  <a16:creationId xmlns:a16="http://schemas.microsoft.com/office/drawing/2014/main" id="{4438F9A8-9D96-1058-F1A4-FFB859D3921E}"/>
                </a:ext>
              </a:extLst>
            </p:cNvPr>
            <p:cNvCxnSpPr>
              <a:cxnSpLocks/>
              <a:stCxn id="101" idx="2"/>
            </p:cNvCxnSpPr>
            <p:nvPr/>
          </p:nvCxnSpPr>
          <p:spPr>
            <a:xfrm>
              <a:off x="6214841" y="2223263"/>
              <a:ext cx="0" cy="39770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118" name="Straight Arrow Connector 117">
              <a:extLst>
                <a:ext uri="{FF2B5EF4-FFF2-40B4-BE49-F238E27FC236}">
                  <a16:creationId xmlns:a16="http://schemas.microsoft.com/office/drawing/2014/main" id="{78FE821C-600F-48C1-03B6-BF6682B624FB}"/>
                </a:ext>
              </a:extLst>
            </p:cNvPr>
            <p:cNvCxnSpPr>
              <a:cxnSpLocks/>
            </p:cNvCxnSpPr>
            <p:nvPr/>
          </p:nvCxnSpPr>
          <p:spPr>
            <a:xfrm flipH="1" flipV="1">
              <a:off x="7656244" y="2187075"/>
              <a:ext cx="5780" cy="426347"/>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grpSp>
          <p:nvGrpSpPr>
            <p:cNvPr id="130" name="Group 129">
              <a:extLst>
                <a:ext uri="{FF2B5EF4-FFF2-40B4-BE49-F238E27FC236}">
                  <a16:creationId xmlns:a16="http://schemas.microsoft.com/office/drawing/2014/main" id="{50942821-4FED-F2E1-2D17-00AE0AFDC57C}"/>
                </a:ext>
              </a:extLst>
            </p:cNvPr>
            <p:cNvGrpSpPr/>
            <p:nvPr/>
          </p:nvGrpSpPr>
          <p:grpSpPr>
            <a:xfrm>
              <a:off x="7784079" y="2054235"/>
              <a:ext cx="1379971" cy="838923"/>
              <a:chOff x="8184668" y="2235922"/>
              <a:chExt cx="1379971" cy="838923"/>
            </a:xfrm>
          </p:grpSpPr>
          <p:sp>
            <p:nvSpPr>
              <p:cNvPr id="128" name="Rectangle 127">
                <a:extLst>
                  <a:ext uri="{FF2B5EF4-FFF2-40B4-BE49-F238E27FC236}">
                    <a16:creationId xmlns:a16="http://schemas.microsoft.com/office/drawing/2014/main" id="{B629FC10-1DFF-02A9-E05D-20B37C91277D}"/>
                  </a:ext>
                </a:extLst>
              </p:cNvPr>
              <p:cNvSpPr/>
              <p:nvPr/>
            </p:nvSpPr>
            <p:spPr bwMode="auto">
              <a:xfrm>
                <a:off x="8184668" y="2437033"/>
                <a:ext cx="816070" cy="396112"/>
              </a:xfrm>
              <a:prstGeom prst="rect">
                <a:avLst/>
              </a:prstGeom>
              <a:gradFill>
                <a:gsLst>
                  <a:gs pos="0">
                    <a:srgbClr val="E3E3E3">
                      <a:alpha val="55000"/>
                    </a:srgbClr>
                  </a:gs>
                  <a:gs pos="100000">
                    <a:srgbClr val="E3E3E3"/>
                  </a:gs>
                </a:gsLst>
                <a:lin ang="0" scaled="0"/>
              </a:gradFill>
              <a:ln w="2540">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27" name="Group 126">
                <a:extLst>
                  <a:ext uri="{FF2B5EF4-FFF2-40B4-BE49-F238E27FC236}">
                    <a16:creationId xmlns:a16="http://schemas.microsoft.com/office/drawing/2014/main" id="{EB556EDD-CCD5-07A3-FFAF-6C0BD93B4805}"/>
                  </a:ext>
                </a:extLst>
              </p:cNvPr>
              <p:cNvGrpSpPr/>
              <p:nvPr/>
            </p:nvGrpSpPr>
            <p:grpSpPr>
              <a:xfrm>
                <a:off x="8233492" y="2235922"/>
                <a:ext cx="1331147" cy="838923"/>
                <a:chOff x="8695830" y="2684363"/>
                <a:chExt cx="1331147" cy="838923"/>
              </a:xfrm>
            </p:grpSpPr>
            <p:pic>
              <p:nvPicPr>
                <p:cNvPr id="125" name="Graphic 124">
                  <a:extLst>
                    <a:ext uri="{FF2B5EF4-FFF2-40B4-BE49-F238E27FC236}">
                      <a16:creationId xmlns:a16="http://schemas.microsoft.com/office/drawing/2014/main" id="{8A0F5A1C-22D1-0039-0B28-CB03AAC137A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695830" y="2898640"/>
                  <a:ext cx="314813" cy="314813"/>
                </a:xfrm>
                <a:prstGeom prst="rect">
                  <a:avLst/>
                </a:prstGeom>
              </p:spPr>
            </p:pic>
            <p:sp>
              <p:nvSpPr>
                <p:cNvPr id="126" name="Rectangle 125">
                  <a:extLst>
                    <a:ext uri="{FF2B5EF4-FFF2-40B4-BE49-F238E27FC236}">
                      <a16:creationId xmlns:a16="http://schemas.microsoft.com/office/drawing/2014/main" id="{FE2ABAD3-4630-0D64-2CF0-6C86B6660D5B}"/>
                    </a:ext>
                  </a:extLst>
                </p:cNvPr>
                <p:cNvSpPr/>
                <p:nvPr/>
              </p:nvSpPr>
              <p:spPr bwMode="auto">
                <a:xfrm>
                  <a:off x="8792688" y="2684363"/>
                  <a:ext cx="1234289" cy="83892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&lt; </a:t>
                  </a:r>
                  <a:r>
                    <a:rPr lang="en-US" sz="800" b="1">
                      <a:solidFill>
                        <a:srgbClr val="7030A0"/>
                      </a:solidFill>
                      <a:latin typeface="Cascadia Code" panose="020B0609020000020004" pitchFamily="49" charset="0"/>
                      <a:ea typeface="Segoe UI" pitchFamily="34" charset="0"/>
                      <a:cs typeface="Cascadia Code" panose="020B0609020000020004" pitchFamily="49" charset="0"/>
                    </a:rPr>
                    <a:t>1</a:t>
                  </a: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 sec</a:t>
                  </a:r>
                </a:p>
              </p:txBody>
            </p:sp>
          </p:grpSp>
        </p:grpSp>
        <p:cxnSp>
          <p:nvCxnSpPr>
            <p:cNvPr id="137" name="Straight Arrow Connector 136">
              <a:extLst>
                <a:ext uri="{FF2B5EF4-FFF2-40B4-BE49-F238E27FC236}">
                  <a16:creationId xmlns:a16="http://schemas.microsoft.com/office/drawing/2014/main" id="{8F99C1FE-A646-95C4-14AA-804FDD6B0023}"/>
                </a:ext>
              </a:extLst>
            </p:cNvPr>
            <p:cNvCxnSpPr>
              <a:cxnSpLocks/>
              <a:stCxn id="103" idx="3"/>
              <a:endCxn id="136" idx="1"/>
            </p:cNvCxnSpPr>
            <p:nvPr/>
          </p:nvCxnSpPr>
          <p:spPr>
            <a:xfrm>
              <a:off x="8180007" y="1937421"/>
              <a:ext cx="617750" cy="691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51" name="Graphic 150">
              <a:extLst>
                <a:ext uri="{FF2B5EF4-FFF2-40B4-BE49-F238E27FC236}">
                  <a16:creationId xmlns:a16="http://schemas.microsoft.com/office/drawing/2014/main" id="{29A614A8-B36D-C077-B5F9-A444D764D0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99116" y="1841419"/>
              <a:ext cx="227351" cy="227351"/>
            </a:xfrm>
            <a:prstGeom prst="rect">
              <a:avLst/>
            </a:prstGeom>
          </p:spPr>
        </p:pic>
      </p:grpSp>
    </p:spTree>
    <p:extLst>
      <p:ext uri="{BB962C8B-B14F-4D97-AF65-F5344CB8AC3E}">
        <p14:creationId xmlns:p14="http://schemas.microsoft.com/office/powerpoint/2010/main" val="328980876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F4937-5E36-13D9-D4A7-4D46F303FE14}"/>
            </a:ext>
          </a:extLst>
        </p:cNvPr>
        <p:cNvGrpSpPr/>
        <p:nvPr/>
      </p:nvGrpSpPr>
      <p:grpSpPr>
        <a:xfrm>
          <a:off x="0" y="0"/>
          <a:ext cx="0" cy="0"/>
          <a:chOff x="0" y="0"/>
          <a:chExt cx="0" cy="0"/>
        </a:xfrm>
      </p:grpSpPr>
      <p:grpSp>
        <p:nvGrpSpPr>
          <p:cNvPr id="602" name="Group 601">
            <a:extLst>
              <a:ext uri="{FF2B5EF4-FFF2-40B4-BE49-F238E27FC236}">
                <a16:creationId xmlns:a16="http://schemas.microsoft.com/office/drawing/2014/main" id="{65487823-D111-CA99-ED36-48DAD6510AB0}"/>
              </a:ext>
            </a:extLst>
          </p:cNvPr>
          <p:cNvGrpSpPr/>
          <p:nvPr/>
        </p:nvGrpSpPr>
        <p:grpSpPr>
          <a:xfrm>
            <a:off x="0" y="1"/>
            <a:ext cx="12168013" cy="6858000"/>
            <a:chOff x="0" y="1"/>
            <a:chExt cx="12168013" cy="6858000"/>
          </a:xfrm>
        </p:grpSpPr>
        <p:sp>
          <p:nvSpPr>
            <p:cNvPr id="76" name="Rectangle: Rounded Corners 75">
              <a:extLst>
                <a:ext uri="{FF2B5EF4-FFF2-40B4-BE49-F238E27FC236}">
                  <a16:creationId xmlns:a16="http://schemas.microsoft.com/office/drawing/2014/main" id="{A290E025-0DF3-EE98-873B-B00344457AF4}"/>
                </a:ext>
              </a:extLst>
            </p:cNvPr>
            <p:cNvSpPr/>
            <p:nvPr/>
          </p:nvSpPr>
          <p:spPr bwMode="auto">
            <a:xfrm>
              <a:off x="1784516" y="382400"/>
              <a:ext cx="3153957" cy="2964820"/>
            </a:xfrm>
            <a:prstGeom prst="roundRect">
              <a:avLst>
                <a:gd name="adj" fmla="val 1988"/>
              </a:avLst>
            </a:prstGeom>
            <a:solidFill>
              <a:srgbClr val="E1ECEA"/>
            </a:solidFill>
            <a:ln w="4445" cap="flat" cmpd="sng" algn="ctr">
              <a:solidFill>
                <a:srgbClr val="CAE4E1"/>
              </a:solidFill>
              <a:prstDash val="solid"/>
              <a:headEnd type="none" w="med" len="med"/>
              <a:tailEnd type="none" w="med" len="med"/>
            </a:ln>
            <a:effectLst>
              <a:outerShdw blurRad="50800" dist="38100" dir="5400000" algn="t" rotWithShape="0">
                <a:prstClr val="black">
                  <a:alpha val="7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CA" sz="20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595" name="Group 594">
              <a:extLst>
                <a:ext uri="{FF2B5EF4-FFF2-40B4-BE49-F238E27FC236}">
                  <a16:creationId xmlns:a16="http://schemas.microsoft.com/office/drawing/2014/main" id="{B54BCE4C-2BD5-42BB-FA97-DADF4F5D7775}"/>
                </a:ext>
              </a:extLst>
            </p:cNvPr>
            <p:cNvGrpSpPr/>
            <p:nvPr/>
          </p:nvGrpSpPr>
          <p:grpSpPr>
            <a:xfrm>
              <a:off x="2145974" y="1859280"/>
              <a:ext cx="3040866" cy="3225411"/>
              <a:chOff x="2145974" y="1859280"/>
              <a:chExt cx="3040866" cy="3225411"/>
            </a:xfrm>
          </p:grpSpPr>
          <p:sp>
            <p:nvSpPr>
              <p:cNvPr id="110" name="Rectangle: Rounded Corners 109">
                <a:extLst>
                  <a:ext uri="{FF2B5EF4-FFF2-40B4-BE49-F238E27FC236}">
                    <a16:creationId xmlns:a16="http://schemas.microsoft.com/office/drawing/2014/main" id="{6395B4D4-D040-075C-35F8-E0F2E448D7A0}"/>
                  </a:ext>
                </a:extLst>
              </p:cNvPr>
              <p:cNvSpPr/>
              <p:nvPr/>
            </p:nvSpPr>
            <p:spPr bwMode="auto">
              <a:xfrm>
                <a:off x="2272463" y="1859280"/>
                <a:ext cx="1914718" cy="1257300"/>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585" name="Group 584">
                <a:extLst>
                  <a:ext uri="{FF2B5EF4-FFF2-40B4-BE49-F238E27FC236}">
                    <a16:creationId xmlns:a16="http://schemas.microsoft.com/office/drawing/2014/main" id="{11051FEE-1CA4-7DB5-4893-6FE840CE44BB}"/>
                  </a:ext>
                </a:extLst>
              </p:cNvPr>
              <p:cNvGrpSpPr/>
              <p:nvPr/>
            </p:nvGrpSpPr>
            <p:grpSpPr>
              <a:xfrm>
                <a:off x="2145974" y="1934725"/>
                <a:ext cx="3040866" cy="3149966"/>
                <a:chOff x="2145974" y="1934725"/>
                <a:chExt cx="3040866" cy="3149966"/>
              </a:xfrm>
            </p:grpSpPr>
            <p:grpSp>
              <p:nvGrpSpPr>
                <p:cNvPr id="99" name="Group 98">
                  <a:extLst>
                    <a:ext uri="{FF2B5EF4-FFF2-40B4-BE49-F238E27FC236}">
                      <a16:creationId xmlns:a16="http://schemas.microsoft.com/office/drawing/2014/main" id="{2B5795D0-B9B2-14F9-6EE8-51C57106AF59}"/>
                    </a:ext>
                  </a:extLst>
                </p:cNvPr>
                <p:cNvGrpSpPr/>
                <p:nvPr/>
              </p:nvGrpSpPr>
              <p:grpSpPr>
                <a:xfrm>
                  <a:off x="2272463" y="3200482"/>
                  <a:ext cx="2914377" cy="1884209"/>
                  <a:chOff x="8099402" y="3176360"/>
                  <a:chExt cx="2914377" cy="1884209"/>
                </a:xfrm>
              </p:grpSpPr>
              <p:sp>
                <p:nvSpPr>
                  <p:cNvPr id="190" name="Rectangle 189">
                    <a:extLst>
                      <a:ext uri="{FF2B5EF4-FFF2-40B4-BE49-F238E27FC236}">
                        <a16:creationId xmlns:a16="http://schemas.microsoft.com/office/drawing/2014/main" id="{558AF0C0-7BB2-96D3-26EE-2AB4178C4481}"/>
                      </a:ext>
                    </a:extLst>
                  </p:cNvPr>
                  <p:cNvSpPr/>
                  <p:nvPr/>
                </p:nvSpPr>
                <p:spPr bwMode="auto">
                  <a:xfrm>
                    <a:off x="8099402" y="3176360"/>
                    <a:ext cx="2813462" cy="1884209"/>
                  </a:xfrm>
                  <a:prstGeom prst="rect">
                    <a:avLst/>
                  </a:prstGeom>
                  <a:solidFill>
                    <a:schemeClr val="bg1"/>
                  </a:solidFill>
                  <a:ln w="15875" cap="rnd" cmpd="sng" algn="ctr">
                    <a:solidFill>
                      <a:schemeClr val="tx1">
                        <a:lumMod val="95000"/>
                      </a:schemeClr>
                    </a:solidFill>
                    <a:prstDash val="solid"/>
                    <a:headEnd type="none" w="med" len="med"/>
                    <a:tailEnd type="none" w="med" len="med"/>
                  </a:ln>
                  <a:effectLst>
                    <a:outerShdw blurRad="63500" algn="ctr" rotWithShape="0">
                      <a:prstClr val="black">
                        <a:alpha val="20000"/>
                      </a:prstClr>
                    </a:outerShdw>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92" name="Rectangle 191">
                    <a:extLst>
                      <a:ext uri="{FF2B5EF4-FFF2-40B4-BE49-F238E27FC236}">
                        <a16:creationId xmlns:a16="http://schemas.microsoft.com/office/drawing/2014/main" id="{664A7F95-47FF-D873-EFFB-BC0F77EACE71}"/>
                      </a:ext>
                    </a:extLst>
                  </p:cNvPr>
                  <p:cNvSpPr/>
                  <p:nvPr/>
                </p:nvSpPr>
                <p:spPr bwMode="auto">
                  <a:xfrm>
                    <a:off x="8292392" y="3360504"/>
                    <a:ext cx="2721387" cy="1520097"/>
                  </a:xfrm>
                  <a:prstGeom prst="rect">
                    <a:avLst/>
                  </a:prstGeom>
                  <a:no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gradFill>
                          <a:gsLst>
                            <a:gs pos="0">
                              <a:srgbClr val="000000"/>
                            </a:gs>
                            <a:gs pos="100000">
                              <a:srgbClr val="000000">
                                <a:lumMod val="85000"/>
                              </a:srgbClr>
                            </a:gs>
                          </a:gsLst>
                          <a:lin ang="2700000" scaled="1"/>
                        </a:gradFill>
                        <a:effectLst/>
                        <a:uLnTx/>
                        <a:uFill>
                          <a:solidFill>
                            <a:srgbClr val="50E6FF"/>
                          </a:solidFill>
                        </a:uFill>
                        <a:latin typeface="Cascadia Code" panose="020B0609020000020004" pitchFamily="49" charset="0"/>
                        <a:ea typeface="Segoe UI" pitchFamily="34" charset="0"/>
                        <a:cs typeface="Cascadia Code" panose="020B0609020000020004" pitchFamily="49" charset="0"/>
                      </a:rPr>
                      <a:t>Arbitrary Stateful Processing</a:t>
                    </a:r>
                  </a:p>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Basically, Spark guarantees a callback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f(x)</a:t>
                    </a:r>
                    <a:r>
                      <a:rPr kumimoji="0" lang="en-US" sz="800" b="0"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will execute with a microbatch of all events related to a key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Spark also guarantees a event-time based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timeout</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callback, if events don’t arrive for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1" i="0" u="none" strike="noStrike" kern="0" cap="none" spc="0" normalizeH="0" baseline="0" noProof="0">
                        <a:ln>
                          <a:noFill/>
                        </a:ln>
                        <a:solidFill>
                          <a:srgbClr val="DA2430"/>
                        </a:solidFill>
                        <a:effectLst/>
                        <a:uLnTx/>
                        <a:uFillTx/>
                        <a:latin typeface="Cascadia Code" panose="020B0609020000020004" pitchFamily="49" charset="0"/>
                        <a:ea typeface="Segoe UI" pitchFamily="34" charset="0"/>
                        <a:cs typeface="Cascadia Code" panose="020B0609020000020004" pitchFamily="49" charset="0"/>
                      </a:rPr>
                      <a:t>(heartbeat offline)</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Key differentiator:</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massively scalable because of Spark’s horizontal scalability (</a:t>
                    </a:r>
                    <a:r>
                      <a:rPr kumimoji="0" lang="en-US" sz="8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million+ events/min</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with guaranteed latency.</a:t>
                    </a: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1"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Use cases:</a:t>
                    </a:r>
                    <a:r>
                      <a:rPr kumimoji="0" lang="en-US" sz="800" b="0"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ClickStream Analytics, IoT Heartbeat</a:t>
                    </a:r>
                    <a:endParaRPr kumimoji="0" lang="en-US" sz="1100" b="1" i="1" u="none" strike="noStrike" kern="0" cap="none" spc="0" normalizeH="0" baseline="0" noProof="0">
                      <a:ln>
                        <a:noFill/>
                      </a:ln>
                      <a:solidFill>
                        <a:srgbClr val="000000"/>
                      </a:solidFill>
                      <a:effectLst/>
                      <a:uLnTx/>
                      <a:uFillTx/>
                      <a:latin typeface="Segoe UI"/>
                      <a:ea typeface="Segoe UI" pitchFamily="34" charset="0"/>
                      <a:cs typeface="Segoe UI Semibold" panose="020B0702040204020203" pitchFamily="34" charset="0"/>
                    </a:endParaRPr>
                  </a:p>
                </p:txBody>
              </p:sp>
              <p:pic>
                <p:nvPicPr>
                  <p:cNvPr id="193" name="Graphic 192">
                    <a:extLst>
                      <a:ext uri="{FF2B5EF4-FFF2-40B4-BE49-F238E27FC236}">
                        <a16:creationId xmlns:a16="http://schemas.microsoft.com/office/drawing/2014/main" id="{8250BBF7-78AB-8C34-14E9-3861C8E08D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60616" y="3314052"/>
                    <a:ext cx="228600" cy="228600"/>
                  </a:xfrm>
                  <a:prstGeom prst="rect">
                    <a:avLst/>
                  </a:prstGeom>
                </p:spPr>
              </p:pic>
            </p:grpSp>
            <p:sp>
              <p:nvSpPr>
                <p:cNvPr id="112" name="Rectangle: Rounded Corners 111">
                  <a:extLst>
                    <a:ext uri="{FF2B5EF4-FFF2-40B4-BE49-F238E27FC236}">
                      <a16:creationId xmlns:a16="http://schemas.microsoft.com/office/drawing/2014/main" id="{D074FB56-CD44-7EC3-96BA-0ED5FA04DE94}"/>
                    </a:ext>
                  </a:extLst>
                </p:cNvPr>
                <p:cNvSpPr/>
                <p:nvPr/>
              </p:nvSpPr>
              <p:spPr bwMode="auto">
                <a:xfrm>
                  <a:off x="2336485" y="2531804"/>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1" name="Rectangle: Rounded Corners 110">
                  <a:extLst>
                    <a:ext uri="{FF2B5EF4-FFF2-40B4-BE49-F238E27FC236}">
                      <a16:creationId xmlns:a16="http://schemas.microsoft.com/office/drawing/2014/main" id="{C52CE206-CFB2-B999-E4DD-14AAABFD99EC}"/>
                    </a:ext>
                  </a:extLst>
                </p:cNvPr>
                <p:cNvSpPr/>
                <p:nvPr/>
              </p:nvSpPr>
              <p:spPr bwMode="auto">
                <a:xfrm>
                  <a:off x="2348515" y="1947703"/>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0" name="Rectangle 159">
                  <a:extLst>
                    <a:ext uri="{FF2B5EF4-FFF2-40B4-BE49-F238E27FC236}">
                      <a16:creationId xmlns:a16="http://schemas.microsoft.com/office/drawing/2014/main" id="{4C9F523B-EB40-B287-FDE7-D081A538AED4}"/>
                    </a:ext>
                  </a:extLst>
                </p:cNvPr>
                <p:cNvSpPr/>
                <p:nvPr/>
              </p:nvSpPr>
              <p:spPr bwMode="auto">
                <a:xfrm>
                  <a:off x="2683976" y="1934725"/>
                  <a:ext cx="1479478"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Apache Spark</a:t>
                  </a:r>
                  <a:br>
                    <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Structured Streaming</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168" name="Rectangle 167">
                  <a:extLst>
                    <a:ext uri="{FF2B5EF4-FFF2-40B4-BE49-F238E27FC236}">
                      <a16:creationId xmlns:a16="http://schemas.microsoft.com/office/drawing/2014/main" id="{617057BE-F67D-FDDB-DE51-5832848E04F2}"/>
                    </a:ext>
                  </a:extLst>
                </p:cNvPr>
                <p:cNvSpPr/>
                <p:nvPr/>
              </p:nvSpPr>
              <p:spPr bwMode="auto">
                <a:xfrm>
                  <a:off x="2494056" y="2436690"/>
                  <a:ext cx="2040675"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RocksDB </a:t>
                  </a: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(Built-in State Store)</a:t>
                  </a:r>
                </a:p>
              </p:txBody>
            </p:sp>
            <p:pic>
              <p:nvPicPr>
                <p:cNvPr id="170" name="Picture 169" descr="A yellow cheetah on a blue background&#10;&#10;Description automatically generated">
                  <a:extLst>
                    <a:ext uri="{FF2B5EF4-FFF2-40B4-BE49-F238E27FC236}">
                      <a16:creationId xmlns:a16="http://schemas.microsoft.com/office/drawing/2014/main" id="{28BE5DAF-1A5B-73CB-43A2-CF94CD052C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8685" y="2617458"/>
                  <a:ext cx="176874" cy="177568"/>
                </a:xfrm>
                <a:prstGeom prst="rect">
                  <a:avLst/>
                </a:prstGeom>
              </p:spPr>
            </p:pic>
            <p:pic>
              <p:nvPicPr>
                <p:cNvPr id="77" name="Picture 6" descr="Microsoft Fabric | Logopedia | Fandom">
                  <a:extLst>
                    <a:ext uri="{FF2B5EF4-FFF2-40B4-BE49-F238E27FC236}">
                      <a16:creationId xmlns:a16="http://schemas.microsoft.com/office/drawing/2014/main" id="{C727FE26-AA67-FC85-E50D-692ABD5EA6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1900" y="3112632"/>
                  <a:ext cx="184481" cy="18448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Apache, spark, logo Icon in Vector Logo">
                  <a:extLst>
                    <a:ext uri="{FF2B5EF4-FFF2-40B4-BE49-F238E27FC236}">
                      <a16:creationId xmlns:a16="http://schemas.microsoft.com/office/drawing/2014/main" id="{C218D4B7-354C-4908-7600-09F3A540F7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2771" y="2015656"/>
                  <a:ext cx="403701" cy="403701"/>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roup 33">
                  <a:extLst>
                    <a:ext uri="{FF2B5EF4-FFF2-40B4-BE49-F238E27FC236}">
                      <a16:creationId xmlns:a16="http://schemas.microsoft.com/office/drawing/2014/main" id="{189A5197-8F80-F557-CB43-93A22028299B}"/>
                    </a:ext>
                  </a:extLst>
                </p:cNvPr>
                <p:cNvGrpSpPr/>
                <p:nvPr/>
              </p:nvGrpSpPr>
              <p:grpSpPr>
                <a:xfrm>
                  <a:off x="2658254" y="2701470"/>
                  <a:ext cx="1226973" cy="404075"/>
                  <a:chOff x="5400851" y="3713092"/>
                  <a:chExt cx="1226973" cy="404075"/>
                </a:xfrm>
              </p:grpSpPr>
              <p:sp>
                <p:nvSpPr>
                  <p:cNvPr id="145" name="Rectangle 144">
                    <a:extLst>
                      <a:ext uri="{FF2B5EF4-FFF2-40B4-BE49-F238E27FC236}">
                        <a16:creationId xmlns:a16="http://schemas.microsoft.com/office/drawing/2014/main" id="{15A3A713-97B0-AC52-C46E-5FCDFED88DC0}"/>
                      </a:ext>
                    </a:extLst>
                  </p:cNvPr>
                  <p:cNvSpPr/>
                  <p:nvPr/>
                </p:nvSpPr>
                <p:spPr bwMode="auto">
                  <a:xfrm>
                    <a:off x="5400851" y="3713092"/>
                    <a:ext cx="1226973" cy="40407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OneLake</a:t>
                    </a:r>
                    <a:endParaRPr kumimoji="0" lang="en-US" sz="800" b="1"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33" name="Picture 32" descr="How Azure OneLake will revolutionize the way we manage and ...">
                    <a:extLst>
                      <a:ext uri="{FF2B5EF4-FFF2-40B4-BE49-F238E27FC236}">
                        <a16:creationId xmlns:a16="http://schemas.microsoft.com/office/drawing/2014/main" id="{6CE15305-BA17-B3B9-8B3C-45B47DA6B899}"/>
                      </a:ext>
                    </a:extLst>
                  </p:cNvPr>
                  <p:cNvPicPr>
                    <a:picLocks noChangeAspect="1"/>
                  </p:cNvPicPr>
                  <p:nvPr/>
                </p:nvPicPr>
                <p:blipFill>
                  <a:blip r:embed="rId7"/>
                  <a:srcRect b="16396"/>
                  <a:stretch>
                    <a:fillRect/>
                  </a:stretch>
                </p:blipFill>
                <p:spPr>
                  <a:xfrm>
                    <a:off x="5736147" y="3871164"/>
                    <a:ext cx="95370" cy="99667"/>
                  </a:xfrm>
                  <a:prstGeom prst="rect">
                    <a:avLst/>
                  </a:prstGeom>
                </p:spPr>
              </p:pic>
            </p:grpSp>
            <p:pic>
              <p:nvPicPr>
                <p:cNvPr id="113" name="Picture 112" descr="Lakehouse">
                  <a:extLst>
                    <a:ext uri="{FF2B5EF4-FFF2-40B4-BE49-F238E27FC236}">
                      <a16:creationId xmlns:a16="http://schemas.microsoft.com/office/drawing/2014/main" id="{0808F1CE-4B88-B41D-C48B-66CD8286076C}"/>
                    </a:ext>
                  </a:extLst>
                </p:cNvPr>
                <p:cNvPicPr>
                  <a:picLocks noChangeAspect="1"/>
                </p:cNvPicPr>
                <p:nvPr/>
              </p:nvPicPr>
              <p:blipFill>
                <a:blip r:embed="rId8"/>
                <a:stretch>
                  <a:fillRect/>
                </a:stretch>
              </p:blipFill>
              <p:spPr>
                <a:xfrm>
                  <a:off x="2145974" y="2935384"/>
                  <a:ext cx="329389" cy="329389"/>
                </a:xfrm>
                <a:prstGeom prst="rect">
                  <a:avLst/>
                </a:prstGeom>
              </p:spPr>
            </p:pic>
          </p:grpSp>
        </p:grpSp>
        <p:cxnSp>
          <p:nvCxnSpPr>
            <p:cNvPr id="2053" name="Straight Connector 2052">
              <a:extLst>
                <a:ext uri="{FF2B5EF4-FFF2-40B4-BE49-F238E27FC236}">
                  <a16:creationId xmlns:a16="http://schemas.microsoft.com/office/drawing/2014/main" id="{06E2995B-7717-AD75-839A-344ECF2872ED}"/>
                </a:ext>
              </a:extLst>
            </p:cNvPr>
            <p:cNvCxnSpPr>
              <a:cxnSpLocks/>
            </p:cNvCxnSpPr>
            <p:nvPr/>
          </p:nvCxnSpPr>
          <p:spPr>
            <a:xfrm>
              <a:off x="1786722" y="660254"/>
              <a:ext cx="37025"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26D4FF9C-E839-A2C8-54B2-7E40AE92B1BC}"/>
                </a:ext>
              </a:extLst>
            </p:cNvPr>
            <p:cNvCxnSpPr>
              <a:cxnSpLocks/>
            </p:cNvCxnSpPr>
            <p:nvPr/>
          </p:nvCxnSpPr>
          <p:spPr>
            <a:xfrm>
              <a:off x="4942252" y="681209"/>
              <a:ext cx="0" cy="4635646"/>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07" name="Rectangle 606">
              <a:extLst>
                <a:ext uri="{FF2B5EF4-FFF2-40B4-BE49-F238E27FC236}">
                  <a16:creationId xmlns:a16="http://schemas.microsoft.com/office/drawing/2014/main" id="{5F047986-990E-5B3E-5A39-813151415723}"/>
                </a:ext>
              </a:extLst>
            </p:cNvPr>
            <p:cNvSpPr/>
            <p:nvPr/>
          </p:nvSpPr>
          <p:spPr bwMode="auto">
            <a:xfrm>
              <a:off x="354504" y="499391"/>
              <a:ext cx="1432220"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8" name="Rectangle 607">
              <a:extLst>
                <a:ext uri="{FF2B5EF4-FFF2-40B4-BE49-F238E27FC236}">
                  <a16:creationId xmlns:a16="http://schemas.microsoft.com/office/drawing/2014/main" id="{D9EEE289-A5E6-BD28-E8AE-E6D6CC9E9B3F}"/>
                </a:ext>
              </a:extLst>
            </p:cNvPr>
            <p:cNvSpPr/>
            <p:nvPr/>
          </p:nvSpPr>
          <p:spPr bwMode="auto">
            <a:xfrm>
              <a:off x="688209" y="509206"/>
              <a:ext cx="803361"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grpSp>
          <p:nvGrpSpPr>
            <p:cNvPr id="609" name="migrate 2" descr="migrate">
              <a:extLst>
                <a:ext uri="{FF2B5EF4-FFF2-40B4-BE49-F238E27FC236}">
                  <a16:creationId xmlns:a16="http://schemas.microsoft.com/office/drawing/2014/main" id="{1925F158-6550-8C9F-BABC-3AEACEBEFACD}"/>
                </a:ext>
              </a:extLst>
            </p:cNvPr>
            <p:cNvGrpSpPr/>
            <p:nvPr/>
          </p:nvGrpSpPr>
          <p:grpSpPr>
            <a:xfrm>
              <a:off x="748777" y="536049"/>
              <a:ext cx="105208" cy="104839"/>
              <a:chOff x="697286" y="2098371"/>
              <a:chExt cx="443544" cy="441988"/>
            </a:xfrm>
          </p:grpSpPr>
          <p:sp>
            <p:nvSpPr>
              <p:cNvPr id="610" name="Freeform 765">
                <a:extLst>
                  <a:ext uri="{FF2B5EF4-FFF2-40B4-BE49-F238E27FC236}">
                    <a16:creationId xmlns:a16="http://schemas.microsoft.com/office/drawing/2014/main" id="{55CC6D7C-0EA5-156B-947C-C74E167DEE1E}"/>
                  </a:ext>
                </a:extLst>
              </p:cNvPr>
              <p:cNvSpPr>
                <a:spLocks/>
              </p:cNvSpPr>
              <p:nvPr/>
            </p:nvSpPr>
            <p:spPr bwMode="auto">
              <a:xfrm>
                <a:off x="1024108" y="2099928"/>
                <a:ext cx="116722" cy="116722"/>
              </a:xfrm>
              <a:custGeom>
                <a:avLst/>
                <a:gdLst>
                  <a:gd name="T0" fmla="*/ 50 w 101"/>
                  <a:gd name="T1" fmla="*/ 101 h 101"/>
                  <a:gd name="T2" fmla="*/ 0 w 101"/>
                  <a:gd name="T3" fmla="*/ 51 h 101"/>
                  <a:gd name="T4" fmla="*/ 50 w 101"/>
                  <a:gd name="T5" fmla="*/ 0 h 101"/>
                  <a:gd name="T6" fmla="*/ 101 w 101"/>
                  <a:gd name="T7" fmla="*/ 51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9"/>
                      <a:pt x="0" y="51"/>
                    </a:cubicBezTo>
                    <a:cubicBezTo>
                      <a:pt x="0" y="23"/>
                      <a:pt x="22" y="0"/>
                      <a:pt x="50" y="0"/>
                    </a:cubicBezTo>
                    <a:cubicBezTo>
                      <a:pt x="78" y="0"/>
                      <a:pt x="101" y="23"/>
                      <a:pt x="101" y="51"/>
                    </a:cubicBezTo>
                    <a:cubicBezTo>
                      <a:pt x="101" y="79"/>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1" name="Freeform 766">
                <a:extLst>
                  <a:ext uri="{FF2B5EF4-FFF2-40B4-BE49-F238E27FC236}">
                    <a16:creationId xmlns:a16="http://schemas.microsoft.com/office/drawing/2014/main" id="{CC97E999-EC27-E833-D681-29C049D1B930}"/>
                  </a:ext>
                </a:extLst>
              </p:cNvPr>
              <p:cNvSpPr>
                <a:spLocks/>
              </p:cNvSpPr>
              <p:nvPr/>
            </p:nvSpPr>
            <p:spPr bwMode="auto">
              <a:xfrm>
                <a:off x="1024108" y="2261782"/>
                <a:ext cx="116722" cy="116722"/>
              </a:xfrm>
              <a:custGeom>
                <a:avLst/>
                <a:gdLst>
                  <a:gd name="T0" fmla="*/ 50 w 101"/>
                  <a:gd name="T1" fmla="*/ 101 h 101"/>
                  <a:gd name="T2" fmla="*/ 0 w 101"/>
                  <a:gd name="T3" fmla="*/ 50 h 101"/>
                  <a:gd name="T4" fmla="*/ 50 w 101"/>
                  <a:gd name="T5" fmla="*/ 0 h 101"/>
                  <a:gd name="T6" fmla="*/ 101 w 101"/>
                  <a:gd name="T7" fmla="*/ 50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8"/>
                      <a:pt x="0" y="50"/>
                    </a:cubicBezTo>
                    <a:cubicBezTo>
                      <a:pt x="0" y="22"/>
                      <a:pt x="22" y="0"/>
                      <a:pt x="50" y="0"/>
                    </a:cubicBezTo>
                    <a:cubicBezTo>
                      <a:pt x="78" y="0"/>
                      <a:pt x="101" y="22"/>
                      <a:pt x="101" y="50"/>
                    </a:cubicBezTo>
                    <a:cubicBezTo>
                      <a:pt x="101" y="78"/>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2" name="Rectangle 767">
                <a:extLst>
                  <a:ext uri="{FF2B5EF4-FFF2-40B4-BE49-F238E27FC236}">
                    <a16:creationId xmlns:a16="http://schemas.microsoft.com/office/drawing/2014/main" id="{3A03D227-503C-4498-7F98-F6D705DE2025}"/>
                  </a:ext>
                </a:extLst>
              </p:cNvPr>
              <p:cNvSpPr>
                <a:spLocks noChangeArrowheads="1"/>
              </p:cNvSpPr>
              <p:nvPr/>
            </p:nvSpPr>
            <p:spPr bwMode="auto">
              <a:xfrm>
                <a:off x="697286" y="2261782"/>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3" name="Rectangle 768">
                <a:extLst>
                  <a:ext uri="{FF2B5EF4-FFF2-40B4-BE49-F238E27FC236}">
                    <a16:creationId xmlns:a16="http://schemas.microsoft.com/office/drawing/2014/main" id="{B1DAC951-B483-150F-0E37-D6D2AEE5C171}"/>
                  </a:ext>
                </a:extLst>
              </p:cNvPr>
              <p:cNvSpPr>
                <a:spLocks noChangeArrowheads="1"/>
              </p:cNvSpPr>
              <p:nvPr/>
            </p:nvSpPr>
            <p:spPr bwMode="auto">
              <a:xfrm>
                <a:off x="697286" y="2098371"/>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4" name="Rectangle 769">
                <a:extLst>
                  <a:ext uri="{FF2B5EF4-FFF2-40B4-BE49-F238E27FC236}">
                    <a16:creationId xmlns:a16="http://schemas.microsoft.com/office/drawing/2014/main" id="{9B048035-576F-02A6-83C2-1EE0EF2CB01E}"/>
                  </a:ext>
                </a:extLst>
              </p:cNvPr>
              <p:cNvSpPr>
                <a:spLocks noChangeArrowheads="1"/>
              </p:cNvSpPr>
              <p:nvPr/>
            </p:nvSpPr>
            <p:spPr bwMode="auto">
              <a:xfrm>
                <a:off x="697286" y="2423637"/>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5" name="Freeform 770">
                <a:extLst>
                  <a:ext uri="{FF2B5EF4-FFF2-40B4-BE49-F238E27FC236}">
                    <a16:creationId xmlns:a16="http://schemas.microsoft.com/office/drawing/2014/main" id="{9288B6AE-9BF0-1628-65A0-B61469B83B97}"/>
                  </a:ext>
                </a:extLst>
              </p:cNvPr>
              <p:cNvSpPr>
                <a:spLocks/>
              </p:cNvSpPr>
              <p:nvPr/>
            </p:nvSpPr>
            <p:spPr bwMode="auto">
              <a:xfrm>
                <a:off x="1024108" y="2423637"/>
                <a:ext cx="116722" cy="116722"/>
              </a:xfrm>
              <a:custGeom>
                <a:avLst/>
                <a:gdLst>
                  <a:gd name="T0" fmla="*/ 50 w 101"/>
                  <a:gd name="T1" fmla="*/ 102 h 102"/>
                  <a:gd name="T2" fmla="*/ 0 w 101"/>
                  <a:gd name="T3" fmla="*/ 51 h 102"/>
                  <a:gd name="T4" fmla="*/ 50 w 101"/>
                  <a:gd name="T5" fmla="*/ 0 h 102"/>
                  <a:gd name="T6" fmla="*/ 101 w 101"/>
                  <a:gd name="T7" fmla="*/ 51 h 102"/>
                  <a:gd name="T8" fmla="*/ 50 w 101"/>
                  <a:gd name="T9" fmla="*/ 102 h 102"/>
                </a:gdLst>
                <a:ahLst/>
                <a:cxnLst>
                  <a:cxn ang="0">
                    <a:pos x="T0" y="T1"/>
                  </a:cxn>
                  <a:cxn ang="0">
                    <a:pos x="T2" y="T3"/>
                  </a:cxn>
                  <a:cxn ang="0">
                    <a:pos x="T4" y="T5"/>
                  </a:cxn>
                  <a:cxn ang="0">
                    <a:pos x="T6" y="T7"/>
                  </a:cxn>
                  <a:cxn ang="0">
                    <a:pos x="T8" y="T9"/>
                  </a:cxn>
                </a:cxnLst>
                <a:rect l="0" t="0" r="r" b="b"/>
                <a:pathLst>
                  <a:path w="101" h="102">
                    <a:moveTo>
                      <a:pt x="50" y="102"/>
                    </a:moveTo>
                    <a:cubicBezTo>
                      <a:pt x="22" y="102"/>
                      <a:pt x="0" y="79"/>
                      <a:pt x="0" y="51"/>
                    </a:cubicBezTo>
                    <a:cubicBezTo>
                      <a:pt x="0" y="23"/>
                      <a:pt x="22" y="0"/>
                      <a:pt x="50" y="0"/>
                    </a:cubicBezTo>
                    <a:cubicBezTo>
                      <a:pt x="78" y="0"/>
                      <a:pt x="101" y="23"/>
                      <a:pt x="101" y="51"/>
                    </a:cubicBezTo>
                    <a:cubicBezTo>
                      <a:pt x="101" y="79"/>
                      <a:pt x="79" y="102"/>
                      <a:pt x="50" y="102"/>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6" name="Freeform 771">
                <a:extLst>
                  <a:ext uri="{FF2B5EF4-FFF2-40B4-BE49-F238E27FC236}">
                    <a16:creationId xmlns:a16="http://schemas.microsoft.com/office/drawing/2014/main" id="{1D257BD5-7FE0-4FEE-2919-2E84EFF187B8}"/>
                  </a:ext>
                </a:extLst>
              </p:cNvPr>
              <p:cNvSpPr>
                <a:spLocks/>
              </p:cNvSpPr>
              <p:nvPr/>
            </p:nvSpPr>
            <p:spPr bwMode="auto">
              <a:xfrm>
                <a:off x="873147" y="2436087"/>
                <a:ext cx="116722" cy="94934"/>
              </a:xfrm>
              <a:custGeom>
                <a:avLst/>
                <a:gdLst>
                  <a:gd name="T0" fmla="*/ 75 w 75"/>
                  <a:gd name="T1" fmla="*/ 31 h 61"/>
                  <a:gd name="T2" fmla="*/ 44 w 75"/>
                  <a:gd name="T3" fmla="*/ 0 h 61"/>
                  <a:gd name="T4" fmla="*/ 44 w 75"/>
                  <a:gd name="T5" fmla="*/ 15 h 61"/>
                  <a:gd name="T6" fmla="*/ 0 w 75"/>
                  <a:gd name="T7" fmla="*/ 15 h 61"/>
                  <a:gd name="T8" fmla="*/ 0 w 75"/>
                  <a:gd name="T9" fmla="*/ 46 h 61"/>
                  <a:gd name="T10" fmla="*/ 44 w 75"/>
                  <a:gd name="T11" fmla="*/ 46 h 61"/>
                  <a:gd name="T12" fmla="*/ 44 w 75"/>
                  <a:gd name="T13" fmla="*/ 61 h 61"/>
                  <a:gd name="T14" fmla="*/ 75 w 75"/>
                  <a:gd name="T15" fmla="*/ 3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1">
                    <a:moveTo>
                      <a:pt x="75" y="31"/>
                    </a:moveTo>
                    <a:lnTo>
                      <a:pt x="44" y="0"/>
                    </a:lnTo>
                    <a:lnTo>
                      <a:pt x="44" y="15"/>
                    </a:lnTo>
                    <a:lnTo>
                      <a:pt x="0" y="15"/>
                    </a:lnTo>
                    <a:lnTo>
                      <a:pt x="0" y="46"/>
                    </a:lnTo>
                    <a:lnTo>
                      <a:pt x="44" y="46"/>
                    </a:lnTo>
                    <a:lnTo>
                      <a:pt x="44" y="61"/>
                    </a:lnTo>
                    <a:lnTo>
                      <a:pt x="75" y="3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7" name="Freeform 772">
                <a:extLst>
                  <a:ext uri="{FF2B5EF4-FFF2-40B4-BE49-F238E27FC236}">
                    <a16:creationId xmlns:a16="http://schemas.microsoft.com/office/drawing/2014/main" id="{FF972B42-9B49-3A48-3129-77C7DD73EBF2}"/>
                  </a:ext>
                </a:extLst>
              </p:cNvPr>
              <p:cNvSpPr>
                <a:spLocks/>
              </p:cNvSpPr>
              <p:nvPr/>
            </p:nvSpPr>
            <p:spPr bwMode="auto">
              <a:xfrm>
                <a:off x="873147" y="2274233"/>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8" name="Freeform 773">
                <a:extLst>
                  <a:ext uri="{FF2B5EF4-FFF2-40B4-BE49-F238E27FC236}">
                    <a16:creationId xmlns:a16="http://schemas.microsoft.com/office/drawing/2014/main" id="{A3E0915D-657E-D3B7-2E6D-986192160CE1}"/>
                  </a:ext>
                </a:extLst>
              </p:cNvPr>
              <p:cNvSpPr>
                <a:spLocks/>
              </p:cNvSpPr>
              <p:nvPr/>
            </p:nvSpPr>
            <p:spPr bwMode="auto">
              <a:xfrm>
                <a:off x="873147" y="2110821"/>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19" name="Rectangle 618">
              <a:extLst>
                <a:ext uri="{FF2B5EF4-FFF2-40B4-BE49-F238E27FC236}">
                  <a16:creationId xmlns:a16="http://schemas.microsoft.com/office/drawing/2014/main" id="{D2723F79-A168-241F-1E06-0C7AE424E53F}"/>
                </a:ext>
              </a:extLst>
            </p:cNvPr>
            <p:cNvSpPr/>
            <p:nvPr/>
          </p:nvSpPr>
          <p:spPr bwMode="auto">
            <a:xfrm>
              <a:off x="1780931" y="499391"/>
              <a:ext cx="1665269"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20" name="Rectangle 619">
              <a:extLst>
                <a:ext uri="{FF2B5EF4-FFF2-40B4-BE49-F238E27FC236}">
                  <a16:creationId xmlns:a16="http://schemas.microsoft.com/office/drawing/2014/main" id="{A0A93D1A-24C3-6B55-32E7-B6937287986E}"/>
                </a:ext>
              </a:extLst>
            </p:cNvPr>
            <p:cNvSpPr/>
            <p:nvPr/>
          </p:nvSpPr>
          <p:spPr bwMode="auto">
            <a:xfrm>
              <a:off x="1559400" y="507888"/>
              <a:ext cx="226873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Real-time Transformation (&lt;1s)</a:t>
              </a:r>
            </a:p>
          </p:txBody>
        </p:sp>
        <p:grpSp>
          <p:nvGrpSpPr>
            <p:cNvPr id="640" name="simplify" descr="simplify">
              <a:extLst>
                <a:ext uri="{FF2B5EF4-FFF2-40B4-BE49-F238E27FC236}">
                  <a16:creationId xmlns:a16="http://schemas.microsoft.com/office/drawing/2014/main" id="{6F94DAE5-8A5B-C5E8-127D-224326F9DEC9}"/>
                </a:ext>
              </a:extLst>
            </p:cNvPr>
            <p:cNvGrpSpPr/>
            <p:nvPr/>
          </p:nvGrpSpPr>
          <p:grpSpPr>
            <a:xfrm>
              <a:off x="1880721" y="536371"/>
              <a:ext cx="113523" cy="111133"/>
              <a:chOff x="2668480" y="1249680"/>
              <a:chExt cx="412066" cy="403390"/>
            </a:xfrm>
          </p:grpSpPr>
          <p:sp>
            <p:nvSpPr>
              <p:cNvPr id="641" name="Freeform 987">
                <a:extLst>
                  <a:ext uri="{FF2B5EF4-FFF2-40B4-BE49-F238E27FC236}">
                    <a16:creationId xmlns:a16="http://schemas.microsoft.com/office/drawing/2014/main" id="{84848E37-6FEA-CACF-F748-3EBE0F9799EF}"/>
                  </a:ext>
                </a:extLst>
              </p:cNvPr>
              <p:cNvSpPr>
                <a:spLocks/>
              </p:cNvSpPr>
              <p:nvPr/>
            </p:nvSpPr>
            <p:spPr bwMode="auto">
              <a:xfrm>
                <a:off x="2749447" y="1282935"/>
                <a:ext cx="331099" cy="344110"/>
              </a:xfrm>
              <a:custGeom>
                <a:avLst/>
                <a:gdLst>
                  <a:gd name="T0" fmla="*/ 229 w 229"/>
                  <a:gd name="T1" fmla="*/ 112 h 238"/>
                  <a:gd name="T2" fmla="*/ 200 w 229"/>
                  <a:gd name="T3" fmla="*/ 81 h 238"/>
                  <a:gd name="T4" fmla="*/ 200 w 229"/>
                  <a:gd name="T5" fmla="*/ 104 h 238"/>
                  <a:gd name="T6" fmla="*/ 125 w 229"/>
                  <a:gd name="T7" fmla="*/ 104 h 238"/>
                  <a:gd name="T8" fmla="*/ 125 w 229"/>
                  <a:gd name="T9" fmla="*/ 0 h 238"/>
                  <a:gd name="T10" fmla="*/ 0 w 229"/>
                  <a:gd name="T11" fmla="*/ 0 h 238"/>
                  <a:gd name="T12" fmla="*/ 0 w 229"/>
                  <a:gd name="T13" fmla="*/ 15 h 238"/>
                  <a:gd name="T14" fmla="*/ 110 w 229"/>
                  <a:gd name="T15" fmla="*/ 15 h 238"/>
                  <a:gd name="T16" fmla="*/ 110 w 229"/>
                  <a:gd name="T17" fmla="*/ 104 h 238"/>
                  <a:gd name="T18" fmla="*/ 5 w 229"/>
                  <a:gd name="T19" fmla="*/ 104 h 238"/>
                  <a:gd name="T20" fmla="*/ 5 w 229"/>
                  <a:gd name="T21" fmla="*/ 119 h 238"/>
                  <a:gd name="T22" fmla="*/ 110 w 229"/>
                  <a:gd name="T23" fmla="*/ 119 h 238"/>
                  <a:gd name="T24" fmla="*/ 110 w 229"/>
                  <a:gd name="T25" fmla="*/ 223 h 238"/>
                  <a:gd name="T26" fmla="*/ 0 w 229"/>
                  <a:gd name="T27" fmla="*/ 223 h 238"/>
                  <a:gd name="T28" fmla="*/ 0 w 229"/>
                  <a:gd name="T29" fmla="*/ 238 h 238"/>
                  <a:gd name="T30" fmla="*/ 125 w 229"/>
                  <a:gd name="T31" fmla="*/ 238 h 238"/>
                  <a:gd name="T32" fmla="*/ 125 w 229"/>
                  <a:gd name="T33" fmla="*/ 119 h 238"/>
                  <a:gd name="T34" fmla="*/ 200 w 229"/>
                  <a:gd name="T35" fmla="*/ 119 h 238"/>
                  <a:gd name="T36" fmla="*/ 200 w 229"/>
                  <a:gd name="T37" fmla="*/ 141 h 238"/>
                  <a:gd name="T38" fmla="*/ 229 w 229"/>
                  <a:gd name="T39" fmla="*/ 11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9" h="238">
                    <a:moveTo>
                      <a:pt x="229" y="112"/>
                    </a:moveTo>
                    <a:lnTo>
                      <a:pt x="200" y="81"/>
                    </a:lnTo>
                    <a:lnTo>
                      <a:pt x="200" y="104"/>
                    </a:lnTo>
                    <a:lnTo>
                      <a:pt x="125" y="104"/>
                    </a:lnTo>
                    <a:lnTo>
                      <a:pt x="125" y="0"/>
                    </a:lnTo>
                    <a:lnTo>
                      <a:pt x="0" y="0"/>
                    </a:lnTo>
                    <a:lnTo>
                      <a:pt x="0" y="15"/>
                    </a:lnTo>
                    <a:lnTo>
                      <a:pt x="110" y="15"/>
                    </a:lnTo>
                    <a:lnTo>
                      <a:pt x="110" y="104"/>
                    </a:lnTo>
                    <a:lnTo>
                      <a:pt x="5" y="104"/>
                    </a:lnTo>
                    <a:lnTo>
                      <a:pt x="5" y="119"/>
                    </a:lnTo>
                    <a:lnTo>
                      <a:pt x="110" y="119"/>
                    </a:lnTo>
                    <a:lnTo>
                      <a:pt x="110" y="223"/>
                    </a:lnTo>
                    <a:lnTo>
                      <a:pt x="0" y="223"/>
                    </a:lnTo>
                    <a:lnTo>
                      <a:pt x="0" y="238"/>
                    </a:lnTo>
                    <a:lnTo>
                      <a:pt x="125" y="238"/>
                    </a:lnTo>
                    <a:lnTo>
                      <a:pt x="125" y="119"/>
                    </a:lnTo>
                    <a:lnTo>
                      <a:pt x="200" y="119"/>
                    </a:lnTo>
                    <a:lnTo>
                      <a:pt x="200" y="141"/>
                    </a:lnTo>
                    <a:lnTo>
                      <a:pt x="229" y="11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2" name="Freeform 988">
                <a:extLst>
                  <a:ext uri="{FF2B5EF4-FFF2-40B4-BE49-F238E27FC236}">
                    <a16:creationId xmlns:a16="http://schemas.microsoft.com/office/drawing/2014/main" id="{B1D801C9-2189-8A4B-F065-E832087BD44D}"/>
                  </a:ext>
                </a:extLst>
              </p:cNvPr>
              <p:cNvSpPr>
                <a:spLocks/>
              </p:cNvSpPr>
              <p:nvPr/>
            </p:nvSpPr>
            <p:spPr bwMode="auto">
              <a:xfrm>
                <a:off x="2669925" y="1378360"/>
                <a:ext cx="127234" cy="127234"/>
              </a:xfrm>
              <a:custGeom>
                <a:avLst/>
                <a:gdLst>
                  <a:gd name="T0" fmla="*/ 118 w 118"/>
                  <a:gd name="T1" fmla="*/ 66 h 119"/>
                  <a:gd name="T2" fmla="*/ 118 w 118"/>
                  <a:gd name="T3" fmla="*/ 53 h 119"/>
                  <a:gd name="T4" fmla="*/ 105 w 118"/>
                  <a:gd name="T5" fmla="*/ 53 h 119"/>
                  <a:gd name="T6" fmla="*/ 96 w 118"/>
                  <a:gd name="T7" fmla="*/ 31 h 119"/>
                  <a:gd name="T8" fmla="*/ 105 w 118"/>
                  <a:gd name="T9" fmla="*/ 22 h 119"/>
                  <a:gd name="T10" fmla="*/ 97 w 118"/>
                  <a:gd name="T11" fmla="*/ 13 h 119"/>
                  <a:gd name="T12" fmla="*/ 87 w 118"/>
                  <a:gd name="T13" fmla="*/ 22 h 119"/>
                  <a:gd name="T14" fmla="*/ 65 w 118"/>
                  <a:gd name="T15" fmla="*/ 13 h 119"/>
                  <a:gd name="T16" fmla="*/ 65 w 118"/>
                  <a:gd name="T17" fmla="*/ 0 h 119"/>
                  <a:gd name="T18" fmla="*/ 53 w 118"/>
                  <a:gd name="T19" fmla="*/ 0 h 119"/>
                  <a:gd name="T20" fmla="*/ 53 w 118"/>
                  <a:gd name="T21" fmla="*/ 13 h 119"/>
                  <a:gd name="T22" fmla="*/ 31 w 118"/>
                  <a:gd name="T23" fmla="*/ 22 h 119"/>
                  <a:gd name="T24" fmla="*/ 22 w 118"/>
                  <a:gd name="T25" fmla="*/ 13 h 119"/>
                  <a:gd name="T26" fmla="*/ 13 w 118"/>
                  <a:gd name="T27" fmla="*/ 22 h 119"/>
                  <a:gd name="T28" fmla="*/ 22 w 118"/>
                  <a:gd name="T29" fmla="*/ 31 h 119"/>
                  <a:gd name="T30" fmla="*/ 13 w 118"/>
                  <a:gd name="T31" fmla="*/ 53 h 119"/>
                  <a:gd name="T32" fmla="*/ 0 w 118"/>
                  <a:gd name="T33" fmla="*/ 53 h 119"/>
                  <a:gd name="T34" fmla="*/ 0 w 118"/>
                  <a:gd name="T35" fmla="*/ 66 h 119"/>
                  <a:gd name="T36" fmla="*/ 13 w 118"/>
                  <a:gd name="T37" fmla="*/ 66 h 119"/>
                  <a:gd name="T38" fmla="*/ 22 w 118"/>
                  <a:gd name="T39" fmla="*/ 88 h 119"/>
                  <a:gd name="T40" fmla="*/ 13 w 118"/>
                  <a:gd name="T41" fmla="*/ 97 h 119"/>
                  <a:gd name="T42" fmla="*/ 21 w 118"/>
                  <a:gd name="T43" fmla="*/ 106 h 119"/>
                  <a:gd name="T44" fmla="*/ 31 w 118"/>
                  <a:gd name="T45" fmla="*/ 97 h 119"/>
                  <a:gd name="T46" fmla="*/ 53 w 118"/>
                  <a:gd name="T47" fmla="*/ 106 h 119"/>
                  <a:gd name="T48" fmla="*/ 53 w 118"/>
                  <a:gd name="T49" fmla="*/ 119 h 119"/>
                  <a:gd name="T50" fmla="*/ 65 w 118"/>
                  <a:gd name="T51" fmla="*/ 119 h 119"/>
                  <a:gd name="T52" fmla="*/ 65 w 118"/>
                  <a:gd name="T53" fmla="*/ 106 h 119"/>
                  <a:gd name="T54" fmla="*/ 87 w 118"/>
                  <a:gd name="T55" fmla="*/ 97 h 119"/>
                  <a:gd name="T56" fmla="*/ 97 w 118"/>
                  <a:gd name="T57" fmla="*/ 106 h 119"/>
                  <a:gd name="T58" fmla="*/ 105 w 118"/>
                  <a:gd name="T59" fmla="*/ 97 h 119"/>
                  <a:gd name="T60" fmla="*/ 96 w 118"/>
                  <a:gd name="T61" fmla="*/ 88 h 119"/>
                  <a:gd name="T62" fmla="*/ 105 w 118"/>
                  <a:gd name="T63" fmla="*/ 66 h 119"/>
                  <a:gd name="T64" fmla="*/ 118 w 118"/>
                  <a:gd name="T65" fmla="*/ 6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8" h="119">
                    <a:moveTo>
                      <a:pt x="118" y="66"/>
                    </a:moveTo>
                    <a:cubicBezTo>
                      <a:pt x="118" y="53"/>
                      <a:pt x="118" y="53"/>
                      <a:pt x="118" y="53"/>
                    </a:cubicBezTo>
                    <a:cubicBezTo>
                      <a:pt x="105" y="53"/>
                      <a:pt x="105" y="53"/>
                      <a:pt x="105" y="53"/>
                    </a:cubicBezTo>
                    <a:cubicBezTo>
                      <a:pt x="104" y="45"/>
                      <a:pt x="101" y="37"/>
                      <a:pt x="96" y="31"/>
                    </a:cubicBezTo>
                    <a:cubicBezTo>
                      <a:pt x="105" y="22"/>
                      <a:pt x="105" y="22"/>
                      <a:pt x="105" y="22"/>
                    </a:cubicBezTo>
                    <a:cubicBezTo>
                      <a:pt x="97" y="13"/>
                      <a:pt x="97" y="13"/>
                      <a:pt x="97" y="13"/>
                    </a:cubicBezTo>
                    <a:cubicBezTo>
                      <a:pt x="87" y="22"/>
                      <a:pt x="87" y="22"/>
                      <a:pt x="87" y="22"/>
                    </a:cubicBezTo>
                    <a:cubicBezTo>
                      <a:pt x="81" y="18"/>
                      <a:pt x="73" y="14"/>
                      <a:pt x="65" y="13"/>
                    </a:cubicBezTo>
                    <a:cubicBezTo>
                      <a:pt x="65" y="0"/>
                      <a:pt x="65" y="0"/>
                      <a:pt x="65" y="0"/>
                    </a:cubicBezTo>
                    <a:cubicBezTo>
                      <a:pt x="53" y="0"/>
                      <a:pt x="53" y="0"/>
                      <a:pt x="53" y="0"/>
                    </a:cubicBezTo>
                    <a:cubicBezTo>
                      <a:pt x="53" y="13"/>
                      <a:pt x="53" y="13"/>
                      <a:pt x="53" y="13"/>
                    </a:cubicBezTo>
                    <a:cubicBezTo>
                      <a:pt x="45" y="14"/>
                      <a:pt x="37" y="18"/>
                      <a:pt x="31" y="22"/>
                    </a:cubicBezTo>
                    <a:cubicBezTo>
                      <a:pt x="22" y="13"/>
                      <a:pt x="22" y="13"/>
                      <a:pt x="22" y="13"/>
                    </a:cubicBezTo>
                    <a:cubicBezTo>
                      <a:pt x="13" y="22"/>
                      <a:pt x="13" y="22"/>
                      <a:pt x="13" y="22"/>
                    </a:cubicBezTo>
                    <a:cubicBezTo>
                      <a:pt x="22" y="31"/>
                      <a:pt x="22" y="31"/>
                      <a:pt x="22" y="31"/>
                    </a:cubicBezTo>
                    <a:cubicBezTo>
                      <a:pt x="17" y="38"/>
                      <a:pt x="14" y="45"/>
                      <a:pt x="13" y="53"/>
                    </a:cubicBezTo>
                    <a:cubicBezTo>
                      <a:pt x="0" y="53"/>
                      <a:pt x="0" y="53"/>
                      <a:pt x="0" y="53"/>
                    </a:cubicBezTo>
                    <a:cubicBezTo>
                      <a:pt x="0" y="66"/>
                      <a:pt x="0" y="66"/>
                      <a:pt x="0" y="66"/>
                    </a:cubicBezTo>
                    <a:cubicBezTo>
                      <a:pt x="13" y="66"/>
                      <a:pt x="13" y="66"/>
                      <a:pt x="13" y="66"/>
                    </a:cubicBezTo>
                    <a:cubicBezTo>
                      <a:pt x="14" y="74"/>
                      <a:pt x="17" y="82"/>
                      <a:pt x="22" y="88"/>
                    </a:cubicBezTo>
                    <a:cubicBezTo>
                      <a:pt x="13" y="97"/>
                      <a:pt x="13" y="97"/>
                      <a:pt x="13" y="97"/>
                    </a:cubicBezTo>
                    <a:cubicBezTo>
                      <a:pt x="21" y="106"/>
                      <a:pt x="21" y="106"/>
                      <a:pt x="21" y="106"/>
                    </a:cubicBezTo>
                    <a:cubicBezTo>
                      <a:pt x="31" y="97"/>
                      <a:pt x="31" y="97"/>
                      <a:pt x="31" y="97"/>
                    </a:cubicBezTo>
                    <a:cubicBezTo>
                      <a:pt x="37" y="102"/>
                      <a:pt x="45" y="105"/>
                      <a:pt x="53" y="106"/>
                    </a:cubicBezTo>
                    <a:cubicBezTo>
                      <a:pt x="53" y="119"/>
                      <a:pt x="53" y="119"/>
                      <a:pt x="53" y="119"/>
                    </a:cubicBezTo>
                    <a:cubicBezTo>
                      <a:pt x="65" y="119"/>
                      <a:pt x="65" y="119"/>
                      <a:pt x="65" y="119"/>
                    </a:cubicBezTo>
                    <a:cubicBezTo>
                      <a:pt x="65" y="106"/>
                      <a:pt x="65" y="106"/>
                      <a:pt x="65" y="106"/>
                    </a:cubicBezTo>
                    <a:cubicBezTo>
                      <a:pt x="74" y="105"/>
                      <a:pt x="81" y="102"/>
                      <a:pt x="87" y="97"/>
                    </a:cubicBezTo>
                    <a:cubicBezTo>
                      <a:pt x="97" y="106"/>
                      <a:pt x="97" y="106"/>
                      <a:pt x="97" y="106"/>
                    </a:cubicBezTo>
                    <a:cubicBezTo>
                      <a:pt x="105" y="97"/>
                      <a:pt x="105" y="97"/>
                      <a:pt x="105" y="97"/>
                    </a:cubicBezTo>
                    <a:cubicBezTo>
                      <a:pt x="96" y="88"/>
                      <a:pt x="96" y="88"/>
                      <a:pt x="96" y="88"/>
                    </a:cubicBezTo>
                    <a:cubicBezTo>
                      <a:pt x="101" y="82"/>
                      <a:pt x="104" y="74"/>
                      <a:pt x="105" y="66"/>
                    </a:cubicBezTo>
                    <a:lnTo>
                      <a:pt x="118" y="6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3" name="Oval 989">
                <a:extLst>
                  <a:ext uri="{FF2B5EF4-FFF2-40B4-BE49-F238E27FC236}">
                    <a16:creationId xmlns:a16="http://schemas.microsoft.com/office/drawing/2014/main" id="{221D7FCA-12A3-7B10-13A1-37F44A491121}"/>
                  </a:ext>
                </a:extLst>
              </p:cNvPr>
              <p:cNvSpPr>
                <a:spLocks noChangeArrowheads="1"/>
              </p:cNvSpPr>
              <p:nvPr/>
            </p:nvSpPr>
            <p:spPr bwMode="auto">
              <a:xfrm>
                <a:off x="2708964" y="1418844"/>
                <a:ext cx="49159" cy="477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4" name="Rectangle 990">
                <a:extLst>
                  <a:ext uri="{FF2B5EF4-FFF2-40B4-BE49-F238E27FC236}">
                    <a16:creationId xmlns:a16="http://schemas.microsoft.com/office/drawing/2014/main" id="{27A1E023-CE22-4EC6-8925-54D5136F3D62}"/>
                  </a:ext>
                </a:extLst>
              </p:cNvPr>
              <p:cNvSpPr>
                <a:spLocks noChangeArrowheads="1"/>
              </p:cNvSpPr>
              <p:nvPr/>
            </p:nvSpPr>
            <p:spPr bwMode="auto">
              <a:xfrm>
                <a:off x="2680047" y="1249680"/>
                <a:ext cx="108439" cy="10843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5" name="Freeform 991">
                <a:extLst>
                  <a:ext uri="{FF2B5EF4-FFF2-40B4-BE49-F238E27FC236}">
                    <a16:creationId xmlns:a16="http://schemas.microsoft.com/office/drawing/2014/main" id="{7AC156FB-B5DD-64DC-9FAF-6FEC7724578C}"/>
                  </a:ext>
                </a:extLst>
              </p:cNvPr>
              <p:cNvSpPr>
                <a:spLocks/>
              </p:cNvSpPr>
              <p:nvPr/>
            </p:nvSpPr>
            <p:spPr bwMode="auto">
              <a:xfrm>
                <a:off x="2668480" y="1521498"/>
                <a:ext cx="133018" cy="131572"/>
              </a:xfrm>
              <a:custGeom>
                <a:avLst/>
                <a:gdLst>
                  <a:gd name="T0" fmla="*/ 92 w 92"/>
                  <a:gd name="T1" fmla="*/ 46 h 91"/>
                  <a:gd name="T2" fmla="*/ 46 w 92"/>
                  <a:gd name="T3" fmla="*/ 0 h 91"/>
                  <a:gd name="T4" fmla="*/ 0 w 92"/>
                  <a:gd name="T5" fmla="*/ 46 h 91"/>
                  <a:gd name="T6" fmla="*/ 46 w 92"/>
                  <a:gd name="T7" fmla="*/ 91 h 91"/>
                  <a:gd name="T8" fmla="*/ 92 w 92"/>
                  <a:gd name="T9" fmla="*/ 46 h 91"/>
                </a:gdLst>
                <a:ahLst/>
                <a:cxnLst>
                  <a:cxn ang="0">
                    <a:pos x="T0" y="T1"/>
                  </a:cxn>
                  <a:cxn ang="0">
                    <a:pos x="T2" y="T3"/>
                  </a:cxn>
                  <a:cxn ang="0">
                    <a:pos x="T4" y="T5"/>
                  </a:cxn>
                  <a:cxn ang="0">
                    <a:pos x="T6" y="T7"/>
                  </a:cxn>
                  <a:cxn ang="0">
                    <a:pos x="T8" y="T9"/>
                  </a:cxn>
                </a:cxnLst>
                <a:rect l="0" t="0" r="r" b="b"/>
                <a:pathLst>
                  <a:path w="92" h="91">
                    <a:moveTo>
                      <a:pt x="92" y="46"/>
                    </a:moveTo>
                    <a:lnTo>
                      <a:pt x="46" y="0"/>
                    </a:lnTo>
                    <a:lnTo>
                      <a:pt x="0" y="46"/>
                    </a:lnTo>
                    <a:lnTo>
                      <a:pt x="46" y="91"/>
                    </a:lnTo>
                    <a:lnTo>
                      <a:pt x="92" y="4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49" name="Rectangle 648">
              <a:extLst>
                <a:ext uri="{FF2B5EF4-FFF2-40B4-BE49-F238E27FC236}">
                  <a16:creationId xmlns:a16="http://schemas.microsoft.com/office/drawing/2014/main" id="{409A5EE2-8BD1-98B5-DA24-AD434040BDED}"/>
                </a:ext>
              </a:extLst>
            </p:cNvPr>
            <p:cNvSpPr/>
            <p:nvPr/>
          </p:nvSpPr>
          <p:spPr bwMode="auto">
            <a:xfrm>
              <a:off x="3442545" y="499391"/>
              <a:ext cx="1503291"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0" name="Rectangle 649">
              <a:extLst>
                <a:ext uri="{FF2B5EF4-FFF2-40B4-BE49-F238E27FC236}">
                  <a16:creationId xmlns:a16="http://schemas.microsoft.com/office/drawing/2014/main" id="{FD17B6DD-7483-AFFB-893A-1EC6FCFB968D}"/>
                </a:ext>
              </a:extLst>
            </p:cNvPr>
            <p:cNvSpPr/>
            <p:nvPr/>
          </p:nvSpPr>
          <p:spPr bwMode="auto">
            <a:xfrm>
              <a:off x="3168808" y="507549"/>
              <a:ext cx="213561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Alerting</a:t>
              </a:r>
            </a:p>
          </p:txBody>
        </p:sp>
        <p:grpSp>
          <p:nvGrpSpPr>
            <p:cNvPr id="721" name="analyze" descr="analyze, search">
              <a:extLst>
                <a:ext uri="{FF2B5EF4-FFF2-40B4-BE49-F238E27FC236}">
                  <a16:creationId xmlns:a16="http://schemas.microsoft.com/office/drawing/2014/main" id="{8199CF4A-2FB7-53A8-31BF-8B0F5A945849}"/>
                </a:ext>
              </a:extLst>
            </p:cNvPr>
            <p:cNvGrpSpPr>
              <a:grpSpLocks noChangeAspect="1"/>
            </p:cNvGrpSpPr>
            <p:nvPr/>
          </p:nvGrpSpPr>
          <p:grpSpPr bwMode="auto">
            <a:xfrm>
              <a:off x="3895245" y="536049"/>
              <a:ext cx="109547" cy="109547"/>
              <a:chOff x="1654" y="806"/>
              <a:chExt cx="239" cy="239"/>
            </a:xfrm>
          </p:grpSpPr>
          <p:sp>
            <p:nvSpPr>
              <p:cNvPr id="722" name="AutoShape 37">
                <a:extLst>
                  <a:ext uri="{FF2B5EF4-FFF2-40B4-BE49-F238E27FC236}">
                    <a16:creationId xmlns:a16="http://schemas.microsoft.com/office/drawing/2014/main" id="{FD383DA5-0393-4ACC-E97B-2AF4B1746197}"/>
                  </a:ext>
                </a:extLst>
              </p:cNvPr>
              <p:cNvSpPr>
                <a:spLocks noChangeAspect="1" noChangeArrowheads="1" noTextEdit="1"/>
              </p:cNvSpPr>
              <p:nvPr/>
            </p:nvSpPr>
            <p:spPr bwMode="auto">
              <a:xfrm>
                <a:off x="1654" y="806"/>
                <a:ext cx="23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3" name="Freeform 39">
                <a:extLst>
                  <a:ext uri="{FF2B5EF4-FFF2-40B4-BE49-F238E27FC236}">
                    <a16:creationId xmlns:a16="http://schemas.microsoft.com/office/drawing/2014/main" id="{2F34172C-D0E7-5F6D-E56E-738FED352931}"/>
                  </a:ext>
                </a:extLst>
              </p:cNvPr>
              <p:cNvSpPr>
                <a:spLocks/>
              </p:cNvSpPr>
              <p:nvPr/>
            </p:nvSpPr>
            <p:spPr bwMode="auto">
              <a:xfrm>
                <a:off x="1653" y="80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4" name="Oval 40">
                <a:extLst>
                  <a:ext uri="{FF2B5EF4-FFF2-40B4-BE49-F238E27FC236}">
                    <a16:creationId xmlns:a16="http://schemas.microsoft.com/office/drawing/2014/main" id="{90BAF76C-ED4D-43F2-6A9F-225EA54ABB74}"/>
                  </a:ext>
                </a:extLst>
              </p:cNvPr>
              <p:cNvSpPr>
                <a:spLocks noChangeArrowheads="1"/>
              </p:cNvSpPr>
              <p:nvPr/>
            </p:nvSpPr>
            <p:spPr bwMode="auto">
              <a:xfrm>
                <a:off x="169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5" name="Oval 41">
                <a:extLst>
                  <a:ext uri="{FF2B5EF4-FFF2-40B4-BE49-F238E27FC236}">
                    <a16:creationId xmlns:a16="http://schemas.microsoft.com/office/drawing/2014/main" id="{5E7B84EA-FDAE-8A30-5480-FF484B5E8E61}"/>
                  </a:ext>
                </a:extLst>
              </p:cNvPr>
              <p:cNvSpPr>
                <a:spLocks noChangeArrowheads="1"/>
              </p:cNvSpPr>
              <p:nvPr/>
            </p:nvSpPr>
            <p:spPr bwMode="auto">
              <a:xfrm>
                <a:off x="173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6" name="Oval 42">
                <a:extLst>
                  <a:ext uri="{FF2B5EF4-FFF2-40B4-BE49-F238E27FC236}">
                    <a16:creationId xmlns:a16="http://schemas.microsoft.com/office/drawing/2014/main" id="{50B3B4D6-99E5-28D1-2EA1-50EC7381E9AD}"/>
                  </a:ext>
                </a:extLst>
              </p:cNvPr>
              <p:cNvSpPr>
                <a:spLocks noChangeArrowheads="1"/>
              </p:cNvSpPr>
              <p:nvPr/>
            </p:nvSpPr>
            <p:spPr bwMode="auto">
              <a:xfrm>
                <a:off x="177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7" name="Oval 43">
                <a:extLst>
                  <a:ext uri="{FF2B5EF4-FFF2-40B4-BE49-F238E27FC236}">
                    <a16:creationId xmlns:a16="http://schemas.microsoft.com/office/drawing/2014/main" id="{FE1F3B99-9194-6063-FE08-F4DCAE42A8BA}"/>
                  </a:ext>
                </a:extLst>
              </p:cNvPr>
              <p:cNvSpPr>
                <a:spLocks noChangeArrowheads="1"/>
              </p:cNvSpPr>
              <p:nvPr/>
            </p:nvSpPr>
            <p:spPr bwMode="auto">
              <a:xfrm>
                <a:off x="181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8" name="Oval 44">
                <a:extLst>
                  <a:ext uri="{FF2B5EF4-FFF2-40B4-BE49-F238E27FC236}">
                    <a16:creationId xmlns:a16="http://schemas.microsoft.com/office/drawing/2014/main" id="{4A32041C-E91F-6D2F-2A31-0B7123FC37DD}"/>
                  </a:ext>
                </a:extLst>
              </p:cNvPr>
              <p:cNvSpPr>
                <a:spLocks noChangeArrowheads="1"/>
              </p:cNvSpPr>
              <p:nvPr/>
            </p:nvSpPr>
            <p:spPr bwMode="auto">
              <a:xfrm>
                <a:off x="185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9" name="Freeform 45">
                <a:extLst>
                  <a:ext uri="{FF2B5EF4-FFF2-40B4-BE49-F238E27FC236}">
                    <a16:creationId xmlns:a16="http://schemas.microsoft.com/office/drawing/2014/main" id="{B741D39F-96C7-5B5E-3016-B56D55558B8D}"/>
                  </a:ext>
                </a:extLst>
              </p:cNvPr>
              <p:cNvSpPr>
                <a:spLocks/>
              </p:cNvSpPr>
              <p:nvPr/>
            </p:nvSpPr>
            <p:spPr bwMode="auto">
              <a:xfrm>
                <a:off x="1653" y="846"/>
                <a:ext cx="27" cy="26"/>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0" name="Oval 46">
                <a:extLst>
                  <a:ext uri="{FF2B5EF4-FFF2-40B4-BE49-F238E27FC236}">
                    <a16:creationId xmlns:a16="http://schemas.microsoft.com/office/drawing/2014/main" id="{80004AFD-09D2-4880-32EF-6070A50D3B52}"/>
                  </a:ext>
                </a:extLst>
              </p:cNvPr>
              <p:cNvSpPr>
                <a:spLocks noChangeArrowheads="1"/>
              </p:cNvSpPr>
              <p:nvPr/>
            </p:nvSpPr>
            <p:spPr bwMode="auto">
              <a:xfrm>
                <a:off x="169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1" name="Oval 47">
                <a:extLst>
                  <a:ext uri="{FF2B5EF4-FFF2-40B4-BE49-F238E27FC236}">
                    <a16:creationId xmlns:a16="http://schemas.microsoft.com/office/drawing/2014/main" id="{46708B8D-62F7-E7B5-60AD-BB82BD704946}"/>
                  </a:ext>
                </a:extLst>
              </p:cNvPr>
              <p:cNvSpPr>
                <a:spLocks noChangeArrowheads="1"/>
              </p:cNvSpPr>
              <p:nvPr/>
            </p:nvSpPr>
            <p:spPr bwMode="auto">
              <a:xfrm>
                <a:off x="173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2" name="Oval 48">
                <a:extLst>
                  <a:ext uri="{FF2B5EF4-FFF2-40B4-BE49-F238E27FC236}">
                    <a16:creationId xmlns:a16="http://schemas.microsoft.com/office/drawing/2014/main" id="{D939AD77-A1E9-AC3C-A9E1-CDCC9A2202A4}"/>
                  </a:ext>
                </a:extLst>
              </p:cNvPr>
              <p:cNvSpPr>
                <a:spLocks noChangeArrowheads="1"/>
              </p:cNvSpPr>
              <p:nvPr/>
            </p:nvSpPr>
            <p:spPr bwMode="auto">
              <a:xfrm>
                <a:off x="177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3" name="Oval 49">
                <a:extLst>
                  <a:ext uri="{FF2B5EF4-FFF2-40B4-BE49-F238E27FC236}">
                    <a16:creationId xmlns:a16="http://schemas.microsoft.com/office/drawing/2014/main" id="{71975FAC-E15A-C3DD-18E9-0042E6C22D4B}"/>
                  </a:ext>
                </a:extLst>
              </p:cNvPr>
              <p:cNvSpPr>
                <a:spLocks noChangeArrowheads="1"/>
              </p:cNvSpPr>
              <p:nvPr/>
            </p:nvSpPr>
            <p:spPr bwMode="auto">
              <a:xfrm>
                <a:off x="181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4" name="Oval 50">
                <a:extLst>
                  <a:ext uri="{FF2B5EF4-FFF2-40B4-BE49-F238E27FC236}">
                    <a16:creationId xmlns:a16="http://schemas.microsoft.com/office/drawing/2014/main" id="{B6F6BB1A-2530-6465-CC74-D7CE3675E747}"/>
                  </a:ext>
                </a:extLst>
              </p:cNvPr>
              <p:cNvSpPr>
                <a:spLocks noChangeArrowheads="1"/>
              </p:cNvSpPr>
              <p:nvPr/>
            </p:nvSpPr>
            <p:spPr bwMode="auto">
              <a:xfrm>
                <a:off x="185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5" name="Freeform 51">
                <a:extLst>
                  <a:ext uri="{FF2B5EF4-FFF2-40B4-BE49-F238E27FC236}">
                    <a16:creationId xmlns:a16="http://schemas.microsoft.com/office/drawing/2014/main" id="{ADF821DB-7E21-978F-09BC-ED9B7BC58FEF}"/>
                  </a:ext>
                </a:extLst>
              </p:cNvPr>
              <p:cNvSpPr>
                <a:spLocks/>
              </p:cNvSpPr>
              <p:nvPr/>
            </p:nvSpPr>
            <p:spPr bwMode="auto">
              <a:xfrm>
                <a:off x="1653" y="885"/>
                <a:ext cx="27" cy="27"/>
              </a:xfrm>
              <a:custGeom>
                <a:avLst/>
                <a:gdLst>
                  <a:gd name="T0" fmla="*/ 20 w 41"/>
                  <a:gd name="T1" fmla="*/ 41 h 41"/>
                  <a:gd name="T2" fmla="*/ 0 w 41"/>
                  <a:gd name="T3" fmla="*/ 21 h 41"/>
                  <a:gd name="T4" fmla="*/ 20 w 41"/>
                  <a:gd name="T5" fmla="*/ 0 h 41"/>
                  <a:gd name="T6" fmla="*/ 41 w 41"/>
                  <a:gd name="T7" fmla="*/ 21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1"/>
                    </a:cubicBezTo>
                    <a:cubicBezTo>
                      <a:pt x="0" y="9"/>
                      <a:pt x="9" y="0"/>
                      <a:pt x="20" y="0"/>
                    </a:cubicBezTo>
                    <a:cubicBezTo>
                      <a:pt x="32" y="0"/>
                      <a:pt x="41" y="9"/>
                      <a:pt x="41" y="21"/>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6" name="Oval 52">
                <a:extLst>
                  <a:ext uri="{FF2B5EF4-FFF2-40B4-BE49-F238E27FC236}">
                    <a16:creationId xmlns:a16="http://schemas.microsoft.com/office/drawing/2014/main" id="{D6644B66-7A50-76E0-91A8-F216171C808A}"/>
                  </a:ext>
                </a:extLst>
              </p:cNvPr>
              <p:cNvSpPr>
                <a:spLocks noChangeArrowheads="1"/>
              </p:cNvSpPr>
              <p:nvPr/>
            </p:nvSpPr>
            <p:spPr bwMode="auto">
              <a:xfrm>
                <a:off x="169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7" name="Oval 53">
                <a:extLst>
                  <a:ext uri="{FF2B5EF4-FFF2-40B4-BE49-F238E27FC236}">
                    <a16:creationId xmlns:a16="http://schemas.microsoft.com/office/drawing/2014/main" id="{35EFA1B8-7E47-9520-D975-69449F5567E8}"/>
                  </a:ext>
                </a:extLst>
              </p:cNvPr>
              <p:cNvSpPr>
                <a:spLocks noChangeArrowheads="1"/>
              </p:cNvSpPr>
              <p:nvPr/>
            </p:nvSpPr>
            <p:spPr bwMode="auto">
              <a:xfrm>
                <a:off x="173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8" name="Oval 54">
                <a:extLst>
                  <a:ext uri="{FF2B5EF4-FFF2-40B4-BE49-F238E27FC236}">
                    <a16:creationId xmlns:a16="http://schemas.microsoft.com/office/drawing/2014/main" id="{D0D13947-0D38-D68E-7C6D-3427E7E40633}"/>
                  </a:ext>
                </a:extLst>
              </p:cNvPr>
              <p:cNvSpPr>
                <a:spLocks noChangeArrowheads="1"/>
              </p:cNvSpPr>
              <p:nvPr/>
            </p:nvSpPr>
            <p:spPr bwMode="auto">
              <a:xfrm>
                <a:off x="177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9" name="Oval 55">
                <a:extLst>
                  <a:ext uri="{FF2B5EF4-FFF2-40B4-BE49-F238E27FC236}">
                    <a16:creationId xmlns:a16="http://schemas.microsoft.com/office/drawing/2014/main" id="{C46F110C-701E-D81B-4B3C-9B3E4B20899C}"/>
                  </a:ext>
                </a:extLst>
              </p:cNvPr>
              <p:cNvSpPr>
                <a:spLocks noChangeArrowheads="1"/>
              </p:cNvSpPr>
              <p:nvPr/>
            </p:nvSpPr>
            <p:spPr bwMode="auto">
              <a:xfrm>
                <a:off x="181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0" name="Oval 56">
                <a:extLst>
                  <a:ext uri="{FF2B5EF4-FFF2-40B4-BE49-F238E27FC236}">
                    <a16:creationId xmlns:a16="http://schemas.microsoft.com/office/drawing/2014/main" id="{B76F45EC-7F55-AC88-CF08-78EA6D467205}"/>
                  </a:ext>
                </a:extLst>
              </p:cNvPr>
              <p:cNvSpPr>
                <a:spLocks noChangeArrowheads="1"/>
              </p:cNvSpPr>
              <p:nvPr/>
            </p:nvSpPr>
            <p:spPr bwMode="auto">
              <a:xfrm>
                <a:off x="185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1" name="Freeform 57">
                <a:extLst>
                  <a:ext uri="{FF2B5EF4-FFF2-40B4-BE49-F238E27FC236}">
                    <a16:creationId xmlns:a16="http://schemas.microsoft.com/office/drawing/2014/main" id="{4113F4FC-20CC-AA6E-9585-580CE2B15461}"/>
                  </a:ext>
                </a:extLst>
              </p:cNvPr>
              <p:cNvSpPr>
                <a:spLocks/>
              </p:cNvSpPr>
              <p:nvPr/>
            </p:nvSpPr>
            <p:spPr bwMode="auto">
              <a:xfrm>
                <a:off x="1653" y="92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2" name="Oval 58">
                <a:extLst>
                  <a:ext uri="{FF2B5EF4-FFF2-40B4-BE49-F238E27FC236}">
                    <a16:creationId xmlns:a16="http://schemas.microsoft.com/office/drawing/2014/main" id="{99406355-DF98-742F-66FB-A478BE4D115F}"/>
                  </a:ext>
                </a:extLst>
              </p:cNvPr>
              <p:cNvSpPr>
                <a:spLocks noChangeArrowheads="1"/>
              </p:cNvSpPr>
              <p:nvPr/>
            </p:nvSpPr>
            <p:spPr bwMode="auto">
              <a:xfrm>
                <a:off x="169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3" name="Oval 59">
                <a:extLst>
                  <a:ext uri="{FF2B5EF4-FFF2-40B4-BE49-F238E27FC236}">
                    <a16:creationId xmlns:a16="http://schemas.microsoft.com/office/drawing/2014/main" id="{AD94069D-495D-DD0D-5FC1-D5AD3D8886AE}"/>
                  </a:ext>
                </a:extLst>
              </p:cNvPr>
              <p:cNvSpPr>
                <a:spLocks noChangeArrowheads="1"/>
              </p:cNvSpPr>
              <p:nvPr/>
            </p:nvSpPr>
            <p:spPr bwMode="auto">
              <a:xfrm>
                <a:off x="173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4" name="Freeform 60">
                <a:extLst>
                  <a:ext uri="{FF2B5EF4-FFF2-40B4-BE49-F238E27FC236}">
                    <a16:creationId xmlns:a16="http://schemas.microsoft.com/office/drawing/2014/main" id="{0ADA2A8A-4299-9752-AFF4-DD663E3A718D}"/>
                  </a:ext>
                </a:extLst>
              </p:cNvPr>
              <p:cNvSpPr>
                <a:spLocks/>
              </p:cNvSpPr>
              <p:nvPr/>
            </p:nvSpPr>
            <p:spPr bwMode="auto">
              <a:xfrm>
                <a:off x="1653" y="96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5" name="Oval 61">
                <a:extLst>
                  <a:ext uri="{FF2B5EF4-FFF2-40B4-BE49-F238E27FC236}">
                    <a16:creationId xmlns:a16="http://schemas.microsoft.com/office/drawing/2014/main" id="{F1EE55FB-E138-5868-274D-C958DF28E05B}"/>
                  </a:ext>
                </a:extLst>
              </p:cNvPr>
              <p:cNvSpPr>
                <a:spLocks noChangeArrowheads="1"/>
              </p:cNvSpPr>
              <p:nvPr/>
            </p:nvSpPr>
            <p:spPr bwMode="auto">
              <a:xfrm>
                <a:off x="169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6" name="Oval 62">
                <a:extLst>
                  <a:ext uri="{FF2B5EF4-FFF2-40B4-BE49-F238E27FC236}">
                    <a16:creationId xmlns:a16="http://schemas.microsoft.com/office/drawing/2014/main" id="{0D1F1C46-C7D0-63DC-76EE-3190400B8A70}"/>
                  </a:ext>
                </a:extLst>
              </p:cNvPr>
              <p:cNvSpPr>
                <a:spLocks noChangeArrowheads="1"/>
              </p:cNvSpPr>
              <p:nvPr/>
            </p:nvSpPr>
            <p:spPr bwMode="auto">
              <a:xfrm>
                <a:off x="173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7" name="Freeform 63">
                <a:extLst>
                  <a:ext uri="{FF2B5EF4-FFF2-40B4-BE49-F238E27FC236}">
                    <a16:creationId xmlns:a16="http://schemas.microsoft.com/office/drawing/2014/main" id="{8270458E-4BDF-DA4D-937C-2E6DD5BA4F6A}"/>
                  </a:ext>
                </a:extLst>
              </p:cNvPr>
              <p:cNvSpPr>
                <a:spLocks/>
              </p:cNvSpPr>
              <p:nvPr/>
            </p:nvSpPr>
            <p:spPr bwMode="auto">
              <a:xfrm>
                <a:off x="1653" y="1005"/>
                <a:ext cx="27" cy="27"/>
              </a:xfrm>
              <a:custGeom>
                <a:avLst/>
                <a:gdLst>
                  <a:gd name="T0" fmla="*/ 20 w 41"/>
                  <a:gd name="T1" fmla="*/ 41 h 41"/>
                  <a:gd name="T2" fmla="*/ 0 w 41"/>
                  <a:gd name="T3" fmla="*/ 20 h 41"/>
                  <a:gd name="T4" fmla="*/ 20 w 41"/>
                  <a:gd name="T5" fmla="*/ 0 h 41"/>
                  <a:gd name="T6" fmla="*/ 41 w 41"/>
                  <a:gd name="T7" fmla="*/ 20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0"/>
                    </a:cubicBezTo>
                    <a:cubicBezTo>
                      <a:pt x="0" y="9"/>
                      <a:pt x="9" y="0"/>
                      <a:pt x="20" y="0"/>
                    </a:cubicBezTo>
                    <a:cubicBezTo>
                      <a:pt x="32" y="0"/>
                      <a:pt x="41" y="9"/>
                      <a:pt x="41" y="20"/>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8" name="Oval 64">
                <a:extLst>
                  <a:ext uri="{FF2B5EF4-FFF2-40B4-BE49-F238E27FC236}">
                    <a16:creationId xmlns:a16="http://schemas.microsoft.com/office/drawing/2014/main" id="{1A91A4CA-5BB7-5251-31FE-1F7E7798F529}"/>
                  </a:ext>
                </a:extLst>
              </p:cNvPr>
              <p:cNvSpPr>
                <a:spLocks noChangeArrowheads="1"/>
              </p:cNvSpPr>
              <p:nvPr/>
            </p:nvSpPr>
            <p:spPr bwMode="auto">
              <a:xfrm>
                <a:off x="169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9" name="Oval 65">
                <a:extLst>
                  <a:ext uri="{FF2B5EF4-FFF2-40B4-BE49-F238E27FC236}">
                    <a16:creationId xmlns:a16="http://schemas.microsoft.com/office/drawing/2014/main" id="{0AF708B7-3273-CD90-CFA4-F9027C8CD90E}"/>
                  </a:ext>
                </a:extLst>
              </p:cNvPr>
              <p:cNvSpPr>
                <a:spLocks noChangeArrowheads="1"/>
              </p:cNvSpPr>
              <p:nvPr/>
            </p:nvSpPr>
            <p:spPr bwMode="auto">
              <a:xfrm>
                <a:off x="173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50" name="Freeform 66">
                <a:extLst>
                  <a:ext uri="{FF2B5EF4-FFF2-40B4-BE49-F238E27FC236}">
                    <a16:creationId xmlns:a16="http://schemas.microsoft.com/office/drawing/2014/main" id="{4BBC0A8F-9BE0-D8B8-65F5-BF2F88139419}"/>
                  </a:ext>
                </a:extLst>
              </p:cNvPr>
              <p:cNvSpPr>
                <a:spLocks noEditPoints="1"/>
              </p:cNvSpPr>
              <p:nvPr/>
            </p:nvSpPr>
            <p:spPr bwMode="auto">
              <a:xfrm>
                <a:off x="1774" y="925"/>
                <a:ext cx="119" cy="120"/>
              </a:xfrm>
              <a:custGeom>
                <a:avLst/>
                <a:gdLst>
                  <a:gd name="T0" fmla="*/ 181 w 181"/>
                  <a:gd name="T1" fmla="*/ 169 h 183"/>
                  <a:gd name="T2" fmla="*/ 123 w 181"/>
                  <a:gd name="T3" fmla="*/ 111 h 183"/>
                  <a:gd name="T4" fmla="*/ 137 w 181"/>
                  <a:gd name="T5" fmla="*/ 69 h 183"/>
                  <a:gd name="T6" fmla="*/ 68 w 181"/>
                  <a:gd name="T7" fmla="*/ 0 h 183"/>
                  <a:gd name="T8" fmla="*/ 0 w 181"/>
                  <a:gd name="T9" fmla="*/ 69 h 183"/>
                  <a:gd name="T10" fmla="*/ 68 w 181"/>
                  <a:gd name="T11" fmla="*/ 138 h 183"/>
                  <a:gd name="T12" fmla="*/ 108 w 181"/>
                  <a:gd name="T13" fmla="*/ 125 h 183"/>
                  <a:gd name="T14" fmla="*/ 167 w 181"/>
                  <a:gd name="T15" fmla="*/ 183 h 183"/>
                  <a:gd name="T16" fmla="*/ 181 w 181"/>
                  <a:gd name="T17" fmla="*/ 169 h 183"/>
                  <a:gd name="T18" fmla="*/ 68 w 181"/>
                  <a:gd name="T19" fmla="*/ 118 h 183"/>
                  <a:gd name="T20" fmla="*/ 20 w 181"/>
                  <a:gd name="T21" fmla="*/ 69 h 183"/>
                  <a:gd name="T22" fmla="*/ 68 w 181"/>
                  <a:gd name="T23" fmla="*/ 21 h 183"/>
                  <a:gd name="T24" fmla="*/ 117 w 181"/>
                  <a:gd name="T25" fmla="*/ 69 h 183"/>
                  <a:gd name="T26" fmla="*/ 68 w 181"/>
                  <a:gd name="T27" fmla="*/ 11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 h="183">
                    <a:moveTo>
                      <a:pt x="181" y="169"/>
                    </a:moveTo>
                    <a:cubicBezTo>
                      <a:pt x="123" y="111"/>
                      <a:pt x="123" y="111"/>
                      <a:pt x="123" y="111"/>
                    </a:cubicBezTo>
                    <a:cubicBezTo>
                      <a:pt x="132" y="99"/>
                      <a:pt x="137" y="85"/>
                      <a:pt x="137" y="69"/>
                    </a:cubicBezTo>
                    <a:cubicBezTo>
                      <a:pt x="137" y="31"/>
                      <a:pt x="106" y="0"/>
                      <a:pt x="68" y="0"/>
                    </a:cubicBezTo>
                    <a:cubicBezTo>
                      <a:pt x="30" y="0"/>
                      <a:pt x="0" y="31"/>
                      <a:pt x="0" y="69"/>
                    </a:cubicBezTo>
                    <a:cubicBezTo>
                      <a:pt x="0" y="107"/>
                      <a:pt x="30" y="138"/>
                      <a:pt x="68" y="138"/>
                    </a:cubicBezTo>
                    <a:cubicBezTo>
                      <a:pt x="83" y="138"/>
                      <a:pt x="97" y="133"/>
                      <a:pt x="108" y="125"/>
                    </a:cubicBezTo>
                    <a:cubicBezTo>
                      <a:pt x="167" y="183"/>
                      <a:pt x="167" y="183"/>
                      <a:pt x="167" y="183"/>
                    </a:cubicBezTo>
                    <a:lnTo>
                      <a:pt x="181" y="169"/>
                    </a:lnTo>
                    <a:close/>
                    <a:moveTo>
                      <a:pt x="68" y="118"/>
                    </a:moveTo>
                    <a:cubicBezTo>
                      <a:pt x="42" y="118"/>
                      <a:pt x="20" y="96"/>
                      <a:pt x="20" y="69"/>
                    </a:cubicBezTo>
                    <a:cubicBezTo>
                      <a:pt x="20" y="42"/>
                      <a:pt x="42" y="21"/>
                      <a:pt x="68" y="21"/>
                    </a:cubicBezTo>
                    <a:cubicBezTo>
                      <a:pt x="95" y="21"/>
                      <a:pt x="117" y="42"/>
                      <a:pt x="117" y="69"/>
                    </a:cubicBezTo>
                    <a:cubicBezTo>
                      <a:pt x="117" y="96"/>
                      <a:pt x="95" y="118"/>
                      <a:pt x="68" y="118"/>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751" name="Rectangle 750">
              <a:extLst>
                <a:ext uri="{FF2B5EF4-FFF2-40B4-BE49-F238E27FC236}">
                  <a16:creationId xmlns:a16="http://schemas.microsoft.com/office/drawing/2014/main" id="{8350173D-3EB1-B932-46A7-0F2C55904688}"/>
                </a:ext>
              </a:extLst>
            </p:cNvPr>
            <p:cNvSpPr/>
            <p:nvPr/>
          </p:nvSpPr>
          <p:spPr bwMode="auto">
            <a:xfrm>
              <a:off x="4945837" y="499391"/>
              <a:ext cx="1265416"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52" name="Rectangle 751">
              <a:extLst>
                <a:ext uri="{FF2B5EF4-FFF2-40B4-BE49-F238E27FC236}">
                  <a16:creationId xmlns:a16="http://schemas.microsoft.com/office/drawing/2014/main" id="{4ACB5101-3C8C-2BD5-F98D-21B4CC9DB2C0}"/>
                </a:ext>
              </a:extLst>
            </p:cNvPr>
            <p:cNvSpPr/>
            <p:nvPr/>
          </p:nvSpPr>
          <p:spPr bwMode="auto">
            <a:xfrm>
              <a:off x="5190816" y="505309"/>
              <a:ext cx="809499" cy="15488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Actioning</a:t>
              </a:r>
            </a:p>
          </p:txBody>
        </p:sp>
        <p:pic>
          <p:nvPicPr>
            <p:cNvPr id="202" name="Graphic 201">
              <a:extLst>
                <a:ext uri="{FF2B5EF4-FFF2-40B4-BE49-F238E27FC236}">
                  <a16:creationId xmlns:a16="http://schemas.microsoft.com/office/drawing/2014/main" id="{745A0F06-BC30-0C1D-4790-E1F5856B7D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35640" y="538599"/>
              <a:ext cx="116843" cy="115017"/>
            </a:xfrm>
            <a:prstGeom prst="rect">
              <a:avLst/>
            </a:prstGeom>
          </p:spPr>
        </p:pic>
        <p:cxnSp>
          <p:nvCxnSpPr>
            <p:cNvPr id="209" name="Straight Connector 208">
              <a:extLst>
                <a:ext uri="{FF2B5EF4-FFF2-40B4-BE49-F238E27FC236}">
                  <a16:creationId xmlns:a16="http://schemas.microsoft.com/office/drawing/2014/main" id="{4BC7F971-A09C-8308-AF96-499272EEB2B5}"/>
                </a:ext>
              </a:extLst>
            </p:cNvPr>
            <p:cNvCxnSpPr>
              <a:cxnSpLocks/>
            </p:cNvCxnSpPr>
            <p:nvPr/>
          </p:nvCxnSpPr>
          <p:spPr>
            <a:xfrm>
              <a:off x="6211253" y="660254"/>
              <a:ext cx="0"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B1FE5AB-E08F-2E1C-8058-3F5C2E476D6A}"/>
                </a:ext>
              </a:extLst>
            </p:cNvPr>
            <p:cNvCxnSpPr>
              <a:cxnSpLocks/>
            </p:cNvCxnSpPr>
            <p:nvPr/>
          </p:nvCxnSpPr>
          <p:spPr>
            <a:xfrm>
              <a:off x="354504" y="609073"/>
              <a:ext cx="0" cy="4707782"/>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DD2A6CF0-97A0-2D56-FABE-BFBC1E75C324}"/>
                </a:ext>
              </a:extLst>
            </p:cNvPr>
            <p:cNvCxnSpPr>
              <a:cxnSpLocks/>
              <a:stCxn id="101" idx="2"/>
            </p:cNvCxnSpPr>
            <p:nvPr/>
          </p:nvCxnSpPr>
          <p:spPr>
            <a:xfrm>
              <a:off x="2477092" y="1463168"/>
              <a:ext cx="19189" cy="39770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118" name="Straight Arrow Connector 117">
              <a:extLst>
                <a:ext uri="{FF2B5EF4-FFF2-40B4-BE49-F238E27FC236}">
                  <a16:creationId xmlns:a16="http://schemas.microsoft.com/office/drawing/2014/main" id="{E379A068-163B-A77F-D8F1-462F7D9A70A8}"/>
                </a:ext>
              </a:extLst>
            </p:cNvPr>
            <p:cNvCxnSpPr>
              <a:cxnSpLocks/>
            </p:cNvCxnSpPr>
            <p:nvPr/>
          </p:nvCxnSpPr>
          <p:spPr>
            <a:xfrm flipH="1" flipV="1">
              <a:off x="3937684" y="1426980"/>
              <a:ext cx="5780" cy="426347"/>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grpSp>
          <p:nvGrpSpPr>
            <p:cNvPr id="587" name="Group 586">
              <a:extLst>
                <a:ext uri="{FF2B5EF4-FFF2-40B4-BE49-F238E27FC236}">
                  <a16:creationId xmlns:a16="http://schemas.microsoft.com/office/drawing/2014/main" id="{FCFE5778-4242-91CC-95D6-C3ECB7660CC3}"/>
                </a:ext>
              </a:extLst>
            </p:cNvPr>
            <p:cNvGrpSpPr/>
            <p:nvPr/>
          </p:nvGrpSpPr>
          <p:grpSpPr>
            <a:xfrm>
              <a:off x="1877762" y="843844"/>
              <a:ext cx="4470940" cy="1289219"/>
              <a:chOff x="1877762" y="843844"/>
              <a:chExt cx="4470940" cy="1289219"/>
            </a:xfrm>
          </p:grpSpPr>
          <p:sp>
            <p:nvSpPr>
              <p:cNvPr id="136" name="Rectangle: Rounded Corners 135">
                <a:extLst>
                  <a:ext uri="{FF2B5EF4-FFF2-40B4-BE49-F238E27FC236}">
                    <a16:creationId xmlns:a16="http://schemas.microsoft.com/office/drawing/2014/main" id="{1425F045-5F2B-CED2-353D-7952ADD5E95B}"/>
                  </a:ext>
                </a:extLst>
              </p:cNvPr>
              <p:cNvSpPr/>
              <p:nvPr/>
            </p:nvSpPr>
            <p:spPr bwMode="auto">
              <a:xfrm>
                <a:off x="5079197" y="925626"/>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0" name="Rectangle: Rounded Corners 99">
                <a:extLst>
                  <a:ext uri="{FF2B5EF4-FFF2-40B4-BE49-F238E27FC236}">
                    <a16:creationId xmlns:a16="http://schemas.microsoft.com/office/drawing/2014/main" id="{09C23D3B-D3AD-9A09-0D73-1A633D8CD815}"/>
                  </a:ext>
                </a:extLst>
              </p:cNvPr>
              <p:cNvSpPr/>
              <p:nvPr/>
            </p:nvSpPr>
            <p:spPr bwMode="auto">
              <a:xfrm>
                <a:off x="1877762" y="843844"/>
                <a:ext cx="2646164" cy="724079"/>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3" name="Rectangle: Rounded Corners 102">
                <a:extLst>
                  <a:ext uri="{FF2B5EF4-FFF2-40B4-BE49-F238E27FC236}">
                    <a16:creationId xmlns:a16="http://schemas.microsoft.com/office/drawing/2014/main" id="{4DB88093-87FC-354C-CD26-FE049370B47D}"/>
                  </a:ext>
                </a:extLst>
              </p:cNvPr>
              <p:cNvSpPr/>
              <p:nvPr/>
            </p:nvSpPr>
            <p:spPr bwMode="auto">
              <a:xfrm>
                <a:off x="3412147" y="918708"/>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7" name="Event Hubs" descr="Event Hubs">
                <a:extLst>
                  <a:ext uri="{FF2B5EF4-FFF2-40B4-BE49-F238E27FC236}">
                    <a16:creationId xmlns:a16="http://schemas.microsoft.com/office/drawing/2014/main" id="{69C675EA-DCEB-A7C5-8C86-1D9D0A3E7778}"/>
                  </a:ext>
                </a:extLst>
              </p:cNvPr>
              <p:cNvPicPr>
                <a:picLocks noChangeAspect="1"/>
              </p:cNvPicPr>
              <p:nvPr/>
            </p:nvPicPr>
            <p:blipFill>
              <a:blip r:embed="rId10"/>
              <a:stretch>
                <a:fillRect/>
              </a:stretch>
            </p:blipFill>
            <p:spPr>
              <a:xfrm>
                <a:off x="3489366" y="1062432"/>
                <a:ext cx="233868" cy="246263"/>
              </a:xfrm>
              <a:prstGeom prst="rect">
                <a:avLst/>
              </a:prstGeom>
            </p:spPr>
          </p:pic>
          <p:sp>
            <p:nvSpPr>
              <p:cNvPr id="48" name="Rectangle 47">
                <a:extLst>
                  <a:ext uri="{FF2B5EF4-FFF2-40B4-BE49-F238E27FC236}">
                    <a16:creationId xmlns:a16="http://schemas.microsoft.com/office/drawing/2014/main" id="{8D655B65-D797-2D13-25E7-854768CE87CF}"/>
                  </a:ext>
                </a:extLst>
              </p:cNvPr>
              <p:cNvSpPr/>
              <p:nvPr/>
            </p:nvSpPr>
            <p:spPr bwMode="auto">
              <a:xfrm>
                <a:off x="5335481" y="905795"/>
                <a:ext cx="1013221"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Consumers</a:t>
                </a:r>
              </a:p>
            </p:txBody>
          </p:sp>
          <p:sp>
            <p:nvSpPr>
              <p:cNvPr id="38" name="Rectangle 37">
                <a:extLst>
                  <a:ext uri="{FF2B5EF4-FFF2-40B4-BE49-F238E27FC236}">
                    <a16:creationId xmlns:a16="http://schemas.microsoft.com/office/drawing/2014/main" id="{A601AE94-6F62-CB29-5B0B-D277D4172FFE}"/>
                  </a:ext>
                </a:extLst>
              </p:cNvPr>
              <p:cNvSpPr/>
              <p:nvPr/>
            </p:nvSpPr>
            <p:spPr bwMode="auto">
              <a:xfrm>
                <a:off x="3594461" y="904978"/>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a:t>
                </a:r>
              </a:p>
            </p:txBody>
          </p:sp>
          <p:pic>
            <p:nvPicPr>
              <p:cNvPr id="32" name="Graphic 31">
                <a:extLst>
                  <a:ext uri="{FF2B5EF4-FFF2-40B4-BE49-F238E27FC236}">
                    <a16:creationId xmlns:a16="http://schemas.microsoft.com/office/drawing/2014/main" id="{7D2BA14F-7A2A-6AC7-A9CE-2AF4E531B6A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85010" y="1045978"/>
                <a:ext cx="262697" cy="262697"/>
              </a:xfrm>
              <a:prstGeom prst="rect">
                <a:avLst/>
              </a:prstGeom>
            </p:spPr>
          </p:pic>
          <p:pic>
            <p:nvPicPr>
              <p:cNvPr id="114" name="Picture 113" descr="Eventstream">
                <a:extLst>
                  <a:ext uri="{FF2B5EF4-FFF2-40B4-BE49-F238E27FC236}">
                    <a16:creationId xmlns:a16="http://schemas.microsoft.com/office/drawing/2014/main" id="{39527867-F4EF-08F4-07F9-000666035271}"/>
                  </a:ext>
                </a:extLst>
              </p:cNvPr>
              <p:cNvPicPr>
                <a:picLocks noChangeAspect="1"/>
              </p:cNvPicPr>
              <p:nvPr/>
            </p:nvPicPr>
            <p:blipFill>
              <a:blip r:embed="rId12"/>
              <a:stretch>
                <a:fillRect/>
              </a:stretch>
            </p:blipFill>
            <p:spPr>
              <a:xfrm>
                <a:off x="3084222" y="1030346"/>
                <a:ext cx="311417" cy="311417"/>
              </a:xfrm>
              <a:prstGeom prst="rect">
                <a:avLst/>
              </a:prstGeom>
            </p:spPr>
          </p:pic>
          <p:grpSp>
            <p:nvGrpSpPr>
              <p:cNvPr id="130" name="Group 129">
                <a:extLst>
                  <a:ext uri="{FF2B5EF4-FFF2-40B4-BE49-F238E27FC236}">
                    <a16:creationId xmlns:a16="http://schemas.microsoft.com/office/drawing/2014/main" id="{EE88A95D-A0B5-38BB-7827-A481B68D9448}"/>
                  </a:ext>
                </a:extLst>
              </p:cNvPr>
              <p:cNvGrpSpPr/>
              <p:nvPr/>
            </p:nvGrpSpPr>
            <p:grpSpPr>
              <a:xfrm>
                <a:off x="4065519" y="1294140"/>
                <a:ext cx="1379971" cy="838923"/>
                <a:chOff x="8184668" y="2235922"/>
                <a:chExt cx="1379971" cy="838923"/>
              </a:xfrm>
            </p:grpSpPr>
            <p:sp>
              <p:nvSpPr>
                <p:cNvPr id="128" name="Rectangle 127">
                  <a:extLst>
                    <a:ext uri="{FF2B5EF4-FFF2-40B4-BE49-F238E27FC236}">
                      <a16:creationId xmlns:a16="http://schemas.microsoft.com/office/drawing/2014/main" id="{9B31295C-7AFA-A83B-5402-E55348F7BA67}"/>
                    </a:ext>
                  </a:extLst>
                </p:cNvPr>
                <p:cNvSpPr/>
                <p:nvPr/>
              </p:nvSpPr>
              <p:spPr bwMode="auto">
                <a:xfrm>
                  <a:off x="8184668" y="2437033"/>
                  <a:ext cx="816070" cy="396112"/>
                </a:xfrm>
                <a:prstGeom prst="rect">
                  <a:avLst/>
                </a:prstGeom>
                <a:gradFill>
                  <a:gsLst>
                    <a:gs pos="0">
                      <a:srgbClr val="E3E3E3">
                        <a:alpha val="55000"/>
                      </a:srgbClr>
                    </a:gs>
                    <a:gs pos="100000">
                      <a:srgbClr val="E3E3E3"/>
                    </a:gs>
                  </a:gsLst>
                  <a:lin ang="0" scaled="0"/>
                </a:gradFill>
                <a:ln w="2540">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27" name="Group 126">
                  <a:extLst>
                    <a:ext uri="{FF2B5EF4-FFF2-40B4-BE49-F238E27FC236}">
                      <a16:creationId xmlns:a16="http://schemas.microsoft.com/office/drawing/2014/main" id="{2869D862-BA05-B4A6-204D-7B4C895F3BC1}"/>
                    </a:ext>
                  </a:extLst>
                </p:cNvPr>
                <p:cNvGrpSpPr/>
                <p:nvPr/>
              </p:nvGrpSpPr>
              <p:grpSpPr>
                <a:xfrm>
                  <a:off x="8233492" y="2235922"/>
                  <a:ext cx="1331147" cy="838923"/>
                  <a:chOff x="8695830" y="2684363"/>
                  <a:chExt cx="1331147" cy="838923"/>
                </a:xfrm>
              </p:grpSpPr>
              <p:pic>
                <p:nvPicPr>
                  <p:cNvPr id="125" name="Graphic 124">
                    <a:extLst>
                      <a:ext uri="{FF2B5EF4-FFF2-40B4-BE49-F238E27FC236}">
                        <a16:creationId xmlns:a16="http://schemas.microsoft.com/office/drawing/2014/main" id="{A80F6011-F3A7-2388-0C80-F329618B9D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95830" y="2898640"/>
                    <a:ext cx="314813" cy="314813"/>
                  </a:xfrm>
                  <a:prstGeom prst="rect">
                    <a:avLst/>
                  </a:prstGeom>
                </p:spPr>
              </p:pic>
              <p:sp>
                <p:nvSpPr>
                  <p:cNvPr id="126" name="Rectangle 125">
                    <a:extLst>
                      <a:ext uri="{FF2B5EF4-FFF2-40B4-BE49-F238E27FC236}">
                        <a16:creationId xmlns:a16="http://schemas.microsoft.com/office/drawing/2014/main" id="{8EE9FA06-EB8A-7FCC-41BA-68684EB94948}"/>
                      </a:ext>
                    </a:extLst>
                  </p:cNvPr>
                  <p:cNvSpPr/>
                  <p:nvPr/>
                </p:nvSpPr>
                <p:spPr bwMode="auto">
                  <a:xfrm>
                    <a:off x="8792688" y="2684363"/>
                    <a:ext cx="1234289" cy="83892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&lt; </a:t>
                    </a:r>
                    <a:r>
                      <a:rPr lang="en-US" sz="800" b="1">
                        <a:solidFill>
                          <a:srgbClr val="7030A0"/>
                        </a:solidFill>
                        <a:latin typeface="Cascadia Code" panose="020B0609020000020004" pitchFamily="49" charset="0"/>
                        <a:ea typeface="Segoe UI" pitchFamily="34" charset="0"/>
                        <a:cs typeface="Cascadia Code" panose="020B0609020000020004" pitchFamily="49" charset="0"/>
                      </a:rPr>
                      <a:t>1</a:t>
                    </a: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 sec</a:t>
                    </a:r>
                  </a:p>
                </p:txBody>
              </p:sp>
            </p:grpSp>
          </p:grpSp>
          <p:cxnSp>
            <p:nvCxnSpPr>
              <p:cNvPr id="137" name="Straight Arrow Connector 136">
                <a:extLst>
                  <a:ext uri="{FF2B5EF4-FFF2-40B4-BE49-F238E27FC236}">
                    <a16:creationId xmlns:a16="http://schemas.microsoft.com/office/drawing/2014/main" id="{04B03857-F5D1-8BA7-AA98-AD5F384744F2}"/>
                  </a:ext>
                </a:extLst>
              </p:cNvPr>
              <p:cNvCxnSpPr>
                <a:cxnSpLocks/>
                <a:stCxn id="103" idx="3"/>
                <a:endCxn id="136" idx="1"/>
              </p:cNvCxnSpPr>
              <p:nvPr/>
            </p:nvCxnSpPr>
            <p:spPr>
              <a:xfrm>
                <a:off x="4461447" y="1177326"/>
                <a:ext cx="617750" cy="691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51" name="Graphic 150">
                <a:extLst>
                  <a:ext uri="{FF2B5EF4-FFF2-40B4-BE49-F238E27FC236}">
                    <a16:creationId xmlns:a16="http://schemas.microsoft.com/office/drawing/2014/main" id="{C3676F9D-891D-10F6-B8B2-C45226DF72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680556" y="1081324"/>
                <a:ext cx="227351" cy="227351"/>
              </a:xfrm>
              <a:prstGeom prst="rect">
                <a:avLst/>
              </a:prstGeom>
            </p:spPr>
          </p:pic>
        </p:grpSp>
        <p:sp>
          <p:nvSpPr>
            <p:cNvPr id="63" name="Rectangle 62">
              <a:extLst>
                <a:ext uri="{FF2B5EF4-FFF2-40B4-BE49-F238E27FC236}">
                  <a16:creationId xmlns:a16="http://schemas.microsoft.com/office/drawing/2014/main" id="{1E66CD39-7D4E-38FF-0E38-AAFA752E382F}"/>
                </a:ext>
              </a:extLst>
            </p:cNvPr>
            <p:cNvSpPr/>
            <p:nvPr/>
          </p:nvSpPr>
          <p:spPr bwMode="auto">
            <a:xfrm>
              <a:off x="0" y="1"/>
              <a:ext cx="12168013" cy="6858000"/>
            </a:xfrm>
            <a:prstGeom prst="rect">
              <a:avLst/>
            </a:prstGeom>
            <a:gradFill>
              <a:gsLst>
                <a:gs pos="0">
                  <a:srgbClr val="F7FDFD">
                    <a:alpha val="90000"/>
                  </a:srgbClr>
                </a:gs>
                <a:gs pos="100000">
                  <a:srgbClr val="EEEEF5">
                    <a:alpha val="90000"/>
                  </a:srgbClr>
                </a:gs>
              </a:gsLst>
              <a:lin ang="189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Rounded Corners 3">
              <a:extLst>
                <a:ext uri="{FF2B5EF4-FFF2-40B4-BE49-F238E27FC236}">
                  <a16:creationId xmlns:a16="http://schemas.microsoft.com/office/drawing/2014/main" id="{2CB1B2DC-DAED-C693-6DF0-E08B00C1D254}"/>
                </a:ext>
              </a:extLst>
            </p:cNvPr>
            <p:cNvSpPr/>
            <p:nvPr/>
          </p:nvSpPr>
          <p:spPr bwMode="auto">
            <a:xfrm>
              <a:off x="438832" y="828884"/>
              <a:ext cx="2615515" cy="818538"/>
            </a:xfrm>
            <a:prstGeom prst="roundRect">
              <a:avLst>
                <a:gd name="adj" fmla="val 5438"/>
              </a:avLst>
            </a:prstGeom>
            <a:solidFill>
              <a:schemeClr val="bg1">
                <a:alpha val="54000"/>
              </a:schemeClr>
            </a:solidFill>
            <a:ln w="3175">
              <a:solidFill>
                <a:schemeClr val="tx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4" name="Rectangle: Rounded Corners 133">
              <a:extLst>
                <a:ext uri="{FF2B5EF4-FFF2-40B4-BE49-F238E27FC236}">
                  <a16:creationId xmlns:a16="http://schemas.microsoft.com/office/drawing/2014/main" id="{7CB38397-CE04-8052-DA74-3C7004E7AF10}"/>
                </a:ext>
              </a:extLst>
            </p:cNvPr>
            <p:cNvSpPr/>
            <p:nvPr/>
          </p:nvSpPr>
          <p:spPr bwMode="auto">
            <a:xfrm>
              <a:off x="551794" y="1029058"/>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2" name="Rectangle: Rounded Corners 131">
              <a:extLst>
                <a:ext uri="{FF2B5EF4-FFF2-40B4-BE49-F238E27FC236}">
                  <a16:creationId xmlns:a16="http://schemas.microsoft.com/office/drawing/2014/main" id="{79747E35-4B28-61B6-D834-1B60405EEA03}"/>
                </a:ext>
              </a:extLst>
            </p:cNvPr>
            <p:cNvSpPr/>
            <p:nvPr/>
          </p:nvSpPr>
          <p:spPr bwMode="auto">
            <a:xfrm>
              <a:off x="481069" y="944860"/>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1" name="Rectangle: Rounded Corners 100">
              <a:extLst>
                <a:ext uri="{FF2B5EF4-FFF2-40B4-BE49-F238E27FC236}">
                  <a16:creationId xmlns:a16="http://schemas.microsoft.com/office/drawing/2014/main" id="{80D27750-FB3C-6838-579C-BFF5B5117211}"/>
                </a:ext>
              </a:extLst>
            </p:cNvPr>
            <p:cNvSpPr/>
            <p:nvPr/>
          </p:nvSpPr>
          <p:spPr bwMode="auto">
            <a:xfrm>
              <a:off x="1971631" y="945932"/>
              <a:ext cx="1010922"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Rectangle 36">
              <a:extLst>
                <a:ext uri="{FF2B5EF4-FFF2-40B4-BE49-F238E27FC236}">
                  <a16:creationId xmlns:a16="http://schemas.microsoft.com/office/drawing/2014/main" id="{50FE1B41-EC9E-81C0-E3DC-22242E6E4396}"/>
                </a:ext>
              </a:extLst>
            </p:cNvPr>
            <p:cNvSpPr/>
            <p:nvPr/>
          </p:nvSpPr>
          <p:spPr bwMode="auto">
            <a:xfrm>
              <a:off x="696187" y="920611"/>
              <a:ext cx="93972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pic>
          <p:nvPicPr>
            <p:cNvPr id="10" name="Event Hubs" descr="Event Hubs">
              <a:extLst>
                <a:ext uri="{FF2B5EF4-FFF2-40B4-BE49-F238E27FC236}">
                  <a16:creationId xmlns:a16="http://schemas.microsoft.com/office/drawing/2014/main" id="{11515215-0A99-2732-04C6-4C7866437FE0}"/>
                </a:ext>
              </a:extLst>
            </p:cNvPr>
            <p:cNvPicPr>
              <a:picLocks noChangeAspect="1"/>
            </p:cNvPicPr>
            <p:nvPr/>
          </p:nvPicPr>
          <p:blipFill>
            <a:blip r:embed="rId10"/>
            <a:stretch>
              <a:fillRect/>
            </a:stretch>
          </p:blipFill>
          <p:spPr>
            <a:xfrm>
              <a:off x="2028502" y="1088583"/>
              <a:ext cx="233868" cy="246263"/>
            </a:xfrm>
            <a:prstGeom prst="rect">
              <a:avLst/>
            </a:prstGeom>
          </p:spPr>
        </p:pic>
        <p:pic>
          <p:nvPicPr>
            <p:cNvPr id="31" name="Graphic 30">
              <a:extLst>
                <a:ext uri="{FF2B5EF4-FFF2-40B4-BE49-F238E27FC236}">
                  <a16:creationId xmlns:a16="http://schemas.microsoft.com/office/drawing/2014/main" id="{991CEFF1-2B7E-8AD5-4E6D-5C0FFA4C46A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6630" y="1060542"/>
              <a:ext cx="262697" cy="262697"/>
            </a:xfrm>
            <a:prstGeom prst="rect">
              <a:avLst/>
            </a:prstGeom>
          </p:spPr>
        </p:pic>
        <p:cxnSp>
          <p:nvCxnSpPr>
            <p:cNvPr id="106" name="Straight Arrow Connector 105">
              <a:extLst>
                <a:ext uri="{FF2B5EF4-FFF2-40B4-BE49-F238E27FC236}">
                  <a16:creationId xmlns:a16="http://schemas.microsoft.com/office/drawing/2014/main" id="{711AE33D-0063-C814-BA9C-9E5F4350F8D9}"/>
                </a:ext>
              </a:extLst>
            </p:cNvPr>
            <p:cNvCxnSpPr>
              <a:cxnSpLocks/>
              <a:stCxn id="132" idx="3"/>
              <a:endCxn id="101" idx="1"/>
            </p:cNvCxnSpPr>
            <p:nvPr/>
          </p:nvCxnSpPr>
          <p:spPr>
            <a:xfrm>
              <a:off x="1530369" y="1203478"/>
              <a:ext cx="441262" cy="10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09" name="Graphic 108">
              <a:extLst>
                <a:ext uri="{FF2B5EF4-FFF2-40B4-BE49-F238E27FC236}">
                  <a16:creationId xmlns:a16="http://schemas.microsoft.com/office/drawing/2014/main" id="{695B9385-F3A7-6311-A0F2-025D5562579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594266" y="1100932"/>
              <a:ext cx="229481" cy="229481"/>
            </a:xfrm>
            <a:prstGeom prst="rect">
              <a:avLst/>
            </a:prstGeom>
          </p:spPr>
        </p:pic>
        <p:cxnSp>
          <p:nvCxnSpPr>
            <p:cNvPr id="9" name="Straight Connector 8">
              <a:extLst>
                <a:ext uri="{FF2B5EF4-FFF2-40B4-BE49-F238E27FC236}">
                  <a16:creationId xmlns:a16="http://schemas.microsoft.com/office/drawing/2014/main" id="{7320CD59-A8C3-05C1-723D-94ABD04DE6A2}"/>
                </a:ext>
              </a:extLst>
            </p:cNvPr>
            <p:cNvCxnSpPr>
              <a:cxnSpLocks/>
            </p:cNvCxnSpPr>
            <p:nvPr/>
          </p:nvCxnSpPr>
          <p:spPr>
            <a:xfrm>
              <a:off x="463391" y="856609"/>
              <a:ext cx="164525" cy="1402259"/>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3D6AAE-C027-5CD8-E7B2-C94AD1224F3B}"/>
                </a:ext>
              </a:extLst>
            </p:cNvPr>
            <p:cNvCxnSpPr>
              <a:cxnSpLocks/>
            </p:cNvCxnSpPr>
            <p:nvPr/>
          </p:nvCxnSpPr>
          <p:spPr>
            <a:xfrm>
              <a:off x="3039424" y="872163"/>
              <a:ext cx="8671507" cy="1287538"/>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B2E19C7-CB89-EBD2-230C-66EF28FC0307}"/>
                </a:ext>
              </a:extLst>
            </p:cNvPr>
            <p:cNvSpPr/>
            <p:nvPr/>
          </p:nvSpPr>
          <p:spPr bwMode="auto">
            <a:xfrm>
              <a:off x="23987" y="42930"/>
              <a:ext cx="6709319"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mj-lt"/>
                  <a:ea typeface="Segoe UI" pitchFamily="34" charset="0"/>
                  <a:cs typeface="Cascadia Code" panose="020B0609020000020004" pitchFamily="49" charset="0"/>
                </a:rPr>
                <a:t>Ingestion into concurrent buffer: Event Hub</a:t>
              </a:r>
            </a:p>
          </p:txBody>
        </p:sp>
        <p:cxnSp>
          <p:nvCxnSpPr>
            <p:cNvPr id="117" name="Straight Connector 116">
              <a:extLst>
                <a:ext uri="{FF2B5EF4-FFF2-40B4-BE49-F238E27FC236}">
                  <a16:creationId xmlns:a16="http://schemas.microsoft.com/office/drawing/2014/main" id="{45A1A2B4-45AC-A95B-3A6F-016F13395F1D}"/>
                </a:ext>
              </a:extLst>
            </p:cNvPr>
            <p:cNvCxnSpPr>
              <a:cxnSpLocks/>
            </p:cNvCxnSpPr>
            <p:nvPr/>
          </p:nvCxnSpPr>
          <p:spPr>
            <a:xfrm>
              <a:off x="459182" y="1647422"/>
              <a:ext cx="166528" cy="4150036"/>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7918540F-1F0C-F52E-B5C6-A7A0997A32DD}"/>
                </a:ext>
              </a:extLst>
            </p:cNvPr>
            <p:cNvCxnSpPr>
              <a:cxnSpLocks/>
            </p:cNvCxnSpPr>
            <p:nvPr/>
          </p:nvCxnSpPr>
          <p:spPr>
            <a:xfrm>
              <a:off x="3054347" y="1633962"/>
              <a:ext cx="8698821" cy="4191165"/>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84" name="Group 583">
              <a:extLst>
                <a:ext uri="{FF2B5EF4-FFF2-40B4-BE49-F238E27FC236}">
                  <a16:creationId xmlns:a16="http://schemas.microsoft.com/office/drawing/2014/main" id="{41DD0962-7133-9E3D-85C4-5732E6D7C998}"/>
                </a:ext>
              </a:extLst>
            </p:cNvPr>
            <p:cNvGrpSpPr/>
            <p:nvPr/>
          </p:nvGrpSpPr>
          <p:grpSpPr>
            <a:xfrm>
              <a:off x="606856" y="2172331"/>
              <a:ext cx="11342496" cy="3665425"/>
              <a:chOff x="13777361" y="1942788"/>
              <a:chExt cx="11342496" cy="3665425"/>
            </a:xfrm>
          </p:grpSpPr>
          <p:sp>
            <p:nvSpPr>
              <p:cNvPr id="6" name="Rectangle: Rounded Corners 5">
                <a:extLst>
                  <a:ext uri="{FF2B5EF4-FFF2-40B4-BE49-F238E27FC236}">
                    <a16:creationId xmlns:a16="http://schemas.microsoft.com/office/drawing/2014/main" id="{C079A19A-31B0-CE23-7B79-D06EF8026A9E}"/>
                  </a:ext>
                </a:extLst>
              </p:cNvPr>
              <p:cNvSpPr/>
              <p:nvPr/>
            </p:nvSpPr>
            <p:spPr bwMode="auto">
              <a:xfrm>
                <a:off x="13777361" y="1942788"/>
                <a:ext cx="11161196" cy="3665425"/>
              </a:xfrm>
              <a:prstGeom prst="roundRect">
                <a:avLst>
                  <a:gd name="adj" fmla="val 2093"/>
                </a:avLst>
              </a:prstGeom>
              <a:solidFill>
                <a:schemeClr val="bg1"/>
              </a:solidFill>
              <a:ln w="3175">
                <a:solidFill>
                  <a:schemeClr val="tx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5" name="Picture 24">
                <a:extLst>
                  <a:ext uri="{FF2B5EF4-FFF2-40B4-BE49-F238E27FC236}">
                    <a16:creationId xmlns:a16="http://schemas.microsoft.com/office/drawing/2014/main" id="{5C6A2AE6-6BC6-9357-D584-96C6C78852E9}"/>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13970081" y="2757824"/>
                <a:ext cx="3662796" cy="2631615"/>
              </a:xfrm>
              <a:prstGeom prst="rect">
                <a:avLst/>
              </a:prstGeom>
              <a:ln w="3175">
                <a:solidFill>
                  <a:schemeClr val="tx1">
                    <a:lumMod val="75000"/>
                  </a:schemeClr>
                </a:solidFill>
                <a:prstDash val="dash"/>
              </a:ln>
            </p:spPr>
          </p:pic>
          <p:cxnSp>
            <p:nvCxnSpPr>
              <p:cNvPr id="28" name="Straight Arrow Connector 27">
                <a:extLst>
                  <a:ext uri="{FF2B5EF4-FFF2-40B4-BE49-F238E27FC236}">
                    <a16:creationId xmlns:a16="http://schemas.microsoft.com/office/drawing/2014/main" id="{A5CCACC2-A476-2794-31D0-42E4A1CE2E54}"/>
                  </a:ext>
                </a:extLst>
              </p:cNvPr>
              <p:cNvCxnSpPr>
                <a:cxnSpLocks/>
              </p:cNvCxnSpPr>
              <p:nvPr/>
            </p:nvCxnSpPr>
            <p:spPr>
              <a:xfrm>
                <a:off x="17432470" y="3202123"/>
                <a:ext cx="2764227" cy="0"/>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36" name="Straight Arrow Connector 35">
                <a:extLst>
                  <a:ext uri="{FF2B5EF4-FFF2-40B4-BE49-F238E27FC236}">
                    <a16:creationId xmlns:a16="http://schemas.microsoft.com/office/drawing/2014/main" id="{2779FF15-3799-A327-C1E2-4FA53BED3F43}"/>
                  </a:ext>
                </a:extLst>
              </p:cNvPr>
              <p:cNvCxnSpPr>
                <a:cxnSpLocks/>
              </p:cNvCxnSpPr>
              <p:nvPr/>
            </p:nvCxnSpPr>
            <p:spPr>
              <a:xfrm>
                <a:off x="17432470" y="5176973"/>
                <a:ext cx="2764227" cy="0"/>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39" name="Graphic 38">
                <a:extLst>
                  <a:ext uri="{FF2B5EF4-FFF2-40B4-BE49-F238E27FC236}">
                    <a16:creationId xmlns:a16="http://schemas.microsoft.com/office/drawing/2014/main" id="{1C042BBB-B532-30BB-2879-5A889309684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6455639" y="3594304"/>
                <a:ext cx="229481" cy="229481"/>
              </a:xfrm>
              <a:prstGeom prst="rect">
                <a:avLst/>
              </a:prstGeom>
            </p:spPr>
          </p:pic>
          <p:sp>
            <p:nvSpPr>
              <p:cNvPr id="40" name="Right Brace 39">
                <a:extLst>
                  <a:ext uri="{FF2B5EF4-FFF2-40B4-BE49-F238E27FC236}">
                    <a16:creationId xmlns:a16="http://schemas.microsoft.com/office/drawing/2014/main" id="{A2AF551F-65EF-B115-BA94-A3CADE58E329}"/>
                  </a:ext>
                </a:extLst>
              </p:cNvPr>
              <p:cNvSpPr/>
              <p:nvPr/>
            </p:nvSpPr>
            <p:spPr>
              <a:xfrm>
                <a:off x="16261417" y="3361604"/>
                <a:ext cx="190637" cy="647250"/>
              </a:xfrm>
              <a:prstGeom prst="rightBrac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1" name="Rectangle 40">
                <a:extLst>
                  <a:ext uri="{FF2B5EF4-FFF2-40B4-BE49-F238E27FC236}">
                    <a16:creationId xmlns:a16="http://schemas.microsoft.com/office/drawing/2014/main" id="{18727299-23DC-F75A-DDF4-11CD7F2B0F0E}"/>
                  </a:ext>
                </a:extLst>
              </p:cNvPr>
              <p:cNvSpPr/>
              <p:nvPr/>
            </p:nvSpPr>
            <p:spPr bwMode="auto">
              <a:xfrm>
                <a:off x="16565163" y="3430302"/>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Heartbeat payload</a:t>
                </a:r>
              </a:p>
            </p:txBody>
          </p:sp>
          <p:sp>
            <p:nvSpPr>
              <p:cNvPr id="42" name="Rectangle 41">
                <a:extLst>
                  <a:ext uri="{FF2B5EF4-FFF2-40B4-BE49-F238E27FC236}">
                    <a16:creationId xmlns:a16="http://schemas.microsoft.com/office/drawing/2014/main" id="{7D066DF1-A643-9662-5638-1BDF60020DB0}"/>
                  </a:ext>
                </a:extLst>
              </p:cNvPr>
              <p:cNvSpPr/>
              <p:nvPr/>
            </p:nvSpPr>
            <p:spPr bwMode="auto">
              <a:xfrm>
                <a:off x="17716942" y="2528872"/>
                <a:ext cx="2381972" cy="7083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Events flow concurrently from each writer into Event Hub FQDN</a:t>
                </a:r>
              </a:p>
            </p:txBody>
          </p:sp>
          <p:sp>
            <p:nvSpPr>
              <p:cNvPr id="43" name="Rectangle: Rounded Corners 42">
                <a:extLst>
                  <a:ext uri="{FF2B5EF4-FFF2-40B4-BE49-F238E27FC236}">
                    <a16:creationId xmlns:a16="http://schemas.microsoft.com/office/drawing/2014/main" id="{BB335055-5D0F-3E13-CEDF-EA369B5C21C4}"/>
                  </a:ext>
                </a:extLst>
              </p:cNvPr>
              <p:cNvSpPr/>
              <p:nvPr/>
            </p:nvSpPr>
            <p:spPr bwMode="auto">
              <a:xfrm>
                <a:off x="20300090" y="2790619"/>
                <a:ext cx="3235038" cy="2598820"/>
              </a:xfrm>
              <a:prstGeom prst="roundRect">
                <a:avLst>
                  <a:gd name="adj" fmla="val 1284"/>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4" name="Event Hubs" descr="Event Hubs">
                <a:extLst>
                  <a:ext uri="{FF2B5EF4-FFF2-40B4-BE49-F238E27FC236}">
                    <a16:creationId xmlns:a16="http://schemas.microsoft.com/office/drawing/2014/main" id="{90B7D388-1F8E-112C-ADA0-A618732C1D80}"/>
                  </a:ext>
                </a:extLst>
              </p:cNvPr>
              <p:cNvPicPr>
                <a:picLocks noChangeAspect="1"/>
              </p:cNvPicPr>
              <p:nvPr/>
            </p:nvPicPr>
            <p:blipFill>
              <a:blip r:embed="rId10"/>
              <a:stretch>
                <a:fillRect/>
              </a:stretch>
            </p:blipFill>
            <p:spPr>
              <a:xfrm>
                <a:off x="20401449" y="2893170"/>
                <a:ext cx="233868" cy="246263"/>
              </a:xfrm>
              <a:prstGeom prst="rect">
                <a:avLst/>
              </a:prstGeom>
            </p:spPr>
          </p:pic>
          <p:sp>
            <p:nvSpPr>
              <p:cNvPr id="45" name="Rectangle 44">
                <a:extLst>
                  <a:ext uri="{FF2B5EF4-FFF2-40B4-BE49-F238E27FC236}">
                    <a16:creationId xmlns:a16="http://schemas.microsoft.com/office/drawing/2014/main" id="{D139E295-8224-D556-9B0C-329EED70F048}"/>
                  </a:ext>
                </a:extLst>
              </p:cNvPr>
              <p:cNvSpPr/>
              <p:nvPr/>
            </p:nvSpPr>
            <p:spPr bwMode="auto">
              <a:xfrm>
                <a:off x="20515172" y="2731252"/>
                <a:ext cx="3148342"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10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Append only, concurrent buffer</a:t>
                </a:r>
                <a:endParaRPr kumimoji="0" lang="en-US" sz="100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46" name="Rectangle: Rounded Corners 45">
                <a:extLst>
                  <a:ext uri="{FF2B5EF4-FFF2-40B4-BE49-F238E27FC236}">
                    <a16:creationId xmlns:a16="http://schemas.microsoft.com/office/drawing/2014/main" id="{8C23613E-DE7A-52EA-56B6-3F7332FB9B8D}"/>
                  </a:ext>
                </a:extLst>
              </p:cNvPr>
              <p:cNvSpPr/>
              <p:nvPr/>
            </p:nvSpPr>
            <p:spPr bwMode="auto">
              <a:xfrm>
                <a:off x="20415686" y="3282575"/>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47" name="Rectangle: Rounded Corners 46">
                <a:extLst>
                  <a:ext uri="{FF2B5EF4-FFF2-40B4-BE49-F238E27FC236}">
                    <a16:creationId xmlns:a16="http://schemas.microsoft.com/office/drawing/2014/main" id="{B7067719-BF98-E21D-2CC7-7A123D103B5A}"/>
                  </a:ext>
                </a:extLst>
              </p:cNvPr>
              <p:cNvSpPr/>
              <p:nvPr/>
            </p:nvSpPr>
            <p:spPr bwMode="auto">
              <a:xfrm>
                <a:off x="20415686" y="3839569"/>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49" name="Rectangle: Rounded Corners 48">
                <a:extLst>
                  <a:ext uri="{FF2B5EF4-FFF2-40B4-BE49-F238E27FC236}">
                    <a16:creationId xmlns:a16="http://schemas.microsoft.com/office/drawing/2014/main" id="{0A7113C1-D824-C8B5-E3A1-4A2A8FFDF5E4}"/>
                  </a:ext>
                </a:extLst>
              </p:cNvPr>
              <p:cNvSpPr/>
              <p:nvPr/>
            </p:nvSpPr>
            <p:spPr bwMode="auto">
              <a:xfrm>
                <a:off x="20415686" y="4372420"/>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0" name="Rectangle: Rounded Corners 49">
                <a:extLst>
                  <a:ext uri="{FF2B5EF4-FFF2-40B4-BE49-F238E27FC236}">
                    <a16:creationId xmlns:a16="http://schemas.microsoft.com/office/drawing/2014/main" id="{95DE3A61-778B-7152-7FA9-545215E13D7F}"/>
                  </a:ext>
                </a:extLst>
              </p:cNvPr>
              <p:cNvSpPr/>
              <p:nvPr/>
            </p:nvSpPr>
            <p:spPr bwMode="auto">
              <a:xfrm>
                <a:off x="20415686" y="4891192"/>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1" name="Rectangle: Rounded Corners 50">
                <a:extLst>
                  <a:ext uri="{FF2B5EF4-FFF2-40B4-BE49-F238E27FC236}">
                    <a16:creationId xmlns:a16="http://schemas.microsoft.com/office/drawing/2014/main" id="{F9E3AB42-7CFD-BF15-805C-D0BB592F8B5B}"/>
                  </a:ext>
                </a:extLst>
              </p:cNvPr>
              <p:cNvSpPr/>
              <p:nvPr/>
            </p:nvSpPr>
            <p:spPr bwMode="auto">
              <a:xfrm>
                <a:off x="20489864"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2" name="Rectangle: Rounded Corners 51">
                <a:extLst>
                  <a:ext uri="{FF2B5EF4-FFF2-40B4-BE49-F238E27FC236}">
                    <a16:creationId xmlns:a16="http://schemas.microsoft.com/office/drawing/2014/main" id="{480D40B9-C61B-61F3-2760-186BF49CCBFA}"/>
                  </a:ext>
                </a:extLst>
              </p:cNvPr>
              <p:cNvSpPr/>
              <p:nvPr/>
            </p:nvSpPr>
            <p:spPr bwMode="auto">
              <a:xfrm>
                <a:off x="20658824"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3" name="Rectangle: Rounded Corners 52">
                <a:extLst>
                  <a:ext uri="{FF2B5EF4-FFF2-40B4-BE49-F238E27FC236}">
                    <a16:creationId xmlns:a16="http://schemas.microsoft.com/office/drawing/2014/main" id="{F9D4B2D7-3481-8B18-794E-81ECFD8C046C}"/>
                  </a:ext>
                </a:extLst>
              </p:cNvPr>
              <p:cNvSpPr/>
              <p:nvPr/>
            </p:nvSpPr>
            <p:spPr bwMode="auto">
              <a:xfrm>
                <a:off x="20827784"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4" name="Rectangle: Rounded Corners 53">
                <a:extLst>
                  <a:ext uri="{FF2B5EF4-FFF2-40B4-BE49-F238E27FC236}">
                    <a16:creationId xmlns:a16="http://schemas.microsoft.com/office/drawing/2014/main" id="{51470F1C-548D-A18B-99C5-DAF78BEA38E1}"/>
                  </a:ext>
                </a:extLst>
              </p:cNvPr>
              <p:cNvSpPr/>
              <p:nvPr/>
            </p:nvSpPr>
            <p:spPr bwMode="auto">
              <a:xfrm>
                <a:off x="20996744"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5" name="Rectangle: Rounded Corners 54">
                <a:extLst>
                  <a:ext uri="{FF2B5EF4-FFF2-40B4-BE49-F238E27FC236}">
                    <a16:creationId xmlns:a16="http://schemas.microsoft.com/office/drawing/2014/main" id="{E03AA039-2FDD-97EE-7A11-598906725C2D}"/>
                  </a:ext>
                </a:extLst>
              </p:cNvPr>
              <p:cNvSpPr/>
              <p:nvPr/>
            </p:nvSpPr>
            <p:spPr bwMode="auto">
              <a:xfrm>
                <a:off x="21165704"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6" name="Rectangle: Rounded Corners 55">
                <a:extLst>
                  <a:ext uri="{FF2B5EF4-FFF2-40B4-BE49-F238E27FC236}">
                    <a16:creationId xmlns:a16="http://schemas.microsoft.com/office/drawing/2014/main" id="{565E493C-605F-F9D5-9C66-D7F5D0282041}"/>
                  </a:ext>
                </a:extLst>
              </p:cNvPr>
              <p:cNvSpPr/>
              <p:nvPr/>
            </p:nvSpPr>
            <p:spPr bwMode="auto">
              <a:xfrm>
                <a:off x="21334664"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8" name="Rectangle: Rounded Corners 57">
                <a:extLst>
                  <a:ext uri="{FF2B5EF4-FFF2-40B4-BE49-F238E27FC236}">
                    <a16:creationId xmlns:a16="http://schemas.microsoft.com/office/drawing/2014/main" id="{FFE0424D-EED4-D33D-B0D3-8D25D9752B64}"/>
                  </a:ext>
                </a:extLst>
              </p:cNvPr>
              <p:cNvSpPr/>
              <p:nvPr/>
            </p:nvSpPr>
            <p:spPr bwMode="auto">
              <a:xfrm>
                <a:off x="21503624"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9" name="Rectangle: Rounded Corners 58">
                <a:extLst>
                  <a:ext uri="{FF2B5EF4-FFF2-40B4-BE49-F238E27FC236}">
                    <a16:creationId xmlns:a16="http://schemas.microsoft.com/office/drawing/2014/main" id="{AB9E34E9-409C-EBED-C04C-ACC728A1845E}"/>
                  </a:ext>
                </a:extLst>
              </p:cNvPr>
              <p:cNvSpPr/>
              <p:nvPr/>
            </p:nvSpPr>
            <p:spPr bwMode="auto">
              <a:xfrm>
                <a:off x="21672584"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0" name="Rectangle: Rounded Corners 59">
                <a:extLst>
                  <a:ext uri="{FF2B5EF4-FFF2-40B4-BE49-F238E27FC236}">
                    <a16:creationId xmlns:a16="http://schemas.microsoft.com/office/drawing/2014/main" id="{79D6E397-2F1A-56D6-7981-1CDE7571692F}"/>
                  </a:ext>
                </a:extLst>
              </p:cNvPr>
              <p:cNvSpPr/>
              <p:nvPr/>
            </p:nvSpPr>
            <p:spPr bwMode="auto">
              <a:xfrm>
                <a:off x="21841546" y="335973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 name="Rectangle: Rounded Corners 64">
                <a:extLst>
                  <a:ext uri="{FF2B5EF4-FFF2-40B4-BE49-F238E27FC236}">
                    <a16:creationId xmlns:a16="http://schemas.microsoft.com/office/drawing/2014/main" id="{6D3CBBAF-EEBF-C793-FB4E-FE2DC0814DED}"/>
                  </a:ext>
                </a:extLst>
              </p:cNvPr>
              <p:cNvSpPr/>
              <p:nvPr/>
            </p:nvSpPr>
            <p:spPr bwMode="auto">
              <a:xfrm>
                <a:off x="20495927"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 name="Rectangle: Rounded Corners 65">
                <a:extLst>
                  <a:ext uri="{FF2B5EF4-FFF2-40B4-BE49-F238E27FC236}">
                    <a16:creationId xmlns:a16="http://schemas.microsoft.com/office/drawing/2014/main" id="{7ED30CF7-52C1-9C4A-67AC-4CDCE8D2B02B}"/>
                  </a:ext>
                </a:extLst>
              </p:cNvPr>
              <p:cNvSpPr/>
              <p:nvPr/>
            </p:nvSpPr>
            <p:spPr bwMode="auto">
              <a:xfrm>
                <a:off x="20664887"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 name="Rectangle: Rounded Corners 66">
                <a:extLst>
                  <a:ext uri="{FF2B5EF4-FFF2-40B4-BE49-F238E27FC236}">
                    <a16:creationId xmlns:a16="http://schemas.microsoft.com/office/drawing/2014/main" id="{9D606EA4-7560-0341-42BB-3C33CB4C29C4}"/>
                  </a:ext>
                </a:extLst>
              </p:cNvPr>
              <p:cNvSpPr/>
              <p:nvPr/>
            </p:nvSpPr>
            <p:spPr bwMode="auto">
              <a:xfrm>
                <a:off x="20833847"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8" name="Rectangle: Rounded Corners 67">
                <a:extLst>
                  <a:ext uri="{FF2B5EF4-FFF2-40B4-BE49-F238E27FC236}">
                    <a16:creationId xmlns:a16="http://schemas.microsoft.com/office/drawing/2014/main" id="{19E74EC5-E640-A159-B04E-4ADBD1616DD6}"/>
                  </a:ext>
                </a:extLst>
              </p:cNvPr>
              <p:cNvSpPr/>
              <p:nvPr/>
            </p:nvSpPr>
            <p:spPr bwMode="auto">
              <a:xfrm>
                <a:off x="21002807"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2A071DED-72D0-73DD-7A16-5FAF827CB21B}"/>
                  </a:ext>
                </a:extLst>
              </p:cNvPr>
              <p:cNvSpPr/>
              <p:nvPr/>
            </p:nvSpPr>
            <p:spPr bwMode="auto">
              <a:xfrm>
                <a:off x="21171767"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6DD22321-3E32-824A-D3B5-D9D6007E5490}"/>
                  </a:ext>
                </a:extLst>
              </p:cNvPr>
              <p:cNvSpPr/>
              <p:nvPr/>
            </p:nvSpPr>
            <p:spPr bwMode="auto">
              <a:xfrm>
                <a:off x="21340727"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E5FC1699-A670-482A-D142-779AFF4FCA36}"/>
                  </a:ext>
                </a:extLst>
              </p:cNvPr>
              <p:cNvSpPr/>
              <p:nvPr/>
            </p:nvSpPr>
            <p:spPr bwMode="auto">
              <a:xfrm>
                <a:off x="21509687"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D9C2401-8B5E-62A3-A57F-59B6C181F758}"/>
                  </a:ext>
                </a:extLst>
              </p:cNvPr>
              <p:cNvSpPr/>
              <p:nvPr/>
            </p:nvSpPr>
            <p:spPr bwMode="auto">
              <a:xfrm>
                <a:off x="21678647"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130DC617-FD56-1F9B-F565-689DD3E36D32}"/>
                  </a:ext>
                </a:extLst>
              </p:cNvPr>
              <p:cNvSpPr/>
              <p:nvPr/>
            </p:nvSpPr>
            <p:spPr bwMode="auto">
              <a:xfrm>
                <a:off x="21847609" y="4441498"/>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74" name="Rectangle: Rounded Corners 73">
                <a:extLst>
                  <a:ext uri="{FF2B5EF4-FFF2-40B4-BE49-F238E27FC236}">
                    <a16:creationId xmlns:a16="http://schemas.microsoft.com/office/drawing/2014/main" id="{8ECE97B4-3714-6A19-0DD3-C352D5097F1D}"/>
                  </a:ext>
                </a:extLst>
              </p:cNvPr>
              <p:cNvSpPr/>
              <p:nvPr/>
            </p:nvSpPr>
            <p:spPr bwMode="auto">
              <a:xfrm>
                <a:off x="20489864"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75" name="Rectangle: Rounded Corners 74">
                <a:extLst>
                  <a:ext uri="{FF2B5EF4-FFF2-40B4-BE49-F238E27FC236}">
                    <a16:creationId xmlns:a16="http://schemas.microsoft.com/office/drawing/2014/main" id="{F374B544-CAF8-C8A6-280A-05A3B849A8F7}"/>
                  </a:ext>
                </a:extLst>
              </p:cNvPr>
              <p:cNvSpPr/>
              <p:nvPr/>
            </p:nvSpPr>
            <p:spPr bwMode="auto">
              <a:xfrm>
                <a:off x="20658824"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78" name="Rectangle: Rounded Corners 77">
                <a:extLst>
                  <a:ext uri="{FF2B5EF4-FFF2-40B4-BE49-F238E27FC236}">
                    <a16:creationId xmlns:a16="http://schemas.microsoft.com/office/drawing/2014/main" id="{3C9A29BB-17C9-0505-AAB2-062977A764FD}"/>
                  </a:ext>
                </a:extLst>
              </p:cNvPr>
              <p:cNvSpPr/>
              <p:nvPr/>
            </p:nvSpPr>
            <p:spPr bwMode="auto">
              <a:xfrm>
                <a:off x="20827784"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53081AC5-2A53-AE5D-EBEC-9C30A1E0A33D}"/>
                  </a:ext>
                </a:extLst>
              </p:cNvPr>
              <p:cNvSpPr/>
              <p:nvPr/>
            </p:nvSpPr>
            <p:spPr bwMode="auto">
              <a:xfrm>
                <a:off x="20996744"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802CF1F0-9E15-F9E8-5390-E96C08FCBC7E}"/>
                  </a:ext>
                </a:extLst>
              </p:cNvPr>
              <p:cNvSpPr/>
              <p:nvPr/>
            </p:nvSpPr>
            <p:spPr bwMode="auto">
              <a:xfrm>
                <a:off x="21165704"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94670E6A-BD71-70C9-83A1-1F167B53ED24}"/>
                  </a:ext>
                </a:extLst>
              </p:cNvPr>
              <p:cNvSpPr/>
              <p:nvPr/>
            </p:nvSpPr>
            <p:spPr bwMode="auto">
              <a:xfrm>
                <a:off x="21334664"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2" name="Rectangle: Rounded Corners 81">
                <a:extLst>
                  <a:ext uri="{FF2B5EF4-FFF2-40B4-BE49-F238E27FC236}">
                    <a16:creationId xmlns:a16="http://schemas.microsoft.com/office/drawing/2014/main" id="{0D0AE4EB-571C-BC90-244B-77421741D695}"/>
                  </a:ext>
                </a:extLst>
              </p:cNvPr>
              <p:cNvSpPr/>
              <p:nvPr/>
            </p:nvSpPr>
            <p:spPr bwMode="auto">
              <a:xfrm>
                <a:off x="21503624"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3" name="Rectangle: Rounded Corners 82">
                <a:extLst>
                  <a:ext uri="{FF2B5EF4-FFF2-40B4-BE49-F238E27FC236}">
                    <a16:creationId xmlns:a16="http://schemas.microsoft.com/office/drawing/2014/main" id="{191F4053-FE08-B169-93F2-B69D5D777C11}"/>
                  </a:ext>
                </a:extLst>
              </p:cNvPr>
              <p:cNvSpPr/>
              <p:nvPr/>
            </p:nvSpPr>
            <p:spPr bwMode="auto">
              <a:xfrm>
                <a:off x="21672584"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4" name="Rectangle: Rounded Corners 83">
                <a:extLst>
                  <a:ext uri="{FF2B5EF4-FFF2-40B4-BE49-F238E27FC236}">
                    <a16:creationId xmlns:a16="http://schemas.microsoft.com/office/drawing/2014/main" id="{ED69FEC8-1DF2-D32F-A234-B2689C3E81E6}"/>
                  </a:ext>
                </a:extLst>
              </p:cNvPr>
              <p:cNvSpPr/>
              <p:nvPr/>
            </p:nvSpPr>
            <p:spPr bwMode="auto">
              <a:xfrm>
                <a:off x="21841546"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6" name="Rectangle: Rounded Corners 85">
                <a:extLst>
                  <a:ext uri="{FF2B5EF4-FFF2-40B4-BE49-F238E27FC236}">
                    <a16:creationId xmlns:a16="http://schemas.microsoft.com/office/drawing/2014/main" id="{76DD93EB-A90F-EE31-90FC-B3D2E583CD8D}"/>
                  </a:ext>
                </a:extLst>
              </p:cNvPr>
              <p:cNvSpPr/>
              <p:nvPr/>
            </p:nvSpPr>
            <p:spPr bwMode="auto">
              <a:xfrm>
                <a:off x="22014799"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7" name="Rectangle: Rounded Corners 86">
                <a:extLst>
                  <a:ext uri="{FF2B5EF4-FFF2-40B4-BE49-F238E27FC236}">
                    <a16:creationId xmlns:a16="http://schemas.microsoft.com/office/drawing/2014/main" id="{CBA01FA3-533B-4CA8-77DF-247A235E3FC5}"/>
                  </a:ext>
                </a:extLst>
              </p:cNvPr>
              <p:cNvSpPr/>
              <p:nvPr/>
            </p:nvSpPr>
            <p:spPr bwMode="auto">
              <a:xfrm>
                <a:off x="22183759"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8" name="Rectangle: Rounded Corners 87">
                <a:extLst>
                  <a:ext uri="{FF2B5EF4-FFF2-40B4-BE49-F238E27FC236}">
                    <a16:creationId xmlns:a16="http://schemas.microsoft.com/office/drawing/2014/main" id="{93D14556-29F0-F65E-3975-A73609062261}"/>
                  </a:ext>
                </a:extLst>
              </p:cNvPr>
              <p:cNvSpPr/>
              <p:nvPr/>
            </p:nvSpPr>
            <p:spPr bwMode="auto">
              <a:xfrm>
                <a:off x="22352721" y="3914306"/>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3484B1F5-9942-E32A-62D1-3633E86F502F}"/>
                  </a:ext>
                </a:extLst>
              </p:cNvPr>
              <p:cNvSpPr/>
              <p:nvPr/>
            </p:nvSpPr>
            <p:spPr bwMode="auto">
              <a:xfrm>
                <a:off x="20510866" y="4955054"/>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90" name="Rectangle: Rounded Corners 89">
                <a:extLst>
                  <a:ext uri="{FF2B5EF4-FFF2-40B4-BE49-F238E27FC236}">
                    <a16:creationId xmlns:a16="http://schemas.microsoft.com/office/drawing/2014/main" id="{E8749D8D-1518-6B53-7158-85A063910D52}"/>
                  </a:ext>
                </a:extLst>
              </p:cNvPr>
              <p:cNvSpPr/>
              <p:nvPr/>
            </p:nvSpPr>
            <p:spPr bwMode="auto">
              <a:xfrm>
                <a:off x="20679826" y="4955054"/>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91" name="Rectangle: Rounded Corners 90">
                <a:extLst>
                  <a:ext uri="{FF2B5EF4-FFF2-40B4-BE49-F238E27FC236}">
                    <a16:creationId xmlns:a16="http://schemas.microsoft.com/office/drawing/2014/main" id="{513AA07A-1750-1BEC-8054-7708A80D21FF}"/>
                  </a:ext>
                </a:extLst>
              </p:cNvPr>
              <p:cNvSpPr/>
              <p:nvPr/>
            </p:nvSpPr>
            <p:spPr bwMode="auto">
              <a:xfrm>
                <a:off x="20848786" y="4955054"/>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93" name="Rectangle 92">
                <a:extLst>
                  <a:ext uri="{FF2B5EF4-FFF2-40B4-BE49-F238E27FC236}">
                    <a16:creationId xmlns:a16="http://schemas.microsoft.com/office/drawing/2014/main" id="{31E73942-D617-C1D0-BB91-BC62D6806912}"/>
                  </a:ext>
                </a:extLst>
              </p:cNvPr>
              <p:cNvSpPr/>
              <p:nvPr/>
            </p:nvSpPr>
            <p:spPr bwMode="auto">
              <a:xfrm>
                <a:off x="17722958" y="3225989"/>
                <a:ext cx="2381972" cy="131503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000">
                    <a:solidFill>
                      <a:srgbClr val="000000"/>
                    </a:solidFill>
                    <a:latin typeface="Cascadia Code" panose="020B0609020000020004" pitchFamily="49" charset="0"/>
                    <a:ea typeface="Segoe UI" pitchFamily="34" charset="0"/>
                    <a:cs typeface="Cascadia Code" panose="020B0609020000020004" pitchFamily="49" charset="0"/>
                  </a:rPr>
                  <a:t>Events are distributed based on:</a:t>
                </a:r>
                <a:br>
                  <a:rPr lang="en-US" sz="1000">
                    <a:solidFill>
                      <a:srgbClr val="000000"/>
                    </a:solidFill>
                    <a:latin typeface="Cascadia Code" panose="020B0609020000020004" pitchFamily="49" charset="0"/>
                    <a:ea typeface="Segoe UI" pitchFamily="34" charset="0"/>
                    <a:cs typeface="Cascadia Code" panose="020B0609020000020004" pitchFamily="49" charset="0"/>
                  </a:rPr>
                </a:br>
                <a:endParaRPr lang="en-US" sz="1000">
                  <a:solidFill>
                    <a:srgbClr val="000000"/>
                  </a:solidFill>
                  <a:latin typeface="Cascadia Code" panose="020B0609020000020004" pitchFamily="49" charset="0"/>
                  <a:ea typeface="Segoe UI" pitchFamily="34" charset="0"/>
                  <a:cs typeface="Cascadia Code" panose="020B0609020000020004" pitchFamily="49" charset="0"/>
                </a:endParaRPr>
              </a:p>
              <a:p>
                <a:pPr marL="228600" marR="0" lvl="0" indent="-228600" algn="l" defTabSz="932472" rtl="0" eaLnBrk="1" fontAlgn="base" latinLnBrk="0" hangingPunct="1">
                  <a:lnSpc>
                    <a:spcPct val="100000"/>
                  </a:lnSpc>
                  <a:spcBef>
                    <a:spcPct val="0"/>
                  </a:spcBef>
                  <a:spcAft>
                    <a:spcPct val="0"/>
                  </a:spcAft>
                  <a:buClrTx/>
                  <a:buSzTx/>
                  <a:buFontTx/>
                  <a:buAutoNum type="arabicPeriod"/>
                  <a:tabLst/>
                  <a:defRPr/>
                </a:pPr>
                <a:r>
                  <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Persistent key-based (hash and route)</a:t>
                </a:r>
              </a:p>
              <a:p>
                <a:pPr marL="228600" marR="0" lvl="0" indent="-228600" algn="l" defTabSz="932472" rtl="0" eaLnBrk="1" fontAlgn="base" latinLnBrk="0" hangingPunct="1">
                  <a:lnSpc>
                    <a:spcPct val="100000"/>
                  </a:lnSpc>
                  <a:spcBef>
                    <a:spcPct val="0"/>
                  </a:spcBef>
                  <a:spcAft>
                    <a:spcPct val="0"/>
                  </a:spcAft>
                  <a:buClrTx/>
                  <a:buSzTx/>
                  <a:buFontTx/>
                  <a:buAutoNum type="arabicPeriod"/>
                  <a:tabLst/>
                  <a:defRPr/>
                </a:pPr>
                <a:r>
                  <a:rPr lang="en-US" sz="1000">
                    <a:solidFill>
                      <a:srgbClr val="000000"/>
                    </a:solidFill>
                    <a:latin typeface="Cascadia Code" panose="020B0609020000020004" pitchFamily="49" charset="0"/>
                    <a:ea typeface="Segoe UI" pitchFamily="34" charset="0"/>
                    <a:cs typeface="Cascadia Code" panose="020B0609020000020004" pitchFamily="49" charset="0"/>
                  </a:rPr>
                  <a:t>Round-robin (random)</a:t>
                </a:r>
              </a:p>
              <a:p>
                <a:pPr marL="228600" marR="0" lvl="0" indent="-228600" algn="l" defTabSz="932472" rtl="0" eaLnBrk="1" fontAlgn="base" latinLnBrk="0" hangingPunct="1">
                  <a:lnSpc>
                    <a:spcPct val="100000"/>
                  </a:lnSpc>
                  <a:spcBef>
                    <a:spcPct val="0"/>
                  </a:spcBef>
                  <a:spcAft>
                    <a:spcPct val="0"/>
                  </a:spcAft>
                  <a:buClrTx/>
                  <a:buSzTx/>
                  <a:buFontTx/>
                  <a:buAutoNum type="arabicPeriod"/>
                  <a:tabLst/>
                  <a:defRPr/>
                </a:pPr>
                <a:r>
                  <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Named partition</a:t>
                </a:r>
              </a:p>
            </p:txBody>
          </p:sp>
          <p:sp>
            <p:nvSpPr>
              <p:cNvPr id="98" name="Rectangle 97">
                <a:extLst>
                  <a:ext uri="{FF2B5EF4-FFF2-40B4-BE49-F238E27FC236}">
                    <a16:creationId xmlns:a16="http://schemas.microsoft.com/office/drawing/2014/main" id="{841A34DE-BAA1-448C-991D-E6F49D9A57C7}"/>
                  </a:ext>
                </a:extLst>
              </p:cNvPr>
              <p:cNvSpPr/>
              <p:nvPr/>
            </p:nvSpPr>
            <p:spPr bwMode="auto">
              <a:xfrm>
                <a:off x="23662053" y="3057382"/>
                <a:ext cx="1457804" cy="131503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000">
                    <a:solidFill>
                      <a:srgbClr val="000000"/>
                    </a:solidFill>
                    <a:latin typeface="Cascadia Code" panose="020B0609020000020004" pitchFamily="49" charset="0"/>
                    <a:ea typeface="Segoe UI" pitchFamily="34" charset="0"/>
                    <a:cs typeface="Cascadia Code" panose="020B0609020000020004" pitchFamily="49" charset="0"/>
                  </a:rPr>
                  <a:t>No guarantee</a:t>
                </a:r>
                <a:br>
                  <a:rPr lang="en-US" sz="1000">
                    <a:solidFill>
                      <a:srgbClr val="000000"/>
                    </a:solidFill>
                    <a:latin typeface="Cascadia Code" panose="020B0609020000020004" pitchFamily="49" charset="0"/>
                    <a:ea typeface="Segoe UI" pitchFamily="34" charset="0"/>
                    <a:cs typeface="Cascadia Code" panose="020B0609020000020004" pitchFamily="49" charset="0"/>
                  </a:rPr>
                </a:br>
                <a:r>
                  <a:rPr lang="en-US" sz="1000">
                    <a:solidFill>
                      <a:srgbClr val="000000"/>
                    </a:solidFill>
                    <a:latin typeface="Cascadia Code" panose="020B0609020000020004" pitchFamily="49" charset="0"/>
                    <a:ea typeface="Segoe UI" pitchFamily="34" charset="0"/>
                    <a:cs typeface="Cascadia Code" panose="020B0609020000020004" pitchFamily="49" charset="0"/>
                  </a:rPr>
                  <a:t>of equal </a:t>
                </a:r>
                <a:br>
                  <a:rPr lang="en-US" sz="1000">
                    <a:solidFill>
                      <a:srgbClr val="000000"/>
                    </a:solidFill>
                    <a:latin typeface="Cascadia Code" panose="020B0609020000020004" pitchFamily="49" charset="0"/>
                    <a:ea typeface="Segoe UI" pitchFamily="34" charset="0"/>
                    <a:cs typeface="Cascadia Code" panose="020B0609020000020004" pitchFamily="49" charset="0"/>
                  </a:rPr>
                </a:br>
                <a:r>
                  <a:rPr lang="en-US" sz="1000">
                    <a:solidFill>
                      <a:srgbClr val="000000"/>
                    </a:solidFill>
                    <a:latin typeface="Cascadia Code" panose="020B0609020000020004" pitchFamily="49" charset="0"/>
                    <a:ea typeface="Segoe UI" pitchFamily="34" charset="0"/>
                    <a:cs typeface="Cascadia Code" panose="020B0609020000020004" pitchFamily="49" charset="0"/>
                  </a:rPr>
                  <a:t>distribution</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104" name="Rectangle 103">
                <a:extLst>
                  <a:ext uri="{FF2B5EF4-FFF2-40B4-BE49-F238E27FC236}">
                    <a16:creationId xmlns:a16="http://schemas.microsoft.com/office/drawing/2014/main" id="{E5A00BF4-1BCC-AA52-B16C-300727D58055}"/>
                  </a:ext>
                </a:extLst>
              </p:cNvPr>
              <p:cNvSpPr/>
              <p:nvPr/>
            </p:nvSpPr>
            <p:spPr bwMode="auto">
              <a:xfrm>
                <a:off x="13872792" y="1974269"/>
                <a:ext cx="6810876"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For very high volume, it’s best practice for clients to batch send events to avoid socket exhaustion and maximize throughput, at the slight cost of latency.</a:t>
                </a:r>
              </a:p>
            </p:txBody>
          </p:sp>
          <p:sp>
            <p:nvSpPr>
              <p:cNvPr id="579" name="Right Brace 578">
                <a:extLst>
                  <a:ext uri="{FF2B5EF4-FFF2-40B4-BE49-F238E27FC236}">
                    <a16:creationId xmlns:a16="http://schemas.microsoft.com/office/drawing/2014/main" id="{B3FDDB57-44BB-4273-B468-122B491DADDC}"/>
                  </a:ext>
                </a:extLst>
              </p:cNvPr>
              <p:cNvSpPr/>
              <p:nvPr/>
            </p:nvSpPr>
            <p:spPr>
              <a:xfrm rot="16200000">
                <a:off x="15651482" y="845821"/>
                <a:ext cx="236220" cy="3406137"/>
              </a:xfrm>
              <a:prstGeom prst="rightBrace">
                <a:avLst>
                  <a:gd name="adj1" fmla="val 8333"/>
                  <a:gd name="adj2" fmla="val 2586"/>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cxnSp>
            <p:nvCxnSpPr>
              <p:cNvPr id="580" name="Straight Arrow Connector 579">
                <a:extLst>
                  <a:ext uri="{FF2B5EF4-FFF2-40B4-BE49-F238E27FC236}">
                    <a16:creationId xmlns:a16="http://schemas.microsoft.com/office/drawing/2014/main" id="{3D3475F5-D77C-2B2D-FB1A-6673DD65C4E2}"/>
                  </a:ext>
                </a:extLst>
              </p:cNvPr>
              <p:cNvCxnSpPr>
                <a:cxnSpLocks/>
              </p:cNvCxnSpPr>
              <p:nvPr/>
            </p:nvCxnSpPr>
            <p:spPr>
              <a:xfrm>
                <a:off x="17446006" y="4552814"/>
                <a:ext cx="2764227" cy="0"/>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sp>
            <p:nvSpPr>
              <p:cNvPr id="581" name="Right Brace 580">
                <a:extLst>
                  <a:ext uri="{FF2B5EF4-FFF2-40B4-BE49-F238E27FC236}">
                    <a16:creationId xmlns:a16="http://schemas.microsoft.com/office/drawing/2014/main" id="{242D55B6-5F59-7B9B-4318-0B9D7BB20D5C}"/>
                  </a:ext>
                </a:extLst>
              </p:cNvPr>
              <p:cNvSpPr/>
              <p:nvPr/>
            </p:nvSpPr>
            <p:spPr>
              <a:xfrm rot="10800000">
                <a:off x="20098914" y="2948960"/>
                <a:ext cx="190637" cy="2440479"/>
              </a:xfrm>
              <a:prstGeom prst="rightBrace">
                <a:avLst>
                  <a:gd name="adj1" fmla="val 8333"/>
                  <a:gd name="adj2" fmla="val 73687"/>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582" name="Right Brace 581">
                <a:extLst>
                  <a:ext uri="{FF2B5EF4-FFF2-40B4-BE49-F238E27FC236}">
                    <a16:creationId xmlns:a16="http://schemas.microsoft.com/office/drawing/2014/main" id="{1F35CC5A-C05A-4380-A2D6-C17F99F8DC9B}"/>
                  </a:ext>
                </a:extLst>
              </p:cNvPr>
              <p:cNvSpPr/>
              <p:nvPr/>
            </p:nvSpPr>
            <p:spPr>
              <a:xfrm>
                <a:off x="23471750" y="3333457"/>
                <a:ext cx="308378" cy="1892085"/>
              </a:xfrm>
              <a:prstGeom prst="rightBrace">
                <a:avLst>
                  <a:gd name="adj1" fmla="val 8333"/>
                  <a:gd name="adj2" fmla="val 20661"/>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grpSp>
        <p:sp>
          <p:nvSpPr>
            <p:cNvPr id="8" name="Rectangle 7">
              <a:extLst>
                <a:ext uri="{FF2B5EF4-FFF2-40B4-BE49-F238E27FC236}">
                  <a16:creationId xmlns:a16="http://schemas.microsoft.com/office/drawing/2014/main" id="{8CD78EB1-72ED-736F-ADD0-1F2A1986065F}"/>
                </a:ext>
              </a:extLst>
            </p:cNvPr>
            <p:cNvSpPr/>
            <p:nvPr/>
          </p:nvSpPr>
          <p:spPr bwMode="auto">
            <a:xfrm>
              <a:off x="2133597" y="931129"/>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b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a:t>
              </a:r>
            </a:p>
          </p:txBody>
        </p:sp>
      </p:grpSp>
    </p:spTree>
    <p:extLst>
      <p:ext uri="{BB962C8B-B14F-4D97-AF65-F5344CB8AC3E}">
        <p14:creationId xmlns:p14="http://schemas.microsoft.com/office/powerpoint/2010/main" val="198419629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7AE1B-3CE2-6B4B-1EC0-FCAF695DEAEA}"/>
            </a:ext>
          </a:extLst>
        </p:cNvPr>
        <p:cNvGrpSpPr/>
        <p:nvPr/>
      </p:nvGrpSpPr>
      <p:grpSpPr>
        <a:xfrm>
          <a:off x="0" y="0"/>
          <a:ext cx="0" cy="0"/>
          <a:chOff x="0" y="0"/>
          <a:chExt cx="0" cy="0"/>
        </a:xfrm>
      </p:grpSpPr>
      <p:grpSp>
        <p:nvGrpSpPr>
          <p:cNvPr id="2092" name="Group 2091">
            <a:extLst>
              <a:ext uri="{FF2B5EF4-FFF2-40B4-BE49-F238E27FC236}">
                <a16:creationId xmlns:a16="http://schemas.microsoft.com/office/drawing/2014/main" id="{0C9408AF-66F1-7312-CF7B-A99A803AD596}"/>
              </a:ext>
            </a:extLst>
          </p:cNvPr>
          <p:cNvGrpSpPr/>
          <p:nvPr/>
        </p:nvGrpSpPr>
        <p:grpSpPr>
          <a:xfrm>
            <a:off x="-27875" y="1"/>
            <a:ext cx="12195887" cy="6858000"/>
            <a:chOff x="-27875" y="1"/>
            <a:chExt cx="12195887" cy="6858000"/>
          </a:xfrm>
        </p:grpSpPr>
        <p:sp>
          <p:nvSpPr>
            <p:cNvPr id="76" name="Rectangle: Rounded Corners 75">
              <a:extLst>
                <a:ext uri="{FF2B5EF4-FFF2-40B4-BE49-F238E27FC236}">
                  <a16:creationId xmlns:a16="http://schemas.microsoft.com/office/drawing/2014/main" id="{992C77E0-012C-6FF6-3DE0-E11C509E9F51}"/>
                </a:ext>
              </a:extLst>
            </p:cNvPr>
            <p:cNvSpPr/>
            <p:nvPr/>
          </p:nvSpPr>
          <p:spPr bwMode="auto">
            <a:xfrm>
              <a:off x="1784516" y="382400"/>
              <a:ext cx="3153957" cy="2964820"/>
            </a:xfrm>
            <a:prstGeom prst="roundRect">
              <a:avLst>
                <a:gd name="adj" fmla="val 1988"/>
              </a:avLst>
            </a:prstGeom>
            <a:solidFill>
              <a:srgbClr val="E1ECEA"/>
            </a:solidFill>
            <a:ln w="4445" cap="flat" cmpd="sng" algn="ctr">
              <a:solidFill>
                <a:srgbClr val="CAE4E1"/>
              </a:solidFill>
              <a:prstDash val="solid"/>
              <a:headEnd type="none" w="med" len="med"/>
              <a:tailEnd type="none" w="med" len="med"/>
            </a:ln>
            <a:effectLst>
              <a:outerShdw blurRad="50800" dist="38100" dir="5400000" algn="t" rotWithShape="0">
                <a:prstClr val="black">
                  <a:alpha val="7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CA" sz="20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0" name="Rectangle: Rounded Corners 109">
              <a:extLst>
                <a:ext uri="{FF2B5EF4-FFF2-40B4-BE49-F238E27FC236}">
                  <a16:creationId xmlns:a16="http://schemas.microsoft.com/office/drawing/2014/main" id="{57868AF4-F411-FA24-EBEA-D0D814FD721D}"/>
                </a:ext>
              </a:extLst>
            </p:cNvPr>
            <p:cNvSpPr/>
            <p:nvPr/>
          </p:nvSpPr>
          <p:spPr bwMode="auto">
            <a:xfrm>
              <a:off x="2272463" y="1859280"/>
              <a:ext cx="1914718" cy="1257300"/>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050C9A5B-CD98-B601-92FE-02EE5EE965F4}"/>
                </a:ext>
              </a:extLst>
            </p:cNvPr>
            <p:cNvGrpSpPr/>
            <p:nvPr/>
          </p:nvGrpSpPr>
          <p:grpSpPr>
            <a:xfrm>
              <a:off x="2145974" y="2436690"/>
              <a:ext cx="3040866" cy="2648001"/>
              <a:chOff x="2145974" y="2436690"/>
              <a:chExt cx="3040866" cy="2648001"/>
            </a:xfrm>
          </p:grpSpPr>
          <p:grpSp>
            <p:nvGrpSpPr>
              <p:cNvPr id="99" name="Group 98">
                <a:extLst>
                  <a:ext uri="{FF2B5EF4-FFF2-40B4-BE49-F238E27FC236}">
                    <a16:creationId xmlns:a16="http://schemas.microsoft.com/office/drawing/2014/main" id="{38EECF1E-8C0A-455B-8AC4-0195662F7630}"/>
                  </a:ext>
                </a:extLst>
              </p:cNvPr>
              <p:cNvGrpSpPr/>
              <p:nvPr/>
            </p:nvGrpSpPr>
            <p:grpSpPr>
              <a:xfrm>
                <a:off x="2272463" y="3200482"/>
                <a:ext cx="2914377" cy="1884209"/>
                <a:chOff x="8099402" y="3176360"/>
                <a:chExt cx="2914377" cy="1884209"/>
              </a:xfrm>
            </p:grpSpPr>
            <p:sp>
              <p:nvSpPr>
                <p:cNvPr id="190" name="Rectangle 189">
                  <a:extLst>
                    <a:ext uri="{FF2B5EF4-FFF2-40B4-BE49-F238E27FC236}">
                      <a16:creationId xmlns:a16="http://schemas.microsoft.com/office/drawing/2014/main" id="{1C84AE08-9D60-5BB1-AA1F-1544454AED97}"/>
                    </a:ext>
                  </a:extLst>
                </p:cNvPr>
                <p:cNvSpPr/>
                <p:nvPr/>
              </p:nvSpPr>
              <p:spPr bwMode="auto">
                <a:xfrm>
                  <a:off x="8099402" y="3176360"/>
                  <a:ext cx="2813462" cy="1884209"/>
                </a:xfrm>
                <a:prstGeom prst="rect">
                  <a:avLst/>
                </a:prstGeom>
                <a:solidFill>
                  <a:schemeClr val="bg1"/>
                </a:solidFill>
                <a:ln w="15875" cap="rnd" cmpd="sng" algn="ctr">
                  <a:solidFill>
                    <a:schemeClr val="tx1">
                      <a:lumMod val="95000"/>
                    </a:schemeClr>
                  </a:solidFill>
                  <a:prstDash val="solid"/>
                  <a:headEnd type="none" w="med" len="med"/>
                  <a:tailEnd type="none" w="med" len="med"/>
                </a:ln>
                <a:effectLst>
                  <a:outerShdw blurRad="63500" algn="ctr" rotWithShape="0">
                    <a:prstClr val="black">
                      <a:alpha val="20000"/>
                    </a:prstClr>
                  </a:outerShdw>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92" name="Rectangle 191">
                  <a:extLst>
                    <a:ext uri="{FF2B5EF4-FFF2-40B4-BE49-F238E27FC236}">
                      <a16:creationId xmlns:a16="http://schemas.microsoft.com/office/drawing/2014/main" id="{8C2F6144-C1AF-D46D-2709-463D4FD0187D}"/>
                    </a:ext>
                  </a:extLst>
                </p:cNvPr>
                <p:cNvSpPr/>
                <p:nvPr/>
              </p:nvSpPr>
              <p:spPr bwMode="auto">
                <a:xfrm>
                  <a:off x="8292392" y="3360504"/>
                  <a:ext cx="2721387" cy="1520097"/>
                </a:xfrm>
                <a:prstGeom prst="rect">
                  <a:avLst/>
                </a:prstGeom>
                <a:no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gradFill>
                        <a:gsLst>
                          <a:gs pos="0">
                            <a:srgbClr val="000000"/>
                          </a:gs>
                          <a:gs pos="100000">
                            <a:srgbClr val="000000">
                              <a:lumMod val="85000"/>
                            </a:srgbClr>
                          </a:gs>
                        </a:gsLst>
                        <a:lin ang="2700000" scaled="1"/>
                      </a:gradFill>
                      <a:effectLst/>
                      <a:uLnTx/>
                      <a:uFill>
                        <a:solidFill>
                          <a:srgbClr val="50E6FF"/>
                        </a:solidFill>
                      </a:uFill>
                      <a:latin typeface="Cascadia Code" panose="020B0609020000020004" pitchFamily="49" charset="0"/>
                      <a:ea typeface="Segoe UI" pitchFamily="34" charset="0"/>
                      <a:cs typeface="Cascadia Code" panose="020B0609020000020004" pitchFamily="49" charset="0"/>
                    </a:rPr>
                    <a:t>Arbitrary Stateful Processing</a:t>
                  </a:r>
                </a:p>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Basically, Spark guarantees a callback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f(x)</a:t>
                  </a:r>
                  <a:r>
                    <a:rPr kumimoji="0" lang="en-US" sz="800" b="0"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will execute with a microbatch of all events related to a key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Spark also guarantees a event-time based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timeout</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callback, if events don’t arrive for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1" i="0" u="none" strike="noStrike" kern="0" cap="none" spc="0" normalizeH="0" baseline="0" noProof="0">
                      <a:ln>
                        <a:noFill/>
                      </a:ln>
                      <a:solidFill>
                        <a:srgbClr val="DA2430"/>
                      </a:solidFill>
                      <a:effectLst/>
                      <a:uLnTx/>
                      <a:uFillTx/>
                      <a:latin typeface="Cascadia Code" panose="020B0609020000020004" pitchFamily="49" charset="0"/>
                      <a:ea typeface="Segoe UI" pitchFamily="34" charset="0"/>
                      <a:cs typeface="Cascadia Code" panose="020B0609020000020004" pitchFamily="49" charset="0"/>
                    </a:rPr>
                    <a:t>(heartbeat offline)</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Key differentiator:</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massively scalable because of Spark’s horizontal scalability (</a:t>
                  </a:r>
                  <a:r>
                    <a:rPr kumimoji="0" lang="en-US" sz="8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million+ events/min</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with guaranteed latency.</a:t>
                  </a: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1"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Use cases:</a:t>
                  </a:r>
                  <a:r>
                    <a:rPr kumimoji="0" lang="en-US" sz="800" b="0"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ClickStream Analytics, IoT Heartbeat</a:t>
                  </a:r>
                  <a:endParaRPr kumimoji="0" lang="en-US" sz="1100" b="1" i="1" u="none" strike="noStrike" kern="0" cap="none" spc="0" normalizeH="0" baseline="0" noProof="0">
                    <a:ln>
                      <a:noFill/>
                    </a:ln>
                    <a:solidFill>
                      <a:srgbClr val="000000"/>
                    </a:solidFill>
                    <a:effectLst/>
                    <a:uLnTx/>
                    <a:uFillTx/>
                    <a:latin typeface="Segoe UI"/>
                    <a:ea typeface="Segoe UI" pitchFamily="34" charset="0"/>
                    <a:cs typeface="Segoe UI Semibold" panose="020B0702040204020203" pitchFamily="34" charset="0"/>
                  </a:endParaRPr>
                </a:p>
              </p:txBody>
            </p:sp>
            <p:pic>
              <p:nvPicPr>
                <p:cNvPr id="193" name="Graphic 192">
                  <a:extLst>
                    <a:ext uri="{FF2B5EF4-FFF2-40B4-BE49-F238E27FC236}">
                      <a16:creationId xmlns:a16="http://schemas.microsoft.com/office/drawing/2014/main" id="{64ABA996-2BC5-24C5-0C41-86F77D849F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60616" y="3314052"/>
                  <a:ext cx="228600" cy="228600"/>
                </a:xfrm>
                <a:prstGeom prst="rect">
                  <a:avLst/>
                </a:prstGeom>
              </p:spPr>
            </p:pic>
          </p:grpSp>
          <p:sp>
            <p:nvSpPr>
              <p:cNvPr id="112" name="Rectangle: Rounded Corners 111">
                <a:extLst>
                  <a:ext uri="{FF2B5EF4-FFF2-40B4-BE49-F238E27FC236}">
                    <a16:creationId xmlns:a16="http://schemas.microsoft.com/office/drawing/2014/main" id="{600AED29-50A8-F70C-3A20-C93DCDC06C6D}"/>
                  </a:ext>
                </a:extLst>
              </p:cNvPr>
              <p:cNvSpPr/>
              <p:nvPr/>
            </p:nvSpPr>
            <p:spPr bwMode="auto">
              <a:xfrm>
                <a:off x="2336485" y="2531804"/>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8" name="Rectangle 167">
                <a:extLst>
                  <a:ext uri="{FF2B5EF4-FFF2-40B4-BE49-F238E27FC236}">
                    <a16:creationId xmlns:a16="http://schemas.microsoft.com/office/drawing/2014/main" id="{AC6AFAD2-ACD3-560A-58FD-29E5002190F2}"/>
                  </a:ext>
                </a:extLst>
              </p:cNvPr>
              <p:cNvSpPr/>
              <p:nvPr/>
            </p:nvSpPr>
            <p:spPr bwMode="auto">
              <a:xfrm>
                <a:off x="2494056" y="2436690"/>
                <a:ext cx="2040675"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RocksDB </a:t>
                </a: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(Built-in State Store)</a:t>
                </a:r>
              </a:p>
            </p:txBody>
          </p:sp>
          <p:pic>
            <p:nvPicPr>
              <p:cNvPr id="170" name="Picture 169" descr="A yellow cheetah on a blue background&#10;&#10;Description automatically generated">
                <a:extLst>
                  <a:ext uri="{FF2B5EF4-FFF2-40B4-BE49-F238E27FC236}">
                    <a16:creationId xmlns:a16="http://schemas.microsoft.com/office/drawing/2014/main" id="{64C9589E-7989-435D-433A-4E1C25BF5C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8685" y="2617458"/>
                <a:ext cx="176874" cy="177568"/>
              </a:xfrm>
              <a:prstGeom prst="rect">
                <a:avLst/>
              </a:prstGeom>
            </p:spPr>
          </p:pic>
          <p:pic>
            <p:nvPicPr>
              <p:cNvPr id="77" name="Picture 6" descr="Microsoft Fabric | Logopedia | Fandom">
                <a:extLst>
                  <a:ext uri="{FF2B5EF4-FFF2-40B4-BE49-F238E27FC236}">
                    <a16:creationId xmlns:a16="http://schemas.microsoft.com/office/drawing/2014/main" id="{50E479FA-3D5C-F202-293E-805863FD56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1900" y="3112632"/>
                <a:ext cx="184481" cy="184481"/>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roup 33">
                <a:extLst>
                  <a:ext uri="{FF2B5EF4-FFF2-40B4-BE49-F238E27FC236}">
                    <a16:creationId xmlns:a16="http://schemas.microsoft.com/office/drawing/2014/main" id="{55B4177E-E339-E554-C4A8-94AF1C1EBE01}"/>
                  </a:ext>
                </a:extLst>
              </p:cNvPr>
              <p:cNvGrpSpPr/>
              <p:nvPr/>
            </p:nvGrpSpPr>
            <p:grpSpPr>
              <a:xfrm>
                <a:off x="2658254" y="2701470"/>
                <a:ext cx="1226973" cy="404075"/>
                <a:chOff x="5400851" y="3713092"/>
                <a:chExt cx="1226973" cy="404075"/>
              </a:xfrm>
            </p:grpSpPr>
            <p:sp>
              <p:nvSpPr>
                <p:cNvPr id="145" name="Rectangle 144">
                  <a:extLst>
                    <a:ext uri="{FF2B5EF4-FFF2-40B4-BE49-F238E27FC236}">
                      <a16:creationId xmlns:a16="http://schemas.microsoft.com/office/drawing/2014/main" id="{FE95D840-F937-FEA0-81A9-E21AA5C43FBF}"/>
                    </a:ext>
                  </a:extLst>
                </p:cNvPr>
                <p:cNvSpPr/>
                <p:nvPr/>
              </p:nvSpPr>
              <p:spPr bwMode="auto">
                <a:xfrm>
                  <a:off x="5400851" y="3713092"/>
                  <a:ext cx="1226973" cy="40407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OneLake</a:t>
                  </a:r>
                  <a:endParaRPr kumimoji="0" lang="en-US" sz="800" b="1"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33" name="Picture 32" descr="How Azure OneLake will revolutionize the way we manage and ...">
                  <a:extLst>
                    <a:ext uri="{FF2B5EF4-FFF2-40B4-BE49-F238E27FC236}">
                      <a16:creationId xmlns:a16="http://schemas.microsoft.com/office/drawing/2014/main" id="{984C30A7-ADF3-F97E-C0B4-6D6E97396F81}"/>
                    </a:ext>
                  </a:extLst>
                </p:cNvPr>
                <p:cNvPicPr>
                  <a:picLocks noChangeAspect="1"/>
                </p:cNvPicPr>
                <p:nvPr/>
              </p:nvPicPr>
              <p:blipFill>
                <a:blip r:embed="rId6"/>
                <a:srcRect b="16396"/>
                <a:stretch>
                  <a:fillRect/>
                </a:stretch>
              </p:blipFill>
              <p:spPr>
                <a:xfrm>
                  <a:off x="5736147" y="3871164"/>
                  <a:ext cx="95370" cy="99667"/>
                </a:xfrm>
                <a:prstGeom prst="rect">
                  <a:avLst/>
                </a:prstGeom>
              </p:spPr>
            </p:pic>
          </p:grpSp>
          <p:pic>
            <p:nvPicPr>
              <p:cNvPr id="113" name="Picture 112" descr="Lakehouse">
                <a:extLst>
                  <a:ext uri="{FF2B5EF4-FFF2-40B4-BE49-F238E27FC236}">
                    <a16:creationId xmlns:a16="http://schemas.microsoft.com/office/drawing/2014/main" id="{B5BA3ECA-4013-AF87-F2C4-853F4D8EF28E}"/>
                  </a:ext>
                </a:extLst>
              </p:cNvPr>
              <p:cNvPicPr>
                <a:picLocks noChangeAspect="1"/>
              </p:cNvPicPr>
              <p:nvPr/>
            </p:nvPicPr>
            <p:blipFill>
              <a:blip r:embed="rId7"/>
              <a:stretch>
                <a:fillRect/>
              </a:stretch>
            </p:blipFill>
            <p:spPr>
              <a:xfrm>
                <a:off x="2145974" y="2935384"/>
                <a:ext cx="329389" cy="329389"/>
              </a:xfrm>
              <a:prstGeom prst="rect">
                <a:avLst/>
              </a:prstGeom>
            </p:spPr>
          </p:pic>
        </p:grpSp>
        <p:cxnSp>
          <p:nvCxnSpPr>
            <p:cNvPr id="2053" name="Straight Connector 2052">
              <a:extLst>
                <a:ext uri="{FF2B5EF4-FFF2-40B4-BE49-F238E27FC236}">
                  <a16:creationId xmlns:a16="http://schemas.microsoft.com/office/drawing/2014/main" id="{B8974AEF-60B7-370F-FBF2-0EE62ACF5917}"/>
                </a:ext>
              </a:extLst>
            </p:cNvPr>
            <p:cNvCxnSpPr>
              <a:cxnSpLocks/>
            </p:cNvCxnSpPr>
            <p:nvPr/>
          </p:nvCxnSpPr>
          <p:spPr>
            <a:xfrm>
              <a:off x="1786722" y="660254"/>
              <a:ext cx="37025"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8F8F6ED3-0DCB-7CC6-C9D3-50EEE8468902}"/>
                </a:ext>
              </a:extLst>
            </p:cNvPr>
            <p:cNvCxnSpPr>
              <a:cxnSpLocks/>
            </p:cNvCxnSpPr>
            <p:nvPr/>
          </p:nvCxnSpPr>
          <p:spPr>
            <a:xfrm>
              <a:off x="4942252" y="681209"/>
              <a:ext cx="0" cy="4635646"/>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07" name="Rectangle 606">
              <a:extLst>
                <a:ext uri="{FF2B5EF4-FFF2-40B4-BE49-F238E27FC236}">
                  <a16:creationId xmlns:a16="http://schemas.microsoft.com/office/drawing/2014/main" id="{CCDF4008-D865-48FA-E87F-DE21871843F2}"/>
                </a:ext>
              </a:extLst>
            </p:cNvPr>
            <p:cNvSpPr/>
            <p:nvPr/>
          </p:nvSpPr>
          <p:spPr bwMode="auto">
            <a:xfrm>
              <a:off x="354504" y="499391"/>
              <a:ext cx="1432220"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8" name="Rectangle 607">
              <a:extLst>
                <a:ext uri="{FF2B5EF4-FFF2-40B4-BE49-F238E27FC236}">
                  <a16:creationId xmlns:a16="http://schemas.microsoft.com/office/drawing/2014/main" id="{37959312-D02E-1D81-520A-C44756081202}"/>
                </a:ext>
              </a:extLst>
            </p:cNvPr>
            <p:cNvSpPr/>
            <p:nvPr/>
          </p:nvSpPr>
          <p:spPr bwMode="auto">
            <a:xfrm>
              <a:off x="688209" y="509206"/>
              <a:ext cx="803361"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grpSp>
          <p:nvGrpSpPr>
            <p:cNvPr id="609" name="migrate 2" descr="migrate">
              <a:extLst>
                <a:ext uri="{FF2B5EF4-FFF2-40B4-BE49-F238E27FC236}">
                  <a16:creationId xmlns:a16="http://schemas.microsoft.com/office/drawing/2014/main" id="{D9CF5C96-9CCA-3946-C0B0-A7BD36DE9EF7}"/>
                </a:ext>
              </a:extLst>
            </p:cNvPr>
            <p:cNvGrpSpPr/>
            <p:nvPr/>
          </p:nvGrpSpPr>
          <p:grpSpPr>
            <a:xfrm>
              <a:off x="748777" y="536049"/>
              <a:ext cx="105208" cy="104839"/>
              <a:chOff x="697286" y="2098371"/>
              <a:chExt cx="443544" cy="441988"/>
            </a:xfrm>
          </p:grpSpPr>
          <p:sp>
            <p:nvSpPr>
              <p:cNvPr id="610" name="Freeform 765">
                <a:extLst>
                  <a:ext uri="{FF2B5EF4-FFF2-40B4-BE49-F238E27FC236}">
                    <a16:creationId xmlns:a16="http://schemas.microsoft.com/office/drawing/2014/main" id="{AE2D64B7-A8D0-2F6D-405A-67DAE5B5C5AD}"/>
                  </a:ext>
                </a:extLst>
              </p:cNvPr>
              <p:cNvSpPr>
                <a:spLocks/>
              </p:cNvSpPr>
              <p:nvPr/>
            </p:nvSpPr>
            <p:spPr bwMode="auto">
              <a:xfrm>
                <a:off x="1024108" y="2099928"/>
                <a:ext cx="116722" cy="116722"/>
              </a:xfrm>
              <a:custGeom>
                <a:avLst/>
                <a:gdLst>
                  <a:gd name="T0" fmla="*/ 50 w 101"/>
                  <a:gd name="T1" fmla="*/ 101 h 101"/>
                  <a:gd name="T2" fmla="*/ 0 w 101"/>
                  <a:gd name="T3" fmla="*/ 51 h 101"/>
                  <a:gd name="T4" fmla="*/ 50 w 101"/>
                  <a:gd name="T5" fmla="*/ 0 h 101"/>
                  <a:gd name="T6" fmla="*/ 101 w 101"/>
                  <a:gd name="T7" fmla="*/ 51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9"/>
                      <a:pt x="0" y="51"/>
                    </a:cubicBezTo>
                    <a:cubicBezTo>
                      <a:pt x="0" y="23"/>
                      <a:pt x="22" y="0"/>
                      <a:pt x="50" y="0"/>
                    </a:cubicBezTo>
                    <a:cubicBezTo>
                      <a:pt x="78" y="0"/>
                      <a:pt x="101" y="23"/>
                      <a:pt x="101" y="51"/>
                    </a:cubicBezTo>
                    <a:cubicBezTo>
                      <a:pt x="101" y="79"/>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1" name="Freeform 766">
                <a:extLst>
                  <a:ext uri="{FF2B5EF4-FFF2-40B4-BE49-F238E27FC236}">
                    <a16:creationId xmlns:a16="http://schemas.microsoft.com/office/drawing/2014/main" id="{F1A11D18-4EBA-55ED-4A7B-3DA799AB081C}"/>
                  </a:ext>
                </a:extLst>
              </p:cNvPr>
              <p:cNvSpPr>
                <a:spLocks/>
              </p:cNvSpPr>
              <p:nvPr/>
            </p:nvSpPr>
            <p:spPr bwMode="auto">
              <a:xfrm>
                <a:off x="1024108" y="2261782"/>
                <a:ext cx="116722" cy="116722"/>
              </a:xfrm>
              <a:custGeom>
                <a:avLst/>
                <a:gdLst>
                  <a:gd name="T0" fmla="*/ 50 w 101"/>
                  <a:gd name="T1" fmla="*/ 101 h 101"/>
                  <a:gd name="T2" fmla="*/ 0 w 101"/>
                  <a:gd name="T3" fmla="*/ 50 h 101"/>
                  <a:gd name="T4" fmla="*/ 50 w 101"/>
                  <a:gd name="T5" fmla="*/ 0 h 101"/>
                  <a:gd name="T6" fmla="*/ 101 w 101"/>
                  <a:gd name="T7" fmla="*/ 50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8"/>
                      <a:pt x="0" y="50"/>
                    </a:cubicBezTo>
                    <a:cubicBezTo>
                      <a:pt x="0" y="22"/>
                      <a:pt x="22" y="0"/>
                      <a:pt x="50" y="0"/>
                    </a:cubicBezTo>
                    <a:cubicBezTo>
                      <a:pt x="78" y="0"/>
                      <a:pt x="101" y="22"/>
                      <a:pt x="101" y="50"/>
                    </a:cubicBezTo>
                    <a:cubicBezTo>
                      <a:pt x="101" y="78"/>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2" name="Rectangle 767">
                <a:extLst>
                  <a:ext uri="{FF2B5EF4-FFF2-40B4-BE49-F238E27FC236}">
                    <a16:creationId xmlns:a16="http://schemas.microsoft.com/office/drawing/2014/main" id="{B75F5531-E974-2F19-5B1A-C68BF27C4A6D}"/>
                  </a:ext>
                </a:extLst>
              </p:cNvPr>
              <p:cNvSpPr>
                <a:spLocks noChangeArrowheads="1"/>
              </p:cNvSpPr>
              <p:nvPr/>
            </p:nvSpPr>
            <p:spPr bwMode="auto">
              <a:xfrm>
                <a:off x="697286" y="2261782"/>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3" name="Rectangle 768">
                <a:extLst>
                  <a:ext uri="{FF2B5EF4-FFF2-40B4-BE49-F238E27FC236}">
                    <a16:creationId xmlns:a16="http://schemas.microsoft.com/office/drawing/2014/main" id="{271B2003-B8E0-6D3A-740C-B74A1C85CBB1}"/>
                  </a:ext>
                </a:extLst>
              </p:cNvPr>
              <p:cNvSpPr>
                <a:spLocks noChangeArrowheads="1"/>
              </p:cNvSpPr>
              <p:nvPr/>
            </p:nvSpPr>
            <p:spPr bwMode="auto">
              <a:xfrm>
                <a:off x="697286" y="2098371"/>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4" name="Rectangle 769">
                <a:extLst>
                  <a:ext uri="{FF2B5EF4-FFF2-40B4-BE49-F238E27FC236}">
                    <a16:creationId xmlns:a16="http://schemas.microsoft.com/office/drawing/2014/main" id="{50A726CB-9E43-0ECB-A115-27B533C6BF49}"/>
                  </a:ext>
                </a:extLst>
              </p:cNvPr>
              <p:cNvSpPr>
                <a:spLocks noChangeArrowheads="1"/>
              </p:cNvSpPr>
              <p:nvPr/>
            </p:nvSpPr>
            <p:spPr bwMode="auto">
              <a:xfrm>
                <a:off x="697286" y="2423637"/>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5" name="Freeform 770">
                <a:extLst>
                  <a:ext uri="{FF2B5EF4-FFF2-40B4-BE49-F238E27FC236}">
                    <a16:creationId xmlns:a16="http://schemas.microsoft.com/office/drawing/2014/main" id="{D52FC100-A720-CDA4-291F-E952B101696E}"/>
                  </a:ext>
                </a:extLst>
              </p:cNvPr>
              <p:cNvSpPr>
                <a:spLocks/>
              </p:cNvSpPr>
              <p:nvPr/>
            </p:nvSpPr>
            <p:spPr bwMode="auto">
              <a:xfrm>
                <a:off x="1024108" y="2423637"/>
                <a:ext cx="116722" cy="116722"/>
              </a:xfrm>
              <a:custGeom>
                <a:avLst/>
                <a:gdLst>
                  <a:gd name="T0" fmla="*/ 50 w 101"/>
                  <a:gd name="T1" fmla="*/ 102 h 102"/>
                  <a:gd name="T2" fmla="*/ 0 w 101"/>
                  <a:gd name="T3" fmla="*/ 51 h 102"/>
                  <a:gd name="T4" fmla="*/ 50 w 101"/>
                  <a:gd name="T5" fmla="*/ 0 h 102"/>
                  <a:gd name="T6" fmla="*/ 101 w 101"/>
                  <a:gd name="T7" fmla="*/ 51 h 102"/>
                  <a:gd name="T8" fmla="*/ 50 w 101"/>
                  <a:gd name="T9" fmla="*/ 102 h 102"/>
                </a:gdLst>
                <a:ahLst/>
                <a:cxnLst>
                  <a:cxn ang="0">
                    <a:pos x="T0" y="T1"/>
                  </a:cxn>
                  <a:cxn ang="0">
                    <a:pos x="T2" y="T3"/>
                  </a:cxn>
                  <a:cxn ang="0">
                    <a:pos x="T4" y="T5"/>
                  </a:cxn>
                  <a:cxn ang="0">
                    <a:pos x="T6" y="T7"/>
                  </a:cxn>
                  <a:cxn ang="0">
                    <a:pos x="T8" y="T9"/>
                  </a:cxn>
                </a:cxnLst>
                <a:rect l="0" t="0" r="r" b="b"/>
                <a:pathLst>
                  <a:path w="101" h="102">
                    <a:moveTo>
                      <a:pt x="50" y="102"/>
                    </a:moveTo>
                    <a:cubicBezTo>
                      <a:pt x="22" y="102"/>
                      <a:pt x="0" y="79"/>
                      <a:pt x="0" y="51"/>
                    </a:cubicBezTo>
                    <a:cubicBezTo>
                      <a:pt x="0" y="23"/>
                      <a:pt x="22" y="0"/>
                      <a:pt x="50" y="0"/>
                    </a:cubicBezTo>
                    <a:cubicBezTo>
                      <a:pt x="78" y="0"/>
                      <a:pt x="101" y="23"/>
                      <a:pt x="101" y="51"/>
                    </a:cubicBezTo>
                    <a:cubicBezTo>
                      <a:pt x="101" y="79"/>
                      <a:pt x="79" y="102"/>
                      <a:pt x="50" y="102"/>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6" name="Freeform 771">
                <a:extLst>
                  <a:ext uri="{FF2B5EF4-FFF2-40B4-BE49-F238E27FC236}">
                    <a16:creationId xmlns:a16="http://schemas.microsoft.com/office/drawing/2014/main" id="{339A9FE0-72C4-F107-3E81-DD09D7B60674}"/>
                  </a:ext>
                </a:extLst>
              </p:cNvPr>
              <p:cNvSpPr>
                <a:spLocks/>
              </p:cNvSpPr>
              <p:nvPr/>
            </p:nvSpPr>
            <p:spPr bwMode="auto">
              <a:xfrm>
                <a:off x="873147" y="2436087"/>
                <a:ext cx="116722" cy="94934"/>
              </a:xfrm>
              <a:custGeom>
                <a:avLst/>
                <a:gdLst>
                  <a:gd name="T0" fmla="*/ 75 w 75"/>
                  <a:gd name="T1" fmla="*/ 31 h 61"/>
                  <a:gd name="T2" fmla="*/ 44 w 75"/>
                  <a:gd name="T3" fmla="*/ 0 h 61"/>
                  <a:gd name="T4" fmla="*/ 44 w 75"/>
                  <a:gd name="T5" fmla="*/ 15 h 61"/>
                  <a:gd name="T6" fmla="*/ 0 w 75"/>
                  <a:gd name="T7" fmla="*/ 15 h 61"/>
                  <a:gd name="T8" fmla="*/ 0 w 75"/>
                  <a:gd name="T9" fmla="*/ 46 h 61"/>
                  <a:gd name="T10" fmla="*/ 44 w 75"/>
                  <a:gd name="T11" fmla="*/ 46 h 61"/>
                  <a:gd name="T12" fmla="*/ 44 w 75"/>
                  <a:gd name="T13" fmla="*/ 61 h 61"/>
                  <a:gd name="T14" fmla="*/ 75 w 75"/>
                  <a:gd name="T15" fmla="*/ 3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1">
                    <a:moveTo>
                      <a:pt x="75" y="31"/>
                    </a:moveTo>
                    <a:lnTo>
                      <a:pt x="44" y="0"/>
                    </a:lnTo>
                    <a:lnTo>
                      <a:pt x="44" y="15"/>
                    </a:lnTo>
                    <a:lnTo>
                      <a:pt x="0" y="15"/>
                    </a:lnTo>
                    <a:lnTo>
                      <a:pt x="0" y="46"/>
                    </a:lnTo>
                    <a:lnTo>
                      <a:pt x="44" y="46"/>
                    </a:lnTo>
                    <a:lnTo>
                      <a:pt x="44" y="61"/>
                    </a:lnTo>
                    <a:lnTo>
                      <a:pt x="75" y="3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7" name="Freeform 772">
                <a:extLst>
                  <a:ext uri="{FF2B5EF4-FFF2-40B4-BE49-F238E27FC236}">
                    <a16:creationId xmlns:a16="http://schemas.microsoft.com/office/drawing/2014/main" id="{D46AF84E-B0BA-D817-8228-B556A86EA9C2}"/>
                  </a:ext>
                </a:extLst>
              </p:cNvPr>
              <p:cNvSpPr>
                <a:spLocks/>
              </p:cNvSpPr>
              <p:nvPr/>
            </p:nvSpPr>
            <p:spPr bwMode="auto">
              <a:xfrm>
                <a:off x="873147" y="2274233"/>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8" name="Freeform 773">
                <a:extLst>
                  <a:ext uri="{FF2B5EF4-FFF2-40B4-BE49-F238E27FC236}">
                    <a16:creationId xmlns:a16="http://schemas.microsoft.com/office/drawing/2014/main" id="{584C0298-A051-C5DF-2569-526A4451D412}"/>
                  </a:ext>
                </a:extLst>
              </p:cNvPr>
              <p:cNvSpPr>
                <a:spLocks/>
              </p:cNvSpPr>
              <p:nvPr/>
            </p:nvSpPr>
            <p:spPr bwMode="auto">
              <a:xfrm>
                <a:off x="873147" y="2110821"/>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19" name="Rectangle 618">
              <a:extLst>
                <a:ext uri="{FF2B5EF4-FFF2-40B4-BE49-F238E27FC236}">
                  <a16:creationId xmlns:a16="http://schemas.microsoft.com/office/drawing/2014/main" id="{FFFFD167-1039-5315-9AFA-1971CB70AC42}"/>
                </a:ext>
              </a:extLst>
            </p:cNvPr>
            <p:cNvSpPr/>
            <p:nvPr/>
          </p:nvSpPr>
          <p:spPr bwMode="auto">
            <a:xfrm>
              <a:off x="1780931" y="499391"/>
              <a:ext cx="1665269"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20" name="Rectangle 619">
              <a:extLst>
                <a:ext uri="{FF2B5EF4-FFF2-40B4-BE49-F238E27FC236}">
                  <a16:creationId xmlns:a16="http://schemas.microsoft.com/office/drawing/2014/main" id="{7EE2EF54-7101-C742-5775-123031B3C2C6}"/>
                </a:ext>
              </a:extLst>
            </p:cNvPr>
            <p:cNvSpPr/>
            <p:nvPr/>
          </p:nvSpPr>
          <p:spPr bwMode="auto">
            <a:xfrm>
              <a:off x="1559400" y="507888"/>
              <a:ext cx="226873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Real-time Transformation (&lt;1s)</a:t>
              </a:r>
            </a:p>
          </p:txBody>
        </p:sp>
        <p:grpSp>
          <p:nvGrpSpPr>
            <p:cNvPr id="640" name="simplify" descr="simplify">
              <a:extLst>
                <a:ext uri="{FF2B5EF4-FFF2-40B4-BE49-F238E27FC236}">
                  <a16:creationId xmlns:a16="http://schemas.microsoft.com/office/drawing/2014/main" id="{3C35E7A7-2123-CFA3-F558-8A04513E53C6}"/>
                </a:ext>
              </a:extLst>
            </p:cNvPr>
            <p:cNvGrpSpPr/>
            <p:nvPr/>
          </p:nvGrpSpPr>
          <p:grpSpPr>
            <a:xfrm>
              <a:off x="1880721" y="536371"/>
              <a:ext cx="113523" cy="111133"/>
              <a:chOff x="2668480" y="1249680"/>
              <a:chExt cx="412066" cy="403390"/>
            </a:xfrm>
          </p:grpSpPr>
          <p:sp>
            <p:nvSpPr>
              <p:cNvPr id="641" name="Freeform 987">
                <a:extLst>
                  <a:ext uri="{FF2B5EF4-FFF2-40B4-BE49-F238E27FC236}">
                    <a16:creationId xmlns:a16="http://schemas.microsoft.com/office/drawing/2014/main" id="{6FC2F449-70A9-3A9E-AFE7-2FBF95CB4038}"/>
                  </a:ext>
                </a:extLst>
              </p:cNvPr>
              <p:cNvSpPr>
                <a:spLocks/>
              </p:cNvSpPr>
              <p:nvPr/>
            </p:nvSpPr>
            <p:spPr bwMode="auto">
              <a:xfrm>
                <a:off x="2749447" y="1282935"/>
                <a:ext cx="331099" cy="344110"/>
              </a:xfrm>
              <a:custGeom>
                <a:avLst/>
                <a:gdLst>
                  <a:gd name="T0" fmla="*/ 229 w 229"/>
                  <a:gd name="T1" fmla="*/ 112 h 238"/>
                  <a:gd name="T2" fmla="*/ 200 w 229"/>
                  <a:gd name="T3" fmla="*/ 81 h 238"/>
                  <a:gd name="T4" fmla="*/ 200 w 229"/>
                  <a:gd name="T5" fmla="*/ 104 h 238"/>
                  <a:gd name="T6" fmla="*/ 125 w 229"/>
                  <a:gd name="T7" fmla="*/ 104 h 238"/>
                  <a:gd name="T8" fmla="*/ 125 w 229"/>
                  <a:gd name="T9" fmla="*/ 0 h 238"/>
                  <a:gd name="T10" fmla="*/ 0 w 229"/>
                  <a:gd name="T11" fmla="*/ 0 h 238"/>
                  <a:gd name="T12" fmla="*/ 0 w 229"/>
                  <a:gd name="T13" fmla="*/ 15 h 238"/>
                  <a:gd name="T14" fmla="*/ 110 w 229"/>
                  <a:gd name="T15" fmla="*/ 15 h 238"/>
                  <a:gd name="T16" fmla="*/ 110 w 229"/>
                  <a:gd name="T17" fmla="*/ 104 h 238"/>
                  <a:gd name="T18" fmla="*/ 5 w 229"/>
                  <a:gd name="T19" fmla="*/ 104 h 238"/>
                  <a:gd name="T20" fmla="*/ 5 w 229"/>
                  <a:gd name="T21" fmla="*/ 119 h 238"/>
                  <a:gd name="T22" fmla="*/ 110 w 229"/>
                  <a:gd name="T23" fmla="*/ 119 h 238"/>
                  <a:gd name="T24" fmla="*/ 110 w 229"/>
                  <a:gd name="T25" fmla="*/ 223 h 238"/>
                  <a:gd name="T26" fmla="*/ 0 w 229"/>
                  <a:gd name="T27" fmla="*/ 223 h 238"/>
                  <a:gd name="T28" fmla="*/ 0 w 229"/>
                  <a:gd name="T29" fmla="*/ 238 h 238"/>
                  <a:gd name="T30" fmla="*/ 125 w 229"/>
                  <a:gd name="T31" fmla="*/ 238 h 238"/>
                  <a:gd name="T32" fmla="*/ 125 w 229"/>
                  <a:gd name="T33" fmla="*/ 119 h 238"/>
                  <a:gd name="T34" fmla="*/ 200 w 229"/>
                  <a:gd name="T35" fmla="*/ 119 h 238"/>
                  <a:gd name="T36" fmla="*/ 200 w 229"/>
                  <a:gd name="T37" fmla="*/ 141 h 238"/>
                  <a:gd name="T38" fmla="*/ 229 w 229"/>
                  <a:gd name="T39" fmla="*/ 11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9" h="238">
                    <a:moveTo>
                      <a:pt x="229" y="112"/>
                    </a:moveTo>
                    <a:lnTo>
                      <a:pt x="200" y="81"/>
                    </a:lnTo>
                    <a:lnTo>
                      <a:pt x="200" y="104"/>
                    </a:lnTo>
                    <a:lnTo>
                      <a:pt x="125" y="104"/>
                    </a:lnTo>
                    <a:lnTo>
                      <a:pt x="125" y="0"/>
                    </a:lnTo>
                    <a:lnTo>
                      <a:pt x="0" y="0"/>
                    </a:lnTo>
                    <a:lnTo>
                      <a:pt x="0" y="15"/>
                    </a:lnTo>
                    <a:lnTo>
                      <a:pt x="110" y="15"/>
                    </a:lnTo>
                    <a:lnTo>
                      <a:pt x="110" y="104"/>
                    </a:lnTo>
                    <a:lnTo>
                      <a:pt x="5" y="104"/>
                    </a:lnTo>
                    <a:lnTo>
                      <a:pt x="5" y="119"/>
                    </a:lnTo>
                    <a:lnTo>
                      <a:pt x="110" y="119"/>
                    </a:lnTo>
                    <a:lnTo>
                      <a:pt x="110" y="223"/>
                    </a:lnTo>
                    <a:lnTo>
                      <a:pt x="0" y="223"/>
                    </a:lnTo>
                    <a:lnTo>
                      <a:pt x="0" y="238"/>
                    </a:lnTo>
                    <a:lnTo>
                      <a:pt x="125" y="238"/>
                    </a:lnTo>
                    <a:lnTo>
                      <a:pt x="125" y="119"/>
                    </a:lnTo>
                    <a:lnTo>
                      <a:pt x="200" y="119"/>
                    </a:lnTo>
                    <a:lnTo>
                      <a:pt x="200" y="141"/>
                    </a:lnTo>
                    <a:lnTo>
                      <a:pt x="229" y="11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2" name="Freeform 988">
                <a:extLst>
                  <a:ext uri="{FF2B5EF4-FFF2-40B4-BE49-F238E27FC236}">
                    <a16:creationId xmlns:a16="http://schemas.microsoft.com/office/drawing/2014/main" id="{691521DE-A73D-55B9-7167-242B80A11340}"/>
                  </a:ext>
                </a:extLst>
              </p:cNvPr>
              <p:cNvSpPr>
                <a:spLocks/>
              </p:cNvSpPr>
              <p:nvPr/>
            </p:nvSpPr>
            <p:spPr bwMode="auto">
              <a:xfrm>
                <a:off x="2669925" y="1378360"/>
                <a:ext cx="127234" cy="127234"/>
              </a:xfrm>
              <a:custGeom>
                <a:avLst/>
                <a:gdLst>
                  <a:gd name="T0" fmla="*/ 118 w 118"/>
                  <a:gd name="T1" fmla="*/ 66 h 119"/>
                  <a:gd name="T2" fmla="*/ 118 w 118"/>
                  <a:gd name="T3" fmla="*/ 53 h 119"/>
                  <a:gd name="T4" fmla="*/ 105 w 118"/>
                  <a:gd name="T5" fmla="*/ 53 h 119"/>
                  <a:gd name="T6" fmla="*/ 96 w 118"/>
                  <a:gd name="T7" fmla="*/ 31 h 119"/>
                  <a:gd name="T8" fmla="*/ 105 w 118"/>
                  <a:gd name="T9" fmla="*/ 22 h 119"/>
                  <a:gd name="T10" fmla="*/ 97 w 118"/>
                  <a:gd name="T11" fmla="*/ 13 h 119"/>
                  <a:gd name="T12" fmla="*/ 87 w 118"/>
                  <a:gd name="T13" fmla="*/ 22 h 119"/>
                  <a:gd name="T14" fmla="*/ 65 w 118"/>
                  <a:gd name="T15" fmla="*/ 13 h 119"/>
                  <a:gd name="T16" fmla="*/ 65 w 118"/>
                  <a:gd name="T17" fmla="*/ 0 h 119"/>
                  <a:gd name="T18" fmla="*/ 53 w 118"/>
                  <a:gd name="T19" fmla="*/ 0 h 119"/>
                  <a:gd name="T20" fmla="*/ 53 w 118"/>
                  <a:gd name="T21" fmla="*/ 13 h 119"/>
                  <a:gd name="T22" fmla="*/ 31 w 118"/>
                  <a:gd name="T23" fmla="*/ 22 h 119"/>
                  <a:gd name="T24" fmla="*/ 22 w 118"/>
                  <a:gd name="T25" fmla="*/ 13 h 119"/>
                  <a:gd name="T26" fmla="*/ 13 w 118"/>
                  <a:gd name="T27" fmla="*/ 22 h 119"/>
                  <a:gd name="T28" fmla="*/ 22 w 118"/>
                  <a:gd name="T29" fmla="*/ 31 h 119"/>
                  <a:gd name="T30" fmla="*/ 13 w 118"/>
                  <a:gd name="T31" fmla="*/ 53 h 119"/>
                  <a:gd name="T32" fmla="*/ 0 w 118"/>
                  <a:gd name="T33" fmla="*/ 53 h 119"/>
                  <a:gd name="T34" fmla="*/ 0 w 118"/>
                  <a:gd name="T35" fmla="*/ 66 h 119"/>
                  <a:gd name="T36" fmla="*/ 13 w 118"/>
                  <a:gd name="T37" fmla="*/ 66 h 119"/>
                  <a:gd name="T38" fmla="*/ 22 w 118"/>
                  <a:gd name="T39" fmla="*/ 88 h 119"/>
                  <a:gd name="T40" fmla="*/ 13 w 118"/>
                  <a:gd name="T41" fmla="*/ 97 h 119"/>
                  <a:gd name="T42" fmla="*/ 21 w 118"/>
                  <a:gd name="T43" fmla="*/ 106 h 119"/>
                  <a:gd name="T44" fmla="*/ 31 w 118"/>
                  <a:gd name="T45" fmla="*/ 97 h 119"/>
                  <a:gd name="T46" fmla="*/ 53 w 118"/>
                  <a:gd name="T47" fmla="*/ 106 h 119"/>
                  <a:gd name="T48" fmla="*/ 53 w 118"/>
                  <a:gd name="T49" fmla="*/ 119 h 119"/>
                  <a:gd name="T50" fmla="*/ 65 w 118"/>
                  <a:gd name="T51" fmla="*/ 119 h 119"/>
                  <a:gd name="T52" fmla="*/ 65 w 118"/>
                  <a:gd name="T53" fmla="*/ 106 h 119"/>
                  <a:gd name="T54" fmla="*/ 87 w 118"/>
                  <a:gd name="T55" fmla="*/ 97 h 119"/>
                  <a:gd name="T56" fmla="*/ 97 w 118"/>
                  <a:gd name="T57" fmla="*/ 106 h 119"/>
                  <a:gd name="T58" fmla="*/ 105 w 118"/>
                  <a:gd name="T59" fmla="*/ 97 h 119"/>
                  <a:gd name="T60" fmla="*/ 96 w 118"/>
                  <a:gd name="T61" fmla="*/ 88 h 119"/>
                  <a:gd name="T62" fmla="*/ 105 w 118"/>
                  <a:gd name="T63" fmla="*/ 66 h 119"/>
                  <a:gd name="T64" fmla="*/ 118 w 118"/>
                  <a:gd name="T65" fmla="*/ 6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8" h="119">
                    <a:moveTo>
                      <a:pt x="118" y="66"/>
                    </a:moveTo>
                    <a:cubicBezTo>
                      <a:pt x="118" y="53"/>
                      <a:pt x="118" y="53"/>
                      <a:pt x="118" y="53"/>
                    </a:cubicBezTo>
                    <a:cubicBezTo>
                      <a:pt x="105" y="53"/>
                      <a:pt x="105" y="53"/>
                      <a:pt x="105" y="53"/>
                    </a:cubicBezTo>
                    <a:cubicBezTo>
                      <a:pt x="104" y="45"/>
                      <a:pt x="101" y="37"/>
                      <a:pt x="96" y="31"/>
                    </a:cubicBezTo>
                    <a:cubicBezTo>
                      <a:pt x="105" y="22"/>
                      <a:pt x="105" y="22"/>
                      <a:pt x="105" y="22"/>
                    </a:cubicBezTo>
                    <a:cubicBezTo>
                      <a:pt x="97" y="13"/>
                      <a:pt x="97" y="13"/>
                      <a:pt x="97" y="13"/>
                    </a:cubicBezTo>
                    <a:cubicBezTo>
                      <a:pt x="87" y="22"/>
                      <a:pt x="87" y="22"/>
                      <a:pt x="87" y="22"/>
                    </a:cubicBezTo>
                    <a:cubicBezTo>
                      <a:pt x="81" y="18"/>
                      <a:pt x="73" y="14"/>
                      <a:pt x="65" y="13"/>
                    </a:cubicBezTo>
                    <a:cubicBezTo>
                      <a:pt x="65" y="0"/>
                      <a:pt x="65" y="0"/>
                      <a:pt x="65" y="0"/>
                    </a:cubicBezTo>
                    <a:cubicBezTo>
                      <a:pt x="53" y="0"/>
                      <a:pt x="53" y="0"/>
                      <a:pt x="53" y="0"/>
                    </a:cubicBezTo>
                    <a:cubicBezTo>
                      <a:pt x="53" y="13"/>
                      <a:pt x="53" y="13"/>
                      <a:pt x="53" y="13"/>
                    </a:cubicBezTo>
                    <a:cubicBezTo>
                      <a:pt x="45" y="14"/>
                      <a:pt x="37" y="18"/>
                      <a:pt x="31" y="22"/>
                    </a:cubicBezTo>
                    <a:cubicBezTo>
                      <a:pt x="22" y="13"/>
                      <a:pt x="22" y="13"/>
                      <a:pt x="22" y="13"/>
                    </a:cubicBezTo>
                    <a:cubicBezTo>
                      <a:pt x="13" y="22"/>
                      <a:pt x="13" y="22"/>
                      <a:pt x="13" y="22"/>
                    </a:cubicBezTo>
                    <a:cubicBezTo>
                      <a:pt x="22" y="31"/>
                      <a:pt x="22" y="31"/>
                      <a:pt x="22" y="31"/>
                    </a:cubicBezTo>
                    <a:cubicBezTo>
                      <a:pt x="17" y="38"/>
                      <a:pt x="14" y="45"/>
                      <a:pt x="13" y="53"/>
                    </a:cubicBezTo>
                    <a:cubicBezTo>
                      <a:pt x="0" y="53"/>
                      <a:pt x="0" y="53"/>
                      <a:pt x="0" y="53"/>
                    </a:cubicBezTo>
                    <a:cubicBezTo>
                      <a:pt x="0" y="66"/>
                      <a:pt x="0" y="66"/>
                      <a:pt x="0" y="66"/>
                    </a:cubicBezTo>
                    <a:cubicBezTo>
                      <a:pt x="13" y="66"/>
                      <a:pt x="13" y="66"/>
                      <a:pt x="13" y="66"/>
                    </a:cubicBezTo>
                    <a:cubicBezTo>
                      <a:pt x="14" y="74"/>
                      <a:pt x="17" y="82"/>
                      <a:pt x="22" y="88"/>
                    </a:cubicBezTo>
                    <a:cubicBezTo>
                      <a:pt x="13" y="97"/>
                      <a:pt x="13" y="97"/>
                      <a:pt x="13" y="97"/>
                    </a:cubicBezTo>
                    <a:cubicBezTo>
                      <a:pt x="21" y="106"/>
                      <a:pt x="21" y="106"/>
                      <a:pt x="21" y="106"/>
                    </a:cubicBezTo>
                    <a:cubicBezTo>
                      <a:pt x="31" y="97"/>
                      <a:pt x="31" y="97"/>
                      <a:pt x="31" y="97"/>
                    </a:cubicBezTo>
                    <a:cubicBezTo>
                      <a:pt x="37" y="102"/>
                      <a:pt x="45" y="105"/>
                      <a:pt x="53" y="106"/>
                    </a:cubicBezTo>
                    <a:cubicBezTo>
                      <a:pt x="53" y="119"/>
                      <a:pt x="53" y="119"/>
                      <a:pt x="53" y="119"/>
                    </a:cubicBezTo>
                    <a:cubicBezTo>
                      <a:pt x="65" y="119"/>
                      <a:pt x="65" y="119"/>
                      <a:pt x="65" y="119"/>
                    </a:cubicBezTo>
                    <a:cubicBezTo>
                      <a:pt x="65" y="106"/>
                      <a:pt x="65" y="106"/>
                      <a:pt x="65" y="106"/>
                    </a:cubicBezTo>
                    <a:cubicBezTo>
                      <a:pt x="74" y="105"/>
                      <a:pt x="81" y="102"/>
                      <a:pt x="87" y="97"/>
                    </a:cubicBezTo>
                    <a:cubicBezTo>
                      <a:pt x="97" y="106"/>
                      <a:pt x="97" y="106"/>
                      <a:pt x="97" y="106"/>
                    </a:cubicBezTo>
                    <a:cubicBezTo>
                      <a:pt x="105" y="97"/>
                      <a:pt x="105" y="97"/>
                      <a:pt x="105" y="97"/>
                    </a:cubicBezTo>
                    <a:cubicBezTo>
                      <a:pt x="96" y="88"/>
                      <a:pt x="96" y="88"/>
                      <a:pt x="96" y="88"/>
                    </a:cubicBezTo>
                    <a:cubicBezTo>
                      <a:pt x="101" y="82"/>
                      <a:pt x="104" y="74"/>
                      <a:pt x="105" y="66"/>
                    </a:cubicBezTo>
                    <a:lnTo>
                      <a:pt x="118" y="6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3" name="Oval 989">
                <a:extLst>
                  <a:ext uri="{FF2B5EF4-FFF2-40B4-BE49-F238E27FC236}">
                    <a16:creationId xmlns:a16="http://schemas.microsoft.com/office/drawing/2014/main" id="{1E8ACB1B-8A62-2120-4417-69180F5BB100}"/>
                  </a:ext>
                </a:extLst>
              </p:cNvPr>
              <p:cNvSpPr>
                <a:spLocks noChangeArrowheads="1"/>
              </p:cNvSpPr>
              <p:nvPr/>
            </p:nvSpPr>
            <p:spPr bwMode="auto">
              <a:xfrm>
                <a:off x="2708964" y="1418844"/>
                <a:ext cx="49159" cy="477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4" name="Rectangle 990">
                <a:extLst>
                  <a:ext uri="{FF2B5EF4-FFF2-40B4-BE49-F238E27FC236}">
                    <a16:creationId xmlns:a16="http://schemas.microsoft.com/office/drawing/2014/main" id="{F60801ED-F43E-B375-FB5F-B203B8DB5DC8}"/>
                  </a:ext>
                </a:extLst>
              </p:cNvPr>
              <p:cNvSpPr>
                <a:spLocks noChangeArrowheads="1"/>
              </p:cNvSpPr>
              <p:nvPr/>
            </p:nvSpPr>
            <p:spPr bwMode="auto">
              <a:xfrm>
                <a:off x="2680047" y="1249680"/>
                <a:ext cx="108439" cy="10843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5" name="Freeform 991">
                <a:extLst>
                  <a:ext uri="{FF2B5EF4-FFF2-40B4-BE49-F238E27FC236}">
                    <a16:creationId xmlns:a16="http://schemas.microsoft.com/office/drawing/2014/main" id="{D781A37C-B00D-7CED-F55F-BF6407E9534D}"/>
                  </a:ext>
                </a:extLst>
              </p:cNvPr>
              <p:cNvSpPr>
                <a:spLocks/>
              </p:cNvSpPr>
              <p:nvPr/>
            </p:nvSpPr>
            <p:spPr bwMode="auto">
              <a:xfrm>
                <a:off x="2668480" y="1521498"/>
                <a:ext cx="133018" cy="131572"/>
              </a:xfrm>
              <a:custGeom>
                <a:avLst/>
                <a:gdLst>
                  <a:gd name="T0" fmla="*/ 92 w 92"/>
                  <a:gd name="T1" fmla="*/ 46 h 91"/>
                  <a:gd name="T2" fmla="*/ 46 w 92"/>
                  <a:gd name="T3" fmla="*/ 0 h 91"/>
                  <a:gd name="T4" fmla="*/ 0 w 92"/>
                  <a:gd name="T5" fmla="*/ 46 h 91"/>
                  <a:gd name="T6" fmla="*/ 46 w 92"/>
                  <a:gd name="T7" fmla="*/ 91 h 91"/>
                  <a:gd name="T8" fmla="*/ 92 w 92"/>
                  <a:gd name="T9" fmla="*/ 46 h 91"/>
                </a:gdLst>
                <a:ahLst/>
                <a:cxnLst>
                  <a:cxn ang="0">
                    <a:pos x="T0" y="T1"/>
                  </a:cxn>
                  <a:cxn ang="0">
                    <a:pos x="T2" y="T3"/>
                  </a:cxn>
                  <a:cxn ang="0">
                    <a:pos x="T4" y="T5"/>
                  </a:cxn>
                  <a:cxn ang="0">
                    <a:pos x="T6" y="T7"/>
                  </a:cxn>
                  <a:cxn ang="0">
                    <a:pos x="T8" y="T9"/>
                  </a:cxn>
                </a:cxnLst>
                <a:rect l="0" t="0" r="r" b="b"/>
                <a:pathLst>
                  <a:path w="92" h="91">
                    <a:moveTo>
                      <a:pt x="92" y="46"/>
                    </a:moveTo>
                    <a:lnTo>
                      <a:pt x="46" y="0"/>
                    </a:lnTo>
                    <a:lnTo>
                      <a:pt x="0" y="46"/>
                    </a:lnTo>
                    <a:lnTo>
                      <a:pt x="46" y="91"/>
                    </a:lnTo>
                    <a:lnTo>
                      <a:pt x="92" y="4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49" name="Rectangle 648">
              <a:extLst>
                <a:ext uri="{FF2B5EF4-FFF2-40B4-BE49-F238E27FC236}">
                  <a16:creationId xmlns:a16="http://schemas.microsoft.com/office/drawing/2014/main" id="{7BF8D5E4-0DDA-5C54-D8FF-F8DC98D51AF2}"/>
                </a:ext>
              </a:extLst>
            </p:cNvPr>
            <p:cNvSpPr/>
            <p:nvPr/>
          </p:nvSpPr>
          <p:spPr bwMode="auto">
            <a:xfrm>
              <a:off x="3442545" y="499391"/>
              <a:ext cx="1503291"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0" name="Rectangle 649">
              <a:extLst>
                <a:ext uri="{FF2B5EF4-FFF2-40B4-BE49-F238E27FC236}">
                  <a16:creationId xmlns:a16="http://schemas.microsoft.com/office/drawing/2014/main" id="{C5F97EAC-75A4-46B5-6FBD-AE80C147EFC8}"/>
                </a:ext>
              </a:extLst>
            </p:cNvPr>
            <p:cNvSpPr/>
            <p:nvPr/>
          </p:nvSpPr>
          <p:spPr bwMode="auto">
            <a:xfrm>
              <a:off x="3168808" y="507549"/>
              <a:ext cx="213561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Alerting</a:t>
              </a:r>
            </a:p>
          </p:txBody>
        </p:sp>
        <p:grpSp>
          <p:nvGrpSpPr>
            <p:cNvPr id="721" name="analyze" descr="analyze, search">
              <a:extLst>
                <a:ext uri="{FF2B5EF4-FFF2-40B4-BE49-F238E27FC236}">
                  <a16:creationId xmlns:a16="http://schemas.microsoft.com/office/drawing/2014/main" id="{23393B72-DE2E-E8D2-D81F-A0339053103E}"/>
                </a:ext>
              </a:extLst>
            </p:cNvPr>
            <p:cNvGrpSpPr>
              <a:grpSpLocks noChangeAspect="1"/>
            </p:cNvGrpSpPr>
            <p:nvPr/>
          </p:nvGrpSpPr>
          <p:grpSpPr bwMode="auto">
            <a:xfrm>
              <a:off x="3895245" y="536049"/>
              <a:ext cx="109547" cy="109547"/>
              <a:chOff x="1654" y="806"/>
              <a:chExt cx="239" cy="239"/>
            </a:xfrm>
          </p:grpSpPr>
          <p:sp>
            <p:nvSpPr>
              <p:cNvPr id="722" name="AutoShape 37">
                <a:extLst>
                  <a:ext uri="{FF2B5EF4-FFF2-40B4-BE49-F238E27FC236}">
                    <a16:creationId xmlns:a16="http://schemas.microsoft.com/office/drawing/2014/main" id="{1656D776-790D-2671-893C-737864D69B31}"/>
                  </a:ext>
                </a:extLst>
              </p:cNvPr>
              <p:cNvSpPr>
                <a:spLocks noChangeAspect="1" noChangeArrowheads="1" noTextEdit="1"/>
              </p:cNvSpPr>
              <p:nvPr/>
            </p:nvSpPr>
            <p:spPr bwMode="auto">
              <a:xfrm>
                <a:off x="1654" y="806"/>
                <a:ext cx="23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3" name="Freeform 39">
                <a:extLst>
                  <a:ext uri="{FF2B5EF4-FFF2-40B4-BE49-F238E27FC236}">
                    <a16:creationId xmlns:a16="http://schemas.microsoft.com/office/drawing/2014/main" id="{888E93B2-0857-014C-6800-5F96CF76C12E}"/>
                  </a:ext>
                </a:extLst>
              </p:cNvPr>
              <p:cNvSpPr>
                <a:spLocks/>
              </p:cNvSpPr>
              <p:nvPr/>
            </p:nvSpPr>
            <p:spPr bwMode="auto">
              <a:xfrm>
                <a:off x="1653" y="80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4" name="Oval 40">
                <a:extLst>
                  <a:ext uri="{FF2B5EF4-FFF2-40B4-BE49-F238E27FC236}">
                    <a16:creationId xmlns:a16="http://schemas.microsoft.com/office/drawing/2014/main" id="{D4D616AB-7972-E824-E3BC-DED43A4415C6}"/>
                  </a:ext>
                </a:extLst>
              </p:cNvPr>
              <p:cNvSpPr>
                <a:spLocks noChangeArrowheads="1"/>
              </p:cNvSpPr>
              <p:nvPr/>
            </p:nvSpPr>
            <p:spPr bwMode="auto">
              <a:xfrm>
                <a:off x="169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5" name="Oval 41">
                <a:extLst>
                  <a:ext uri="{FF2B5EF4-FFF2-40B4-BE49-F238E27FC236}">
                    <a16:creationId xmlns:a16="http://schemas.microsoft.com/office/drawing/2014/main" id="{BBA54BB9-5C90-9075-06EC-813E3D7C109F}"/>
                  </a:ext>
                </a:extLst>
              </p:cNvPr>
              <p:cNvSpPr>
                <a:spLocks noChangeArrowheads="1"/>
              </p:cNvSpPr>
              <p:nvPr/>
            </p:nvSpPr>
            <p:spPr bwMode="auto">
              <a:xfrm>
                <a:off x="173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6" name="Oval 42">
                <a:extLst>
                  <a:ext uri="{FF2B5EF4-FFF2-40B4-BE49-F238E27FC236}">
                    <a16:creationId xmlns:a16="http://schemas.microsoft.com/office/drawing/2014/main" id="{55F022C2-FB7F-3F29-BB30-9307D06F228F}"/>
                  </a:ext>
                </a:extLst>
              </p:cNvPr>
              <p:cNvSpPr>
                <a:spLocks noChangeArrowheads="1"/>
              </p:cNvSpPr>
              <p:nvPr/>
            </p:nvSpPr>
            <p:spPr bwMode="auto">
              <a:xfrm>
                <a:off x="177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7" name="Oval 43">
                <a:extLst>
                  <a:ext uri="{FF2B5EF4-FFF2-40B4-BE49-F238E27FC236}">
                    <a16:creationId xmlns:a16="http://schemas.microsoft.com/office/drawing/2014/main" id="{96281ADD-23C9-5E2E-49CC-90179F47AAB5}"/>
                  </a:ext>
                </a:extLst>
              </p:cNvPr>
              <p:cNvSpPr>
                <a:spLocks noChangeArrowheads="1"/>
              </p:cNvSpPr>
              <p:nvPr/>
            </p:nvSpPr>
            <p:spPr bwMode="auto">
              <a:xfrm>
                <a:off x="181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8" name="Oval 44">
                <a:extLst>
                  <a:ext uri="{FF2B5EF4-FFF2-40B4-BE49-F238E27FC236}">
                    <a16:creationId xmlns:a16="http://schemas.microsoft.com/office/drawing/2014/main" id="{3B04FFF2-4893-EC11-5490-554984396DFD}"/>
                  </a:ext>
                </a:extLst>
              </p:cNvPr>
              <p:cNvSpPr>
                <a:spLocks noChangeArrowheads="1"/>
              </p:cNvSpPr>
              <p:nvPr/>
            </p:nvSpPr>
            <p:spPr bwMode="auto">
              <a:xfrm>
                <a:off x="185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9" name="Freeform 45">
                <a:extLst>
                  <a:ext uri="{FF2B5EF4-FFF2-40B4-BE49-F238E27FC236}">
                    <a16:creationId xmlns:a16="http://schemas.microsoft.com/office/drawing/2014/main" id="{A8DECE23-6F7A-F603-D1B7-01603763BA8E}"/>
                  </a:ext>
                </a:extLst>
              </p:cNvPr>
              <p:cNvSpPr>
                <a:spLocks/>
              </p:cNvSpPr>
              <p:nvPr/>
            </p:nvSpPr>
            <p:spPr bwMode="auto">
              <a:xfrm>
                <a:off x="1653" y="846"/>
                <a:ext cx="27" cy="26"/>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0" name="Oval 46">
                <a:extLst>
                  <a:ext uri="{FF2B5EF4-FFF2-40B4-BE49-F238E27FC236}">
                    <a16:creationId xmlns:a16="http://schemas.microsoft.com/office/drawing/2014/main" id="{EFFE6B4A-00D9-488B-B846-51733F2E9556}"/>
                  </a:ext>
                </a:extLst>
              </p:cNvPr>
              <p:cNvSpPr>
                <a:spLocks noChangeArrowheads="1"/>
              </p:cNvSpPr>
              <p:nvPr/>
            </p:nvSpPr>
            <p:spPr bwMode="auto">
              <a:xfrm>
                <a:off x="169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1" name="Oval 47">
                <a:extLst>
                  <a:ext uri="{FF2B5EF4-FFF2-40B4-BE49-F238E27FC236}">
                    <a16:creationId xmlns:a16="http://schemas.microsoft.com/office/drawing/2014/main" id="{1697B921-203A-937F-040B-734BB5DB8695}"/>
                  </a:ext>
                </a:extLst>
              </p:cNvPr>
              <p:cNvSpPr>
                <a:spLocks noChangeArrowheads="1"/>
              </p:cNvSpPr>
              <p:nvPr/>
            </p:nvSpPr>
            <p:spPr bwMode="auto">
              <a:xfrm>
                <a:off x="173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2" name="Oval 48">
                <a:extLst>
                  <a:ext uri="{FF2B5EF4-FFF2-40B4-BE49-F238E27FC236}">
                    <a16:creationId xmlns:a16="http://schemas.microsoft.com/office/drawing/2014/main" id="{1B4947D8-6E98-0F60-4E6A-78DE6F4E1F03}"/>
                  </a:ext>
                </a:extLst>
              </p:cNvPr>
              <p:cNvSpPr>
                <a:spLocks noChangeArrowheads="1"/>
              </p:cNvSpPr>
              <p:nvPr/>
            </p:nvSpPr>
            <p:spPr bwMode="auto">
              <a:xfrm>
                <a:off x="177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3" name="Oval 49">
                <a:extLst>
                  <a:ext uri="{FF2B5EF4-FFF2-40B4-BE49-F238E27FC236}">
                    <a16:creationId xmlns:a16="http://schemas.microsoft.com/office/drawing/2014/main" id="{A307A8F0-1943-14B4-020B-E30624B7AAD3}"/>
                  </a:ext>
                </a:extLst>
              </p:cNvPr>
              <p:cNvSpPr>
                <a:spLocks noChangeArrowheads="1"/>
              </p:cNvSpPr>
              <p:nvPr/>
            </p:nvSpPr>
            <p:spPr bwMode="auto">
              <a:xfrm>
                <a:off x="181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4" name="Oval 50">
                <a:extLst>
                  <a:ext uri="{FF2B5EF4-FFF2-40B4-BE49-F238E27FC236}">
                    <a16:creationId xmlns:a16="http://schemas.microsoft.com/office/drawing/2014/main" id="{9242C4DE-7712-70A4-920B-55C4F7FF1560}"/>
                  </a:ext>
                </a:extLst>
              </p:cNvPr>
              <p:cNvSpPr>
                <a:spLocks noChangeArrowheads="1"/>
              </p:cNvSpPr>
              <p:nvPr/>
            </p:nvSpPr>
            <p:spPr bwMode="auto">
              <a:xfrm>
                <a:off x="185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5" name="Freeform 51">
                <a:extLst>
                  <a:ext uri="{FF2B5EF4-FFF2-40B4-BE49-F238E27FC236}">
                    <a16:creationId xmlns:a16="http://schemas.microsoft.com/office/drawing/2014/main" id="{DB4F53CE-8BD5-466F-CA86-0EEE357599C5}"/>
                  </a:ext>
                </a:extLst>
              </p:cNvPr>
              <p:cNvSpPr>
                <a:spLocks/>
              </p:cNvSpPr>
              <p:nvPr/>
            </p:nvSpPr>
            <p:spPr bwMode="auto">
              <a:xfrm>
                <a:off x="1653" y="885"/>
                <a:ext cx="27" cy="27"/>
              </a:xfrm>
              <a:custGeom>
                <a:avLst/>
                <a:gdLst>
                  <a:gd name="T0" fmla="*/ 20 w 41"/>
                  <a:gd name="T1" fmla="*/ 41 h 41"/>
                  <a:gd name="T2" fmla="*/ 0 w 41"/>
                  <a:gd name="T3" fmla="*/ 21 h 41"/>
                  <a:gd name="T4" fmla="*/ 20 w 41"/>
                  <a:gd name="T5" fmla="*/ 0 h 41"/>
                  <a:gd name="T6" fmla="*/ 41 w 41"/>
                  <a:gd name="T7" fmla="*/ 21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1"/>
                    </a:cubicBezTo>
                    <a:cubicBezTo>
                      <a:pt x="0" y="9"/>
                      <a:pt x="9" y="0"/>
                      <a:pt x="20" y="0"/>
                    </a:cubicBezTo>
                    <a:cubicBezTo>
                      <a:pt x="32" y="0"/>
                      <a:pt x="41" y="9"/>
                      <a:pt x="41" y="21"/>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6" name="Oval 52">
                <a:extLst>
                  <a:ext uri="{FF2B5EF4-FFF2-40B4-BE49-F238E27FC236}">
                    <a16:creationId xmlns:a16="http://schemas.microsoft.com/office/drawing/2014/main" id="{F5C59639-533B-BD44-9FF6-9A07B447A2EF}"/>
                  </a:ext>
                </a:extLst>
              </p:cNvPr>
              <p:cNvSpPr>
                <a:spLocks noChangeArrowheads="1"/>
              </p:cNvSpPr>
              <p:nvPr/>
            </p:nvSpPr>
            <p:spPr bwMode="auto">
              <a:xfrm>
                <a:off x="169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7" name="Oval 53">
                <a:extLst>
                  <a:ext uri="{FF2B5EF4-FFF2-40B4-BE49-F238E27FC236}">
                    <a16:creationId xmlns:a16="http://schemas.microsoft.com/office/drawing/2014/main" id="{F8159E1D-8C8B-23EC-E3F2-DBB1824ABDC7}"/>
                  </a:ext>
                </a:extLst>
              </p:cNvPr>
              <p:cNvSpPr>
                <a:spLocks noChangeArrowheads="1"/>
              </p:cNvSpPr>
              <p:nvPr/>
            </p:nvSpPr>
            <p:spPr bwMode="auto">
              <a:xfrm>
                <a:off x="173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8" name="Oval 54">
                <a:extLst>
                  <a:ext uri="{FF2B5EF4-FFF2-40B4-BE49-F238E27FC236}">
                    <a16:creationId xmlns:a16="http://schemas.microsoft.com/office/drawing/2014/main" id="{79EBAF85-DB5F-1FBB-A442-7F0B4A635F80}"/>
                  </a:ext>
                </a:extLst>
              </p:cNvPr>
              <p:cNvSpPr>
                <a:spLocks noChangeArrowheads="1"/>
              </p:cNvSpPr>
              <p:nvPr/>
            </p:nvSpPr>
            <p:spPr bwMode="auto">
              <a:xfrm>
                <a:off x="177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9" name="Oval 55">
                <a:extLst>
                  <a:ext uri="{FF2B5EF4-FFF2-40B4-BE49-F238E27FC236}">
                    <a16:creationId xmlns:a16="http://schemas.microsoft.com/office/drawing/2014/main" id="{7C8FC577-7710-E649-DAE2-C47CA25CA130}"/>
                  </a:ext>
                </a:extLst>
              </p:cNvPr>
              <p:cNvSpPr>
                <a:spLocks noChangeArrowheads="1"/>
              </p:cNvSpPr>
              <p:nvPr/>
            </p:nvSpPr>
            <p:spPr bwMode="auto">
              <a:xfrm>
                <a:off x="181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0" name="Oval 56">
                <a:extLst>
                  <a:ext uri="{FF2B5EF4-FFF2-40B4-BE49-F238E27FC236}">
                    <a16:creationId xmlns:a16="http://schemas.microsoft.com/office/drawing/2014/main" id="{BBEC45A9-A859-FC38-3AF0-A428B75D1D53}"/>
                  </a:ext>
                </a:extLst>
              </p:cNvPr>
              <p:cNvSpPr>
                <a:spLocks noChangeArrowheads="1"/>
              </p:cNvSpPr>
              <p:nvPr/>
            </p:nvSpPr>
            <p:spPr bwMode="auto">
              <a:xfrm>
                <a:off x="185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1" name="Freeform 57">
                <a:extLst>
                  <a:ext uri="{FF2B5EF4-FFF2-40B4-BE49-F238E27FC236}">
                    <a16:creationId xmlns:a16="http://schemas.microsoft.com/office/drawing/2014/main" id="{39F38E6F-96D5-D749-4AA3-26D30524E779}"/>
                  </a:ext>
                </a:extLst>
              </p:cNvPr>
              <p:cNvSpPr>
                <a:spLocks/>
              </p:cNvSpPr>
              <p:nvPr/>
            </p:nvSpPr>
            <p:spPr bwMode="auto">
              <a:xfrm>
                <a:off x="1653" y="92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2" name="Oval 58">
                <a:extLst>
                  <a:ext uri="{FF2B5EF4-FFF2-40B4-BE49-F238E27FC236}">
                    <a16:creationId xmlns:a16="http://schemas.microsoft.com/office/drawing/2014/main" id="{114756E6-C05D-D8A3-8F7F-EF7190B48E1E}"/>
                  </a:ext>
                </a:extLst>
              </p:cNvPr>
              <p:cNvSpPr>
                <a:spLocks noChangeArrowheads="1"/>
              </p:cNvSpPr>
              <p:nvPr/>
            </p:nvSpPr>
            <p:spPr bwMode="auto">
              <a:xfrm>
                <a:off x="169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3" name="Oval 59">
                <a:extLst>
                  <a:ext uri="{FF2B5EF4-FFF2-40B4-BE49-F238E27FC236}">
                    <a16:creationId xmlns:a16="http://schemas.microsoft.com/office/drawing/2014/main" id="{03CBDB58-99E1-CB2A-0574-3E356B4D647C}"/>
                  </a:ext>
                </a:extLst>
              </p:cNvPr>
              <p:cNvSpPr>
                <a:spLocks noChangeArrowheads="1"/>
              </p:cNvSpPr>
              <p:nvPr/>
            </p:nvSpPr>
            <p:spPr bwMode="auto">
              <a:xfrm>
                <a:off x="173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4" name="Freeform 60">
                <a:extLst>
                  <a:ext uri="{FF2B5EF4-FFF2-40B4-BE49-F238E27FC236}">
                    <a16:creationId xmlns:a16="http://schemas.microsoft.com/office/drawing/2014/main" id="{FC48D817-9306-95EA-070D-DF86C1A45216}"/>
                  </a:ext>
                </a:extLst>
              </p:cNvPr>
              <p:cNvSpPr>
                <a:spLocks/>
              </p:cNvSpPr>
              <p:nvPr/>
            </p:nvSpPr>
            <p:spPr bwMode="auto">
              <a:xfrm>
                <a:off x="1653" y="96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5" name="Oval 61">
                <a:extLst>
                  <a:ext uri="{FF2B5EF4-FFF2-40B4-BE49-F238E27FC236}">
                    <a16:creationId xmlns:a16="http://schemas.microsoft.com/office/drawing/2014/main" id="{E0BA6326-7DFD-BB1E-EF2B-BB7B5D1F7EDD}"/>
                  </a:ext>
                </a:extLst>
              </p:cNvPr>
              <p:cNvSpPr>
                <a:spLocks noChangeArrowheads="1"/>
              </p:cNvSpPr>
              <p:nvPr/>
            </p:nvSpPr>
            <p:spPr bwMode="auto">
              <a:xfrm>
                <a:off x="169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6" name="Oval 62">
                <a:extLst>
                  <a:ext uri="{FF2B5EF4-FFF2-40B4-BE49-F238E27FC236}">
                    <a16:creationId xmlns:a16="http://schemas.microsoft.com/office/drawing/2014/main" id="{EDAD8A38-FF03-C05F-A3CD-DBF65B3E27CC}"/>
                  </a:ext>
                </a:extLst>
              </p:cNvPr>
              <p:cNvSpPr>
                <a:spLocks noChangeArrowheads="1"/>
              </p:cNvSpPr>
              <p:nvPr/>
            </p:nvSpPr>
            <p:spPr bwMode="auto">
              <a:xfrm>
                <a:off x="173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7" name="Freeform 63">
                <a:extLst>
                  <a:ext uri="{FF2B5EF4-FFF2-40B4-BE49-F238E27FC236}">
                    <a16:creationId xmlns:a16="http://schemas.microsoft.com/office/drawing/2014/main" id="{D23EDD7D-0AE2-AD28-8990-17157C71431D}"/>
                  </a:ext>
                </a:extLst>
              </p:cNvPr>
              <p:cNvSpPr>
                <a:spLocks/>
              </p:cNvSpPr>
              <p:nvPr/>
            </p:nvSpPr>
            <p:spPr bwMode="auto">
              <a:xfrm>
                <a:off x="1653" y="1005"/>
                <a:ext cx="27" cy="27"/>
              </a:xfrm>
              <a:custGeom>
                <a:avLst/>
                <a:gdLst>
                  <a:gd name="T0" fmla="*/ 20 w 41"/>
                  <a:gd name="T1" fmla="*/ 41 h 41"/>
                  <a:gd name="T2" fmla="*/ 0 w 41"/>
                  <a:gd name="T3" fmla="*/ 20 h 41"/>
                  <a:gd name="T4" fmla="*/ 20 w 41"/>
                  <a:gd name="T5" fmla="*/ 0 h 41"/>
                  <a:gd name="T6" fmla="*/ 41 w 41"/>
                  <a:gd name="T7" fmla="*/ 20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0"/>
                    </a:cubicBezTo>
                    <a:cubicBezTo>
                      <a:pt x="0" y="9"/>
                      <a:pt x="9" y="0"/>
                      <a:pt x="20" y="0"/>
                    </a:cubicBezTo>
                    <a:cubicBezTo>
                      <a:pt x="32" y="0"/>
                      <a:pt x="41" y="9"/>
                      <a:pt x="41" y="20"/>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8" name="Oval 64">
                <a:extLst>
                  <a:ext uri="{FF2B5EF4-FFF2-40B4-BE49-F238E27FC236}">
                    <a16:creationId xmlns:a16="http://schemas.microsoft.com/office/drawing/2014/main" id="{12D18A31-C3D0-0FB3-F791-31FADA3B2AA9}"/>
                  </a:ext>
                </a:extLst>
              </p:cNvPr>
              <p:cNvSpPr>
                <a:spLocks noChangeArrowheads="1"/>
              </p:cNvSpPr>
              <p:nvPr/>
            </p:nvSpPr>
            <p:spPr bwMode="auto">
              <a:xfrm>
                <a:off x="169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9" name="Oval 65">
                <a:extLst>
                  <a:ext uri="{FF2B5EF4-FFF2-40B4-BE49-F238E27FC236}">
                    <a16:creationId xmlns:a16="http://schemas.microsoft.com/office/drawing/2014/main" id="{D990F937-D23F-C2D0-A873-40C46C1CF110}"/>
                  </a:ext>
                </a:extLst>
              </p:cNvPr>
              <p:cNvSpPr>
                <a:spLocks noChangeArrowheads="1"/>
              </p:cNvSpPr>
              <p:nvPr/>
            </p:nvSpPr>
            <p:spPr bwMode="auto">
              <a:xfrm>
                <a:off x="173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50" name="Freeform 66">
                <a:extLst>
                  <a:ext uri="{FF2B5EF4-FFF2-40B4-BE49-F238E27FC236}">
                    <a16:creationId xmlns:a16="http://schemas.microsoft.com/office/drawing/2014/main" id="{30B70881-4001-D11D-4974-E9988F6D46EC}"/>
                  </a:ext>
                </a:extLst>
              </p:cNvPr>
              <p:cNvSpPr>
                <a:spLocks noEditPoints="1"/>
              </p:cNvSpPr>
              <p:nvPr/>
            </p:nvSpPr>
            <p:spPr bwMode="auto">
              <a:xfrm>
                <a:off x="1774" y="925"/>
                <a:ext cx="119" cy="120"/>
              </a:xfrm>
              <a:custGeom>
                <a:avLst/>
                <a:gdLst>
                  <a:gd name="T0" fmla="*/ 181 w 181"/>
                  <a:gd name="T1" fmla="*/ 169 h 183"/>
                  <a:gd name="T2" fmla="*/ 123 w 181"/>
                  <a:gd name="T3" fmla="*/ 111 h 183"/>
                  <a:gd name="T4" fmla="*/ 137 w 181"/>
                  <a:gd name="T5" fmla="*/ 69 h 183"/>
                  <a:gd name="T6" fmla="*/ 68 w 181"/>
                  <a:gd name="T7" fmla="*/ 0 h 183"/>
                  <a:gd name="T8" fmla="*/ 0 w 181"/>
                  <a:gd name="T9" fmla="*/ 69 h 183"/>
                  <a:gd name="T10" fmla="*/ 68 w 181"/>
                  <a:gd name="T11" fmla="*/ 138 h 183"/>
                  <a:gd name="T12" fmla="*/ 108 w 181"/>
                  <a:gd name="T13" fmla="*/ 125 h 183"/>
                  <a:gd name="T14" fmla="*/ 167 w 181"/>
                  <a:gd name="T15" fmla="*/ 183 h 183"/>
                  <a:gd name="T16" fmla="*/ 181 w 181"/>
                  <a:gd name="T17" fmla="*/ 169 h 183"/>
                  <a:gd name="T18" fmla="*/ 68 w 181"/>
                  <a:gd name="T19" fmla="*/ 118 h 183"/>
                  <a:gd name="T20" fmla="*/ 20 w 181"/>
                  <a:gd name="T21" fmla="*/ 69 h 183"/>
                  <a:gd name="T22" fmla="*/ 68 w 181"/>
                  <a:gd name="T23" fmla="*/ 21 h 183"/>
                  <a:gd name="T24" fmla="*/ 117 w 181"/>
                  <a:gd name="T25" fmla="*/ 69 h 183"/>
                  <a:gd name="T26" fmla="*/ 68 w 181"/>
                  <a:gd name="T27" fmla="*/ 11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 h="183">
                    <a:moveTo>
                      <a:pt x="181" y="169"/>
                    </a:moveTo>
                    <a:cubicBezTo>
                      <a:pt x="123" y="111"/>
                      <a:pt x="123" y="111"/>
                      <a:pt x="123" y="111"/>
                    </a:cubicBezTo>
                    <a:cubicBezTo>
                      <a:pt x="132" y="99"/>
                      <a:pt x="137" y="85"/>
                      <a:pt x="137" y="69"/>
                    </a:cubicBezTo>
                    <a:cubicBezTo>
                      <a:pt x="137" y="31"/>
                      <a:pt x="106" y="0"/>
                      <a:pt x="68" y="0"/>
                    </a:cubicBezTo>
                    <a:cubicBezTo>
                      <a:pt x="30" y="0"/>
                      <a:pt x="0" y="31"/>
                      <a:pt x="0" y="69"/>
                    </a:cubicBezTo>
                    <a:cubicBezTo>
                      <a:pt x="0" y="107"/>
                      <a:pt x="30" y="138"/>
                      <a:pt x="68" y="138"/>
                    </a:cubicBezTo>
                    <a:cubicBezTo>
                      <a:pt x="83" y="138"/>
                      <a:pt x="97" y="133"/>
                      <a:pt x="108" y="125"/>
                    </a:cubicBezTo>
                    <a:cubicBezTo>
                      <a:pt x="167" y="183"/>
                      <a:pt x="167" y="183"/>
                      <a:pt x="167" y="183"/>
                    </a:cubicBezTo>
                    <a:lnTo>
                      <a:pt x="181" y="169"/>
                    </a:lnTo>
                    <a:close/>
                    <a:moveTo>
                      <a:pt x="68" y="118"/>
                    </a:moveTo>
                    <a:cubicBezTo>
                      <a:pt x="42" y="118"/>
                      <a:pt x="20" y="96"/>
                      <a:pt x="20" y="69"/>
                    </a:cubicBezTo>
                    <a:cubicBezTo>
                      <a:pt x="20" y="42"/>
                      <a:pt x="42" y="21"/>
                      <a:pt x="68" y="21"/>
                    </a:cubicBezTo>
                    <a:cubicBezTo>
                      <a:pt x="95" y="21"/>
                      <a:pt x="117" y="42"/>
                      <a:pt x="117" y="69"/>
                    </a:cubicBezTo>
                    <a:cubicBezTo>
                      <a:pt x="117" y="96"/>
                      <a:pt x="95" y="118"/>
                      <a:pt x="68" y="118"/>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751" name="Rectangle 750">
              <a:extLst>
                <a:ext uri="{FF2B5EF4-FFF2-40B4-BE49-F238E27FC236}">
                  <a16:creationId xmlns:a16="http://schemas.microsoft.com/office/drawing/2014/main" id="{2859AA80-AA08-2004-255A-92A63B51B427}"/>
                </a:ext>
              </a:extLst>
            </p:cNvPr>
            <p:cNvSpPr/>
            <p:nvPr/>
          </p:nvSpPr>
          <p:spPr bwMode="auto">
            <a:xfrm>
              <a:off x="4945837" y="499391"/>
              <a:ext cx="1265416"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52" name="Rectangle 751">
              <a:extLst>
                <a:ext uri="{FF2B5EF4-FFF2-40B4-BE49-F238E27FC236}">
                  <a16:creationId xmlns:a16="http://schemas.microsoft.com/office/drawing/2014/main" id="{5005B68E-1ACD-87E1-F8FE-FA8F6795B219}"/>
                </a:ext>
              </a:extLst>
            </p:cNvPr>
            <p:cNvSpPr/>
            <p:nvPr/>
          </p:nvSpPr>
          <p:spPr bwMode="auto">
            <a:xfrm>
              <a:off x="5190816" y="505309"/>
              <a:ext cx="809499" cy="15488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Actioning</a:t>
              </a:r>
            </a:p>
          </p:txBody>
        </p:sp>
        <p:pic>
          <p:nvPicPr>
            <p:cNvPr id="202" name="Graphic 201">
              <a:extLst>
                <a:ext uri="{FF2B5EF4-FFF2-40B4-BE49-F238E27FC236}">
                  <a16:creationId xmlns:a16="http://schemas.microsoft.com/office/drawing/2014/main" id="{878FBCAA-A1DE-17BE-A3B9-03FCD5C389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35640" y="538599"/>
              <a:ext cx="116843" cy="115017"/>
            </a:xfrm>
            <a:prstGeom prst="rect">
              <a:avLst/>
            </a:prstGeom>
          </p:spPr>
        </p:pic>
        <p:cxnSp>
          <p:nvCxnSpPr>
            <p:cNvPr id="209" name="Straight Connector 208">
              <a:extLst>
                <a:ext uri="{FF2B5EF4-FFF2-40B4-BE49-F238E27FC236}">
                  <a16:creationId xmlns:a16="http://schemas.microsoft.com/office/drawing/2014/main" id="{9333CE87-3669-757E-0ABC-ADF602C73647}"/>
                </a:ext>
              </a:extLst>
            </p:cNvPr>
            <p:cNvCxnSpPr>
              <a:cxnSpLocks/>
            </p:cNvCxnSpPr>
            <p:nvPr/>
          </p:nvCxnSpPr>
          <p:spPr>
            <a:xfrm>
              <a:off x="6211253" y="660254"/>
              <a:ext cx="0"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FBC1BEE-A875-67FD-CA17-C053F281654C}"/>
                </a:ext>
              </a:extLst>
            </p:cNvPr>
            <p:cNvCxnSpPr>
              <a:cxnSpLocks/>
            </p:cNvCxnSpPr>
            <p:nvPr/>
          </p:nvCxnSpPr>
          <p:spPr>
            <a:xfrm>
              <a:off x="354504" y="609073"/>
              <a:ext cx="0" cy="4707782"/>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9AF00282-4423-9846-EBA6-E5F8A8361D5D}"/>
                </a:ext>
              </a:extLst>
            </p:cNvPr>
            <p:cNvCxnSpPr>
              <a:cxnSpLocks/>
            </p:cNvCxnSpPr>
            <p:nvPr/>
          </p:nvCxnSpPr>
          <p:spPr>
            <a:xfrm flipH="1" flipV="1">
              <a:off x="3937684" y="1426980"/>
              <a:ext cx="5780" cy="426347"/>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grpSp>
          <p:nvGrpSpPr>
            <p:cNvPr id="587" name="Group 586">
              <a:extLst>
                <a:ext uri="{FF2B5EF4-FFF2-40B4-BE49-F238E27FC236}">
                  <a16:creationId xmlns:a16="http://schemas.microsoft.com/office/drawing/2014/main" id="{0AEBAE29-048E-7272-4F23-F7E0697D428B}"/>
                </a:ext>
              </a:extLst>
            </p:cNvPr>
            <p:cNvGrpSpPr/>
            <p:nvPr/>
          </p:nvGrpSpPr>
          <p:grpSpPr>
            <a:xfrm>
              <a:off x="1877762" y="843844"/>
              <a:ext cx="4470940" cy="1289219"/>
              <a:chOff x="1877762" y="843844"/>
              <a:chExt cx="4470940" cy="1289219"/>
            </a:xfrm>
          </p:grpSpPr>
          <p:sp>
            <p:nvSpPr>
              <p:cNvPr id="136" name="Rectangle: Rounded Corners 135">
                <a:extLst>
                  <a:ext uri="{FF2B5EF4-FFF2-40B4-BE49-F238E27FC236}">
                    <a16:creationId xmlns:a16="http://schemas.microsoft.com/office/drawing/2014/main" id="{3177D336-9614-D244-1B55-10BA229DA1E5}"/>
                  </a:ext>
                </a:extLst>
              </p:cNvPr>
              <p:cNvSpPr/>
              <p:nvPr/>
            </p:nvSpPr>
            <p:spPr bwMode="auto">
              <a:xfrm>
                <a:off x="5079197" y="925626"/>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0" name="Rectangle: Rounded Corners 99">
                <a:extLst>
                  <a:ext uri="{FF2B5EF4-FFF2-40B4-BE49-F238E27FC236}">
                    <a16:creationId xmlns:a16="http://schemas.microsoft.com/office/drawing/2014/main" id="{E76E527F-FBEA-7D3D-F8F7-78E3BFF6A92B}"/>
                  </a:ext>
                </a:extLst>
              </p:cNvPr>
              <p:cNvSpPr/>
              <p:nvPr/>
            </p:nvSpPr>
            <p:spPr bwMode="auto">
              <a:xfrm>
                <a:off x="1877762" y="843844"/>
                <a:ext cx="2646164" cy="724079"/>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3" name="Rectangle: Rounded Corners 102">
                <a:extLst>
                  <a:ext uri="{FF2B5EF4-FFF2-40B4-BE49-F238E27FC236}">
                    <a16:creationId xmlns:a16="http://schemas.microsoft.com/office/drawing/2014/main" id="{789535D7-DA37-4AFF-BB01-F62992355A25}"/>
                  </a:ext>
                </a:extLst>
              </p:cNvPr>
              <p:cNvSpPr/>
              <p:nvPr/>
            </p:nvSpPr>
            <p:spPr bwMode="auto">
              <a:xfrm>
                <a:off x="3412147" y="918708"/>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7" name="Event Hubs" descr="Event Hubs">
                <a:extLst>
                  <a:ext uri="{FF2B5EF4-FFF2-40B4-BE49-F238E27FC236}">
                    <a16:creationId xmlns:a16="http://schemas.microsoft.com/office/drawing/2014/main" id="{33B4D409-FD06-416C-F212-65D079F27B85}"/>
                  </a:ext>
                </a:extLst>
              </p:cNvPr>
              <p:cNvPicPr>
                <a:picLocks noChangeAspect="1"/>
              </p:cNvPicPr>
              <p:nvPr/>
            </p:nvPicPr>
            <p:blipFill>
              <a:blip r:embed="rId9"/>
              <a:stretch>
                <a:fillRect/>
              </a:stretch>
            </p:blipFill>
            <p:spPr>
              <a:xfrm>
                <a:off x="3489366" y="1062432"/>
                <a:ext cx="233868" cy="246263"/>
              </a:xfrm>
              <a:prstGeom prst="rect">
                <a:avLst/>
              </a:prstGeom>
            </p:spPr>
          </p:pic>
          <p:sp>
            <p:nvSpPr>
              <p:cNvPr id="48" name="Rectangle 47">
                <a:extLst>
                  <a:ext uri="{FF2B5EF4-FFF2-40B4-BE49-F238E27FC236}">
                    <a16:creationId xmlns:a16="http://schemas.microsoft.com/office/drawing/2014/main" id="{F1613BC1-8A32-3641-3F24-6F07392EE6C6}"/>
                  </a:ext>
                </a:extLst>
              </p:cNvPr>
              <p:cNvSpPr/>
              <p:nvPr/>
            </p:nvSpPr>
            <p:spPr bwMode="auto">
              <a:xfrm>
                <a:off x="5335481" y="905795"/>
                <a:ext cx="1013221"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Consumers</a:t>
                </a:r>
              </a:p>
            </p:txBody>
          </p:sp>
          <p:sp>
            <p:nvSpPr>
              <p:cNvPr id="38" name="Rectangle 37">
                <a:extLst>
                  <a:ext uri="{FF2B5EF4-FFF2-40B4-BE49-F238E27FC236}">
                    <a16:creationId xmlns:a16="http://schemas.microsoft.com/office/drawing/2014/main" id="{63A8D402-B83C-2A26-AD24-FF133822320B}"/>
                  </a:ext>
                </a:extLst>
              </p:cNvPr>
              <p:cNvSpPr/>
              <p:nvPr/>
            </p:nvSpPr>
            <p:spPr bwMode="auto">
              <a:xfrm>
                <a:off x="3594461" y="904978"/>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a:t>
                </a:r>
              </a:p>
            </p:txBody>
          </p:sp>
          <p:pic>
            <p:nvPicPr>
              <p:cNvPr id="32" name="Graphic 31">
                <a:extLst>
                  <a:ext uri="{FF2B5EF4-FFF2-40B4-BE49-F238E27FC236}">
                    <a16:creationId xmlns:a16="http://schemas.microsoft.com/office/drawing/2014/main" id="{33E3722B-4E51-C98B-F71A-A449B8476EE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85010" y="1045978"/>
                <a:ext cx="262697" cy="262697"/>
              </a:xfrm>
              <a:prstGeom prst="rect">
                <a:avLst/>
              </a:prstGeom>
            </p:spPr>
          </p:pic>
          <p:pic>
            <p:nvPicPr>
              <p:cNvPr id="114" name="Picture 113" descr="Eventstream">
                <a:extLst>
                  <a:ext uri="{FF2B5EF4-FFF2-40B4-BE49-F238E27FC236}">
                    <a16:creationId xmlns:a16="http://schemas.microsoft.com/office/drawing/2014/main" id="{F034C701-B91A-01EE-5405-2AAC55E1F778}"/>
                  </a:ext>
                </a:extLst>
              </p:cNvPr>
              <p:cNvPicPr>
                <a:picLocks noChangeAspect="1"/>
              </p:cNvPicPr>
              <p:nvPr/>
            </p:nvPicPr>
            <p:blipFill>
              <a:blip r:embed="rId11"/>
              <a:stretch>
                <a:fillRect/>
              </a:stretch>
            </p:blipFill>
            <p:spPr>
              <a:xfrm>
                <a:off x="3084222" y="1030346"/>
                <a:ext cx="311417" cy="311417"/>
              </a:xfrm>
              <a:prstGeom prst="rect">
                <a:avLst/>
              </a:prstGeom>
            </p:spPr>
          </p:pic>
          <p:grpSp>
            <p:nvGrpSpPr>
              <p:cNvPr id="130" name="Group 129">
                <a:extLst>
                  <a:ext uri="{FF2B5EF4-FFF2-40B4-BE49-F238E27FC236}">
                    <a16:creationId xmlns:a16="http://schemas.microsoft.com/office/drawing/2014/main" id="{E54EBE24-FDA8-CECE-1607-2B8924DBDDAE}"/>
                  </a:ext>
                </a:extLst>
              </p:cNvPr>
              <p:cNvGrpSpPr/>
              <p:nvPr/>
            </p:nvGrpSpPr>
            <p:grpSpPr>
              <a:xfrm>
                <a:off x="4065519" y="1294140"/>
                <a:ext cx="1379971" cy="838923"/>
                <a:chOff x="8184668" y="2235922"/>
                <a:chExt cx="1379971" cy="838923"/>
              </a:xfrm>
            </p:grpSpPr>
            <p:sp>
              <p:nvSpPr>
                <p:cNvPr id="128" name="Rectangle 127">
                  <a:extLst>
                    <a:ext uri="{FF2B5EF4-FFF2-40B4-BE49-F238E27FC236}">
                      <a16:creationId xmlns:a16="http://schemas.microsoft.com/office/drawing/2014/main" id="{BC54F55C-CCD9-16BA-CCA9-409A26F54C2D}"/>
                    </a:ext>
                  </a:extLst>
                </p:cNvPr>
                <p:cNvSpPr/>
                <p:nvPr/>
              </p:nvSpPr>
              <p:spPr bwMode="auto">
                <a:xfrm>
                  <a:off x="8184668" y="2437033"/>
                  <a:ext cx="816070" cy="396112"/>
                </a:xfrm>
                <a:prstGeom prst="rect">
                  <a:avLst/>
                </a:prstGeom>
                <a:gradFill>
                  <a:gsLst>
                    <a:gs pos="0">
                      <a:srgbClr val="E3E3E3">
                        <a:alpha val="55000"/>
                      </a:srgbClr>
                    </a:gs>
                    <a:gs pos="100000">
                      <a:srgbClr val="E3E3E3"/>
                    </a:gs>
                  </a:gsLst>
                  <a:lin ang="0" scaled="0"/>
                </a:gradFill>
                <a:ln w="2540">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27" name="Group 126">
                  <a:extLst>
                    <a:ext uri="{FF2B5EF4-FFF2-40B4-BE49-F238E27FC236}">
                      <a16:creationId xmlns:a16="http://schemas.microsoft.com/office/drawing/2014/main" id="{591D0FF2-76A4-96E4-8C39-780BAD47CB47}"/>
                    </a:ext>
                  </a:extLst>
                </p:cNvPr>
                <p:cNvGrpSpPr/>
                <p:nvPr/>
              </p:nvGrpSpPr>
              <p:grpSpPr>
                <a:xfrm>
                  <a:off x="8233492" y="2235922"/>
                  <a:ext cx="1331147" cy="838923"/>
                  <a:chOff x="8695830" y="2684363"/>
                  <a:chExt cx="1331147" cy="838923"/>
                </a:xfrm>
              </p:grpSpPr>
              <p:pic>
                <p:nvPicPr>
                  <p:cNvPr id="125" name="Graphic 124">
                    <a:extLst>
                      <a:ext uri="{FF2B5EF4-FFF2-40B4-BE49-F238E27FC236}">
                        <a16:creationId xmlns:a16="http://schemas.microsoft.com/office/drawing/2014/main" id="{22E15628-1BBB-2473-8F70-02BC6B4E255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695830" y="2898640"/>
                    <a:ext cx="314813" cy="314813"/>
                  </a:xfrm>
                  <a:prstGeom prst="rect">
                    <a:avLst/>
                  </a:prstGeom>
                </p:spPr>
              </p:pic>
              <p:sp>
                <p:nvSpPr>
                  <p:cNvPr id="126" name="Rectangle 125">
                    <a:extLst>
                      <a:ext uri="{FF2B5EF4-FFF2-40B4-BE49-F238E27FC236}">
                        <a16:creationId xmlns:a16="http://schemas.microsoft.com/office/drawing/2014/main" id="{DBC928C1-4D9B-CFF5-483B-DD7A414026BE}"/>
                      </a:ext>
                    </a:extLst>
                  </p:cNvPr>
                  <p:cNvSpPr/>
                  <p:nvPr/>
                </p:nvSpPr>
                <p:spPr bwMode="auto">
                  <a:xfrm>
                    <a:off x="8792688" y="2684363"/>
                    <a:ext cx="1234289" cy="83892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&lt; </a:t>
                    </a:r>
                    <a:r>
                      <a:rPr lang="en-US" sz="800" b="1">
                        <a:solidFill>
                          <a:srgbClr val="7030A0"/>
                        </a:solidFill>
                        <a:latin typeface="Cascadia Code" panose="020B0609020000020004" pitchFamily="49" charset="0"/>
                        <a:ea typeface="Segoe UI" pitchFamily="34" charset="0"/>
                        <a:cs typeface="Cascadia Code" panose="020B0609020000020004" pitchFamily="49" charset="0"/>
                      </a:rPr>
                      <a:t>1</a:t>
                    </a: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 sec</a:t>
                    </a:r>
                  </a:p>
                </p:txBody>
              </p:sp>
            </p:grpSp>
          </p:grpSp>
          <p:cxnSp>
            <p:nvCxnSpPr>
              <p:cNvPr id="137" name="Straight Arrow Connector 136">
                <a:extLst>
                  <a:ext uri="{FF2B5EF4-FFF2-40B4-BE49-F238E27FC236}">
                    <a16:creationId xmlns:a16="http://schemas.microsoft.com/office/drawing/2014/main" id="{C51F80E8-D2F6-682C-6359-0B80DBF30E86}"/>
                  </a:ext>
                </a:extLst>
              </p:cNvPr>
              <p:cNvCxnSpPr>
                <a:cxnSpLocks/>
                <a:stCxn id="103" idx="3"/>
                <a:endCxn id="136" idx="1"/>
              </p:cNvCxnSpPr>
              <p:nvPr/>
            </p:nvCxnSpPr>
            <p:spPr>
              <a:xfrm>
                <a:off x="4461447" y="1177326"/>
                <a:ext cx="617750" cy="691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51" name="Graphic 150">
                <a:extLst>
                  <a:ext uri="{FF2B5EF4-FFF2-40B4-BE49-F238E27FC236}">
                    <a16:creationId xmlns:a16="http://schemas.microsoft.com/office/drawing/2014/main" id="{CFA84EED-A7D0-FA2F-90FD-F4E0C9AB8E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80556" y="1081324"/>
                <a:ext cx="227351" cy="227351"/>
              </a:xfrm>
              <a:prstGeom prst="rect">
                <a:avLst/>
              </a:prstGeom>
            </p:spPr>
          </p:pic>
        </p:grpSp>
        <p:sp>
          <p:nvSpPr>
            <p:cNvPr id="134" name="Rectangle: Rounded Corners 133">
              <a:extLst>
                <a:ext uri="{FF2B5EF4-FFF2-40B4-BE49-F238E27FC236}">
                  <a16:creationId xmlns:a16="http://schemas.microsoft.com/office/drawing/2014/main" id="{536E9E5B-FEBA-A617-3C76-C1487112E801}"/>
                </a:ext>
              </a:extLst>
            </p:cNvPr>
            <p:cNvSpPr/>
            <p:nvPr/>
          </p:nvSpPr>
          <p:spPr bwMode="auto">
            <a:xfrm>
              <a:off x="551794" y="1029058"/>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2" name="Rectangle: Rounded Corners 131">
              <a:extLst>
                <a:ext uri="{FF2B5EF4-FFF2-40B4-BE49-F238E27FC236}">
                  <a16:creationId xmlns:a16="http://schemas.microsoft.com/office/drawing/2014/main" id="{538C2508-7F9C-F09F-2951-7801BC313918}"/>
                </a:ext>
              </a:extLst>
            </p:cNvPr>
            <p:cNvSpPr/>
            <p:nvPr/>
          </p:nvSpPr>
          <p:spPr bwMode="auto">
            <a:xfrm>
              <a:off x="481069" y="944860"/>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Rectangle 36">
              <a:extLst>
                <a:ext uri="{FF2B5EF4-FFF2-40B4-BE49-F238E27FC236}">
                  <a16:creationId xmlns:a16="http://schemas.microsoft.com/office/drawing/2014/main" id="{A463D9FC-BC05-A0CB-D635-30BF4D12885F}"/>
                </a:ext>
              </a:extLst>
            </p:cNvPr>
            <p:cNvSpPr/>
            <p:nvPr/>
          </p:nvSpPr>
          <p:spPr bwMode="auto">
            <a:xfrm>
              <a:off x="696187" y="920611"/>
              <a:ext cx="93972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pic>
          <p:nvPicPr>
            <p:cNvPr id="31" name="Graphic 30">
              <a:extLst>
                <a:ext uri="{FF2B5EF4-FFF2-40B4-BE49-F238E27FC236}">
                  <a16:creationId xmlns:a16="http://schemas.microsoft.com/office/drawing/2014/main" id="{975AE99B-E674-E3B2-33F2-912B87BE715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96630" y="1060542"/>
              <a:ext cx="262697" cy="262697"/>
            </a:xfrm>
            <a:prstGeom prst="rect">
              <a:avLst/>
            </a:prstGeom>
          </p:spPr>
        </p:pic>
        <p:cxnSp>
          <p:nvCxnSpPr>
            <p:cNvPr id="106" name="Straight Arrow Connector 105">
              <a:extLst>
                <a:ext uri="{FF2B5EF4-FFF2-40B4-BE49-F238E27FC236}">
                  <a16:creationId xmlns:a16="http://schemas.microsoft.com/office/drawing/2014/main" id="{B111AEDF-3269-4828-06B0-8686B5DF968C}"/>
                </a:ext>
              </a:extLst>
            </p:cNvPr>
            <p:cNvCxnSpPr>
              <a:cxnSpLocks/>
              <a:stCxn id="132" idx="3"/>
              <a:endCxn id="101" idx="1"/>
            </p:cNvCxnSpPr>
            <p:nvPr/>
          </p:nvCxnSpPr>
          <p:spPr>
            <a:xfrm>
              <a:off x="1530369" y="1203478"/>
              <a:ext cx="441262" cy="10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09" name="Graphic 108">
              <a:extLst>
                <a:ext uri="{FF2B5EF4-FFF2-40B4-BE49-F238E27FC236}">
                  <a16:creationId xmlns:a16="http://schemas.microsoft.com/office/drawing/2014/main" id="{AE73256F-58D8-DAA9-7565-214C2178503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594266" y="1100932"/>
              <a:ext cx="229481" cy="229481"/>
            </a:xfrm>
            <a:prstGeom prst="rect">
              <a:avLst/>
            </a:prstGeom>
          </p:spPr>
        </p:pic>
        <p:sp>
          <p:nvSpPr>
            <p:cNvPr id="63" name="Rectangle 62">
              <a:extLst>
                <a:ext uri="{FF2B5EF4-FFF2-40B4-BE49-F238E27FC236}">
                  <a16:creationId xmlns:a16="http://schemas.microsoft.com/office/drawing/2014/main" id="{800AC5F9-2B7B-04C2-8274-F0F46E311C81}"/>
                </a:ext>
              </a:extLst>
            </p:cNvPr>
            <p:cNvSpPr/>
            <p:nvPr/>
          </p:nvSpPr>
          <p:spPr bwMode="auto">
            <a:xfrm>
              <a:off x="-27875" y="1"/>
              <a:ext cx="12195887" cy="6858000"/>
            </a:xfrm>
            <a:prstGeom prst="rect">
              <a:avLst/>
            </a:prstGeom>
            <a:gradFill>
              <a:gsLst>
                <a:gs pos="0">
                  <a:srgbClr val="F7FDFD">
                    <a:alpha val="90000"/>
                  </a:srgbClr>
                </a:gs>
                <a:gs pos="100000">
                  <a:srgbClr val="EEEEF5">
                    <a:alpha val="90000"/>
                  </a:srgbClr>
                </a:gs>
              </a:gsLst>
              <a:lin ang="189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FE6F4743-B0F8-63A5-9104-DEA82F9E26D1}"/>
                </a:ext>
              </a:extLst>
            </p:cNvPr>
            <p:cNvSpPr/>
            <p:nvPr/>
          </p:nvSpPr>
          <p:spPr bwMode="auto">
            <a:xfrm>
              <a:off x="23987" y="42930"/>
              <a:ext cx="6709319"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mj-lt"/>
                  <a:ea typeface="Segoe UI" pitchFamily="34" charset="0"/>
                  <a:cs typeface="Cascadia Code" panose="020B0609020000020004" pitchFamily="49" charset="0"/>
                </a:rPr>
                <a:t>Ingestion into Stream Processor: Apache Spark</a:t>
              </a:r>
            </a:p>
          </p:txBody>
        </p:sp>
        <p:sp>
          <p:nvSpPr>
            <p:cNvPr id="4" name="Rectangle: Rounded Corners 3">
              <a:extLst>
                <a:ext uri="{FF2B5EF4-FFF2-40B4-BE49-F238E27FC236}">
                  <a16:creationId xmlns:a16="http://schemas.microsoft.com/office/drawing/2014/main" id="{5B1B22C9-ED5A-B452-D6E7-6466E8CE4E0C}"/>
                </a:ext>
              </a:extLst>
            </p:cNvPr>
            <p:cNvSpPr/>
            <p:nvPr/>
          </p:nvSpPr>
          <p:spPr bwMode="auto">
            <a:xfrm>
              <a:off x="1942775" y="828884"/>
              <a:ext cx="2244405" cy="1704766"/>
            </a:xfrm>
            <a:prstGeom prst="roundRect">
              <a:avLst>
                <a:gd name="adj" fmla="val 5438"/>
              </a:avLst>
            </a:prstGeom>
            <a:solidFill>
              <a:schemeClr val="bg1">
                <a:alpha val="54000"/>
              </a:schemeClr>
            </a:solidFill>
            <a:ln w="3175">
              <a:solidFill>
                <a:schemeClr val="tx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5" name="Group 4">
              <a:extLst>
                <a:ext uri="{FF2B5EF4-FFF2-40B4-BE49-F238E27FC236}">
                  <a16:creationId xmlns:a16="http://schemas.microsoft.com/office/drawing/2014/main" id="{9FB20649-5676-0280-4876-F0CA72C785A3}"/>
                </a:ext>
              </a:extLst>
            </p:cNvPr>
            <p:cNvGrpSpPr/>
            <p:nvPr/>
          </p:nvGrpSpPr>
          <p:grpSpPr>
            <a:xfrm>
              <a:off x="1971631" y="931129"/>
              <a:ext cx="2191823" cy="1548294"/>
              <a:chOff x="1971631" y="931129"/>
              <a:chExt cx="2191823" cy="1548294"/>
            </a:xfrm>
          </p:grpSpPr>
          <p:sp>
            <p:nvSpPr>
              <p:cNvPr id="111" name="Rectangle: Rounded Corners 110">
                <a:extLst>
                  <a:ext uri="{FF2B5EF4-FFF2-40B4-BE49-F238E27FC236}">
                    <a16:creationId xmlns:a16="http://schemas.microsoft.com/office/drawing/2014/main" id="{A21B5402-C6FC-FF25-4164-4ABC7B2EE792}"/>
                  </a:ext>
                </a:extLst>
              </p:cNvPr>
              <p:cNvSpPr/>
              <p:nvPr/>
            </p:nvSpPr>
            <p:spPr bwMode="auto">
              <a:xfrm>
                <a:off x="2348515" y="1947703"/>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0" name="Rectangle 159">
                <a:extLst>
                  <a:ext uri="{FF2B5EF4-FFF2-40B4-BE49-F238E27FC236}">
                    <a16:creationId xmlns:a16="http://schemas.microsoft.com/office/drawing/2014/main" id="{00962DCA-A0A6-2905-A7AD-5C25139B1D68}"/>
                  </a:ext>
                </a:extLst>
              </p:cNvPr>
              <p:cNvSpPr/>
              <p:nvPr/>
            </p:nvSpPr>
            <p:spPr bwMode="auto">
              <a:xfrm>
                <a:off x="2683976" y="1934725"/>
                <a:ext cx="1479478"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Apache Spark</a:t>
                </a:r>
                <a:br>
                  <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Structured Streaming</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14" name="Picture 4" descr="Apache, spark, logo Icon in Vector Logo">
                <a:extLst>
                  <a:ext uri="{FF2B5EF4-FFF2-40B4-BE49-F238E27FC236}">
                    <a16:creationId xmlns:a16="http://schemas.microsoft.com/office/drawing/2014/main" id="{067864F0-61EA-A8B7-84AF-FD17B8CC9F1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12771" y="2015656"/>
                <a:ext cx="403701" cy="403701"/>
              </a:xfrm>
              <a:prstGeom prst="rect">
                <a:avLst/>
              </a:prstGeom>
              <a:noFill/>
              <a:extLst>
                <a:ext uri="{909E8E84-426E-40DD-AFC4-6F175D3DCCD1}">
                  <a14:hiddenFill xmlns:a14="http://schemas.microsoft.com/office/drawing/2010/main">
                    <a:solidFill>
                      <a:srgbClr val="FFFFFF"/>
                    </a:solidFill>
                  </a14:hiddenFill>
                </a:ext>
              </a:extLst>
            </p:spPr>
          </p:pic>
          <p:cxnSp>
            <p:nvCxnSpPr>
              <p:cNvPr id="115" name="Straight Arrow Connector 114">
                <a:extLst>
                  <a:ext uri="{FF2B5EF4-FFF2-40B4-BE49-F238E27FC236}">
                    <a16:creationId xmlns:a16="http://schemas.microsoft.com/office/drawing/2014/main" id="{4C5B2570-273F-844A-6C5A-778BEE535A49}"/>
                  </a:ext>
                </a:extLst>
              </p:cNvPr>
              <p:cNvCxnSpPr>
                <a:cxnSpLocks/>
                <a:stCxn id="101" idx="2"/>
              </p:cNvCxnSpPr>
              <p:nvPr/>
            </p:nvCxnSpPr>
            <p:spPr>
              <a:xfrm>
                <a:off x="2477092" y="1463168"/>
                <a:ext cx="0" cy="390159"/>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sp>
            <p:nvSpPr>
              <p:cNvPr id="101" name="Rectangle: Rounded Corners 100">
                <a:extLst>
                  <a:ext uri="{FF2B5EF4-FFF2-40B4-BE49-F238E27FC236}">
                    <a16:creationId xmlns:a16="http://schemas.microsoft.com/office/drawing/2014/main" id="{C2FB58D1-AEA7-D6F1-ECD7-0D053A492A36}"/>
                  </a:ext>
                </a:extLst>
              </p:cNvPr>
              <p:cNvSpPr/>
              <p:nvPr/>
            </p:nvSpPr>
            <p:spPr bwMode="auto">
              <a:xfrm>
                <a:off x="1971631" y="945932"/>
                <a:ext cx="1010922"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 name="Event Hubs" descr="Event Hubs">
                <a:extLst>
                  <a:ext uri="{FF2B5EF4-FFF2-40B4-BE49-F238E27FC236}">
                    <a16:creationId xmlns:a16="http://schemas.microsoft.com/office/drawing/2014/main" id="{2B6C5C1B-C8A1-5B4A-EA21-92802F835738}"/>
                  </a:ext>
                </a:extLst>
              </p:cNvPr>
              <p:cNvPicPr>
                <a:picLocks noChangeAspect="1"/>
              </p:cNvPicPr>
              <p:nvPr/>
            </p:nvPicPr>
            <p:blipFill>
              <a:blip r:embed="rId9"/>
              <a:stretch>
                <a:fillRect/>
              </a:stretch>
            </p:blipFill>
            <p:spPr>
              <a:xfrm>
                <a:off x="2028502" y="1088583"/>
                <a:ext cx="233868" cy="246263"/>
              </a:xfrm>
              <a:prstGeom prst="rect">
                <a:avLst/>
              </a:prstGeom>
            </p:spPr>
          </p:pic>
          <p:sp>
            <p:nvSpPr>
              <p:cNvPr id="8" name="Rectangle 7">
                <a:extLst>
                  <a:ext uri="{FF2B5EF4-FFF2-40B4-BE49-F238E27FC236}">
                    <a16:creationId xmlns:a16="http://schemas.microsoft.com/office/drawing/2014/main" id="{09B9AE94-3CBD-8017-8115-DDA84BECF1CC}"/>
                  </a:ext>
                </a:extLst>
              </p:cNvPr>
              <p:cNvSpPr/>
              <p:nvPr/>
            </p:nvSpPr>
            <p:spPr bwMode="auto">
              <a:xfrm>
                <a:off x="2133597" y="931129"/>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b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a:t>
                </a:r>
              </a:p>
            </p:txBody>
          </p:sp>
        </p:grpSp>
        <p:cxnSp>
          <p:nvCxnSpPr>
            <p:cNvPr id="2078" name="Straight Connector 2077">
              <a:extLst>
                <a:ext uri="{FF2B5EF4-FFF2-40B4-BE49-F238E27FC236}">
                  <a16:creationId xmlns:a16="http://schemas.microsoft.com/office/drawing/2014/main" id="{CC3609C2-B40D-DAAE-6550-433F79E16D50}"/>
                </a:ext>
              </a:extLst>
            </p:cNvPr>
            <p:cNvCxnSpPr>
              <a:cxnSpLocks/>
            </p:cNvCxnSpPr>
            <p:nvPr/>
          </p:nvCxnSpPr>
          <p:spPr>
            <a:xfrm>
              <a:off x="4187180" y="886588"/>
              <a:ext cx="6264920" cy="2351909"/>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150AAF70-8EFA-AD04-3DBB-0E2C8393940B}"/>
                </a:ext>
              </a:extLst>
            </p:cNvPr>
            <p:cNvCxnSpPr>
              <a:cxnSpLocks/>
            </p:cNvCxnSpPr>
            <p:nvPr/>
          </p:nvCxnSpPr>
          <p:spPr>
            <a:xfrm flipH="1">
              <a:off x="635323" y="874814"/>
              <a:ext cx="1301619" cy="2363683"/>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0C1F0DA0-B486-EA16-CD03-21F8DE3C9C54}"/>
                </a:ext>
              </a:extLst>
            </p:cNvPr>
            <p:cNvCxnSpPr>
              <a:cxnSpLocks/>
            </p:cNvCxnSpPr>
            <p:nvPr/>
          </p:nvCxnSpPr>
          <p:spPr>
            <a:xfrm flipH="1">
              <a:off x="669995" y="2506028"/>
              <a:ext cx="1295166" cy="4007842"/>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87" name="Straight Connector 2086">
              <a:extLst>
                <a:ext uri="{FF2B5EF4-FFF2-40B4-BE49-F238E27FC236}">
                  <a16:creationId xmlns:a16="http://schemas.microsoft.com/office/drawing/2014/main" id="{0EEDC0EC-BC44-7DE4-4055-5CFD9C373F6F}"/>
                </a:ext>
              </a:extLst>
            </p:cNvPr>
            <p:cNvCxnSpPr>
              <a:cxnSpLocks/>
            </p:cNvCxnSpPr>
            <p:nvPr/>
          </p:nvCxnSpPr>
          <p:spPr>
            <a:xfrm>
              <a:off x="4152491" y="2506028"/>
              <a:ext cx="6293822" cy="4007842"/>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5" name="Rectangle: Rounded Corners 174">
              <a:extLst>
                <a:ext uri="{FF2B5EF4-FFF2-40B4-BE49-F238E27FC236}">
                  <a16:creationId xmlns:a16="http://schemas.microsoft.com/office/drawing/2014/main" id="{92513527-4E90-CF59-40AA-87B565678B9A}"/>
                </a:ext>
              </a:extLst>
            </p:cNvPr>
            <p:cNvSpPr/>
            <p:nvPr/>
          </p:nvSpPr>
          <p:spPr bwMode="auto">
            <a:xfrm>
              <a:off x="635323" y="3214948"/>
              <a:ext cx="9816777" cy="3302448"/>
            </a:xfrm>
            <a:prstGeom prst="roundRect">
              <a:avLst>
                <a:gd name="adj" fmla="val 2093"/>
              </a:avLst>
            </a:prstGeom>
            <a:solidFill>
              <a:schemeClr val="bg1"/>
            </a:solidFill>
            <a:ln w="3175">
              <a:solidFill>
                <a:schemeClr val="tx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48" name="Rectangle 2047">
              <a:extLst>
                <a:ext uri="{FF2B5EF4-FFF2-40B4-BE49-F238E27FC236}">
                  <a16:creationId xmlns:a16="http://schemas.microsoft.com/office/drawing/2014/main" id="{BAEFE880-1C3A-4843-93D3-1ACFC8B0382A}"/>
                </a:ext>
              </a:extLst>
            </p:cNvPr>
            <p:cNvSpPr/>
            <p:nvPr/>
          </p:nvSpPr>
          <p:spPr bwMode="auto">
            <a:xfrm>
              <a:off x="7517601" y="6468372"/>
              <a:ext cx="1304016" cy="3143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000">
                  <a:solidFill>
                    <a:srgbClr val="000000"/>
                  </a:solidFill>
                  <a:latin typeface="Cascadia Code" panose="020B0609020000020004" pitchFamily="49" charset="0"/>
                  <a:ea typeface="Segoe UI" pitchFamily="34" charset="0"/>
                  <a:cs typeface="Cascadia Code" panose="020B0609020000020004" pitchFamily="49" charset="0"/>
                </a:rPr>
                <a:t>Microbatch</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grpSp>
          <p:nvGrpSpPr>
            <p:cNvPr id="2077" name="Group 2076">
              <a:extLst>
                <a:ext uri="{FF2B5EF4-FFF2-40B4-BE49-F238E27FC236}">
                  <a16:creationId xmlns:a16="http://schemas.microsoft.com/office/drawing/2014/main" id="{77CBBB25-FFF4-CA17-1110-A5AD61F0B920}"/>
                </a:ext>
              </a:extLst>
            </p:cNvPr>
            <p:cNvGrpSpPr/>
            <p:nvPr/>
          </p:nvGrpSpPr>
          <p:grpSpPr>
            <a:xfrm>
              <a:off x="931853" y="208946"/>
              <a:ext cx="10210854" cy="6161058"/>
              <a:chOff x="931853" y="208946"/>
              <a:chExt cx="10210854" cy="6161058"/>
            </a:xfrm>
          </p:grpSpPr>
          <p:grpSp>
            <p:nvGrpSpPr>
              <p:cNvPr id="691" name="Group 690">
                <a:extLst>
                  <a:ext uri="{FF2B5EF4-FFF2-40B4-BE49-F238E27FC236}">
                    <a16:creationId xmlns:a16="http://schemas.microsoft.com/office/drawing/2014/main" id="{AA9B8650-F399-595D-C28C-E65455380DFD}"/>
                  </a:ext>
                </a:extLst>
              </p:cNvPr>
              <p:cNvGrpSpPr/>
              <p:nvPr/>
            </p:nvGrpSpPr>
            <p:grpSpPr>
              <a:xfrm>
                <a:off x="931853" y="3385238"/>
                <a:ext cx="3363424" cy="2658187"/>
                <a:chOff x="7158052" y="3640435"/>
                <a:chExt cx="3363424" cy="2658187"/>
              </a:xfrm>
            </p:grpSpPr>
            <p:sp>
              <p:nvSpPr>
                <p:cNvPr id="183" name="Rectangle: Rounded Corners 182">
                  <a:extLst>
                    <a:ext uri="{FF2B5EF4-FFF2-40B4-BE49-F238E27FC236}">
                      <a16:creationId xmlns:a16="http://schemas.microsoft.com/office/drawing/2014/main" id="{F42473A4-DB68-B1BC-AF48-8031C974BC71}"/>
                    </a:ext>
                  </a:extLst>
                </p:cNvPr>
                <p:cNvSpPr/>
                <p:nvPr/>
              </p:nvSpPr>
              <p:spPr bwMode="auto">
                <a:xfrm>
                  <a:off x="7158052" y="3699802"/>
                  <a:ext cx="3235038" cy="2598820"/>
                </a:xfrm>
                <a:prstGeom prst="roundRect">
                  <a:avLst>
                    <a:gd name="adj" fmla="val 1284"/>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84" name="Event Hubs" descr="Event Hubs">
                  <a:extLst>
                    <a:ext uri="{FF2B5EF4-FFF2-40B4-BE49-F238E27FC236}">
                      <a16:creationId xmlns:a16="http://schemas.microsoft.com/office/drawing/2014/main" id="{0CB0644B-9B47-9FB8-0AAD-E1858AD8DCDB}"/>
                    </a:ext>
                  </a:extLst>
                </p:cNvPr>
                <p:cNvPicPr>
                  <a:picLocks noChangeAspect="1"/>
                </p:cNvPicPr>
                <p:nvPr/>
              </p:nvPicPr>
              <p:blipFill>
                <a:blip r:embed="rId9"/>
                <a:stretch>
                  <a:fillRect/>
                </a:stretch>
              </p:blipFill>
              <p:spPr>
                <a:xfrm>
                  <a:off x="7259411" y="3802353"/>
                  <a:ext cx="233868" cy="246263"/>
                </a:xfrm>
                <a:prstGeom prst="rect">
                  <a:avLst/>
                </a:prstGeom>
              </p:spPr>
            </p:pic>
            <p:sp>
              <p:nvSpPr>
                <p:cNvPr id="185" name="Rectangle 184">
                  <a:extLst>
                    <a:ext uri="{FF2B5EF4-FFF2-40B4-BE49-F238E27FC236}">
                      <a16:creationId xmlns:a16="http://schemas.microsoft.com/office/drawing/2014/main" id="{C6AF3C0F-14CE-DAF1-2F03-0233DC238CCD}"/>
                    </a:ext>
                  </a:extLst>
                </p:cNvPr>
                <p:cNvSpPr/>
                <p:nvPr/>
              </p:nvSpPr>
              <p:spPr bwMode="auto">
                <a:xfrm>
                  <a:off x="7373134" y="3640435"/>
                  <a:ext cx="3148342"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10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Append only, concurrent buffer</a:t>
                  </a:r>
                  <a:endParaRPr kumimoji="0" lang="en-US" sz="100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186" name="Rectangle: Rounded Corners 185">
                  <a:extLst>
                    <a:ext uri="{FF2B5EF4-FFF2-40B4-BE49-F238E27FC236}">
                      <a16:creationId xmlns:a16="http://schemas.microsoft.com/office/drawing/2014/main" id="{6A08FBC2-0BFE-A9F5-5D58-E1981ED654B8}"/>
                    </a:ext>
                  </a:extLst>
                </p:cNvPr>
                <p:cNvSpPr/>
                <p:nvPr/>
              </p:nvSpPr>
              <p:spPr bwMode="auto">
                <a:xfrm>
                  <a:off x="7273648" y="4191758"/>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187" name="Rectangle: Rounded Corners 186">
                  <a:extLst>
                    <a:ext uri="{FF2B5EF4-FFF2-40B4-BE49-F238E27FC236}">
                      <a16:creationId xmlns:a16="http://schemas.microsoft.com/office/drawing/2014/main" id="{62E3D3A6-A465-BA1F-35AF-9F13F338F87A}"/>
                    </a:ext>
                  </a:extLst>
                </p:cNvPr>
                <p:cNvSpPr/>
                <p:nvPr/>
              </p:nvSpPr>
              <p:spPr bwMode="auto">
                <a:xfrm>
                  <a:off x="7273648" y="4748752"/>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188" name="Rectangle: Rounded Corners 187">
                  <a:extLst>
                    <a:ext uri="{FF2B5EF4-FFF2-40B4-BE49-F238E27FC236}">
                      <a16:creationId xmlns:a16="http://schemas.microsoft.com/office/drawing/2014/main" id="{8D09C2B0-2AAD-A88D-746D-13E86CD7D5D6}"/>
                    </a:ext>
                  </a:extLst>
                </p:cNvPr>
                <p:cNvSpPr/>
                <p:nvPr/>
              </p:nvSpPr>
              <p:spPr bwMode="auto">
                <a:xfrm>
                  <a:off x="7273648" y="5281603"/>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189" name="Rectangle: Rounded Corners 188">
                  <a:extLst>
                    <a:ext uri="{FF2B5EF4-FFF2-40B4-BE49-F238E27FC236}">
                      <a16:creationId xmlns:a16="http://schemas.microsoft.com/office/drawing/2014/main" id="{33D96522-4FE5-D138-4D1F-14CDF81D426C}"/>
                    </a:ext>
                  </a:extLst>
                </p:cNvPr>
                <p:cNvSpPr/>
                <p:nvPr/>
              </p:nvSpPr>
              <p:spPr bwMode="auto">
                <a:xfrm>
                  <a:off x="7273648" y="5800375"/>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191" name="Rectangle: Rounded Corners 190">
                  <a:extLst>
                    <a:ext uri="{FF2B5EF4-FFF2-40B4-BE49-F238E27FC236}">
                      <a16:creationId xmlns:a16="http://schemas.microsoft.com/office/drawing/2014/main" id="{B2A46982-9FA4-7471-08C1-7B6A62B11E2B}"/>
                    </a:ext>
                  </a:extLst>
                </p:cNvPr>
                <p:cNvSpPr/>
                <p:nvPr/>
              </p:nvSpPr>
              <p:spPr bwMode="auto">
                <a:xfrm>
                  <a:off x="734782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46" name="Rectangle: Rounded Corners 645">
                  <a:extLst>
                    <a:ext uri="{FF2B5EF4-FFF2-40B4-BE49-F238E27FC236}">
                      <a16:creationId xmlns:a16="http://schemas.microsoft.com/office/drawing/2014/main" id="{79BAF971-AC79-FCF7-18F1-A7A36FC3A274}"/>
                    </a:ext>
                  </a:extLst>
                </p:cNvPr>
                <p:cNvSpPr/>
                <p:nvPr/>
              </p:nvSpPr>
              <p:spPr bwMode="auto">
                <a:xfrm>
                  <a:off x="751678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47" name="Rectangle: Rounded Corners 646">
                  <a:extLst>
                    <a:ext uri="{FF2B5EF4-FFF2-40B4-BE49-F238E27FC236}">
                      <a16:creationId xmlns:a16="http://schemas.microsoft.com/office/drawing/2014/main" id="{D8754DB8-7A07-7865-5AC6-55A8AD52F55F}"/>
                    </a:ext>
                  </a:extLst>
                </p:cNvPr>
                <p:cNvSpPr/>
                <p:nvPr/>
              </p:nvSpPr>
              <p:spPr bwMode="auto">
                <a:xfrm>
                  <a:off x="768574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48" name="Rectangle: Rounded Corners 647">
                  <a:extLst>
                    <a:ext uri="{FF2B5EF4-FFF2-40B4-BE49-F238E27FC236}">
                      <a16:creationId xmlns:a16="http://schemas.microsoft.com/office/drawing/2014/main" id="{FAF808C9-BFB5-5CDE-608E-712B743EB48D}"/>
                    </a:ext>
                  </a:extLst>
                </p:cNvPr>
                <p:cNvSpPr/>
                <p:nvPr/>
              </p:nvSpPr>
              <p:spPr bwMode="auto">
                <a:xfrm>
                  <a:off x="785470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1" name="Rectangle: Rounded Corners 650">
                  <a:extLst>
                    <a:ext uri="{FF2B5EF4-FFF2-40B4-BE49-F238E27FC236}">
                      <a16:creationId xmlns:a16="http://schemas.microsoft.com/office/drawing/2014/main" id="{53A97149-93BF-7341-1D9B-8BE627433A2A}"/>
                    </a:ext>
                  </a:extLst>
                </p:cNvPr>
                <p:cNvSpPr/>
                <p:nvPr/>
              </p:nvSpPr>
              <p:spPr bwMode="auto">
                <a:xfrm>
                  <a:off x="802366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2" name="Rectangle: Rounded Corners 651">
                  <a:extLst>
                    <a:ext uri="{FF2B5EF4-FFF2-40B4-BE49-F238E27FC236}">
                      <a16:creationId xmlns:a16="http://schemas.microsoft.com/office/drawing/2014/main" id="{94D00212-6EE8-B63A-651C-C1FF2DA1FB18}"/>
                    </a:ext>
                  </a:extLst>
                </p:cNvPr>
                <p:cNvSpPr/>
                <p:nvPr/>
              </p:nvSpPr>
              <p:spPr bwMode="auto">
                <a:xfrm>
                  <a:off x="819262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3" name="Rectangle: Rounded Corners 652">
                  <a:extLst>
                    <a:ext uri="{FF2B5EF4-FFF2-40B4-BE49-F238E27FC236}">
                      <a16:creationId xmlns:a16="http://schemas.microsoft.com/office/drawing/2014/main" id="{328601E0-AA7C-96FB-6C72-DED706015C6A}"/>
                    </a:ext>
                  </a:extLst>
                </p:cNvPr>
                <p:cNvSpPr/>
                <p:nvPr/>
              </p:nvSpPr>
              <p:spPr bwMode="auto">
                <a:xfrm>
                  <a:off x="836158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4" name="Rectangle: Rounded Corners 653">
                  <a:extLst>
                    <a:ext uri="{FF2B5EF4-FFF2-40B4-BE49-F238E27FC236}">
                      <a16:creationId xmlns:a16="http://schemas.microsoft.com/office/drawing/2014/main" id="{B2204630-139A-8ABE-694F-407170105C9E}"/>
                    </a:ext>
                  </a:extLst>
                </p:cNvPr>
                <p:cNvSpPr/>
                <p:nvPr/>
              </p:nvSpPr>
              <p:spPr bwMode="auto">
                <a:xfrm>
                  <a:off x="853054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5" name="Rectangle: Rounded Corners 654">
                  <a:extLst>
                    <a:ext uri="{FF2B5EF4-FFF2-40B4-BE49-F238E27FC236}">
                      <a16:creationId xmlns:a16="http://schemas.microsoft.com/office/drawing/2014/main" id="{2AF6AACC-56E2-2552-E562-F80EB6296C6D}"/>
                    </a:ext>
                  </a:extLst>
                </p:cNvPr>
                <p:cNvSpPr/>
                <p:nvPr/>
              </p:nvSpPr>
              <p:spPr bwMode="auto">
                <a:xfrm>
                  <a:off x="8699508"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6" name="Rectangle: Rounded Corners 655">
                  <a:extLst>
                    <a:ext uri="{FF2B5EF4-FFF2-40B4-BE49-F238E27FC236}">
                      <a16:creationId xmlns:a16="http://schemas.microsoft.com/office/drawing/2014/main" id="{8C1280D8-0B97-29B9-75B2-F1DF6CB04326}"/>
                    </a:ext>
                  </a:extLst>
                </p:cNvPr>
                <p:cNvSpPr/>
                <p:nvPr/>
              </p:nvSpPr>
              <p:spPr bwMode="auto">
                <a:xfrm>
                  <a:off x="735388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7" name="Rectangle: Rounded Corners 656">
                  <a:extLst>
                    <a:ext uri="{FF2B5EF4-FFF2-40B4-BE49-F238E27FC236}">
                      <a16:creationId xmlns:a16="http://schemas.microsoft.com/office/drawing/2014/main" id="{1F5646F1-01D0-814B-2CB1-2B9DA08259A6}"/>
                    </a:ext>
                  </a:extLst>
                </p:cNvPr>
                <p:cNvSpPr/>
                <p:nvPr/>
              </p:nvSpPr>
              <p:spPr bwMode="auto">
                <a:xfrm>
                  <a:off x="752284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8" name="Rectangle: Rounded Corners 657">
                  <a:extLst>
                    <a:ext uri="{FF2B5EF4-FFF2-40B4-BE49-F238E27FC236}">
                      <a16:creationId xmlns:a16="http://schemas.microsoft.com/office/drawing/2014/main" id="{35F9D76E-18F1-D1C9-9A5E-22CA6EB61732}"/>
                    </a:ext>
                  </a:extLst>
                </p:cNvPr>
                <p:cNvSpPr/>
                <p:nvPr/>
              </p:nvSpPr>
              <p:spPr bwMode="auto">
                <a:xfrm>
                  <a:off x="769180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59" name="Rectangle: Rounded Corners 658">
                  <a:extLst>
                    <a:ext uri="{FF2B5EF4-FFF2-40B4-BE49-F238E27FC236}">
                      <a16:creationId xmlns:a16="http://schemas.microsoft.com/office/drawing/2014/main" id="{08B0A80B-351E-0139-572D-043205EE5152}"/>
                    </a:ext>
                  </a:extLst>
                </p:cNvPr>
                <p:cNvSpPr/>
                <p:nvPr/>
              </p:nvSpPr>
              <p:spPr bwMode="auto">
                <a:xfrm>
                  <a:off x="786076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0" name="Rectangle: Rounded Corners 659">
                  <a:extLst>
                    <a:ext uri="{FF2B5EF4-FFF2-40B4-BE49-F238E27FC236}">
                      <a16:creationId xmlns:a16="http://schemas.microsoft.com/office/drawing/2014/main" id="{28D506EB-916E-7083-0BA0-BB0E6EC2D968}"/>
                    </a:ext>
                  </a:extLst>
                </p:cNvPr>
                <p:cNvSpPr/>
                <p:nvPr/>
              </p:nvSpPr>
              <p:spPr bwMode="auto">
                <a:xfrm>
                  <a:off x="802972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1" name="Rectangle: Rounded Corners 660">
                  <a:extLst>
                    <a:ext uri="{FF2B5EF4-FFF2-40B4-BE49-F238E27FC236}">
                      <a16:creationId xmlns:a16="http://schemas.microsoft.com/office/drawing/2014/main" id="{B7282789-C1EC-E781-B839-5DD72B1258BF}"/>
                    </a:ext>
                  </a:extLst>
                </p:cNvPr>
                <p:cNvSpPr/>
                <p:nvPr/>
              </p:nvSpPr>
              <p:spPr bwMode="auto">
                <a:xfrm>
                  <a:off x="819868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2" name="Rectangle: Rounded Corners 661">
                  <a:extLst>
                    <a:ext uri="{FF2B5EF4-FFF2-40B4-BE49-F238E27FC236}">
                      <a16:creationId xmlns:a16="http://schemas.microsoft.com/office/drawing/2014/main" id="{C46368F9-FBC0-F3D6-082F-A8F36E2D315B}"/>
                    </a:ext>
                  </a:extLst>
                </p:cNvPr>
                <p:cNvSpPr/>
                <p:nvPr/>
              </p:nvSpPr>
              <p:spPr bwMode="auto">
                <a:xfrm>
                  <a:off x="836764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3" name="Rectangle: Rounded Corners 662">
                  <a:extLst>
                    <a:ext uri="{FF2B5EF4-FFF2-40B4-BE49-F238E27FC236}">
                      <a16:creationId xmlns:a16="http://schemas.microsoft.com/office/drawing/2014/main" id="{3D07A45B-581B-A41E-6427-F0E062AF5426}"/>
                    </a:ext>
                  </a:extLst>
                </p:cNvPr>
                <p:cNvSpPr/>
                <p:nvPr/>
              </p:nvSpPr>
              <p:spPr bwMode="auto">
                <a:xfrm>
                  <a:off x="853660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4" name="Rectangle: Rounded Corners 663">
                  <a:extLst>
                    <a:ext uri="{FF2B5EF4-FFF2-40B4-BE49-F238E27FC236}">
                      <a16:creationId xmlns:a16="http://schemas.microsoft.com/office/drawing/2014/main" id="{D0FC4A0C-8449-C82B-C520-064249A39189}"/>
                    </a:ext>
                  </a:extLst>
                </p:cNvPr>
                <p:cNvSpPr/>
                <p:nvPr/>
              </p:nvSpPr>
              <p:spPr bwMode="auto">
                <a:xfrm>
                  <a:off x="8705571"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5" name="Rectangle: Rounded Corners 664">
                  <a:extLst>
                    <a:ext uri="{FF2B5EF4-FFF2-40B4-BE49-F238E27FC236}">
                      <a16:creationId xmlns:a16="http://schemas.microsoft.com/office/drawing/2014/main" id="{8C0D7D1B-EF7E-40A4-CDFA-A5B97E109081}"/>
                    </a:ext>
                  </a:extLst>
                </p:cNvPr>
                <p:cNvSpPr/>
                <p:nvPr/>
              </p:nvSpPr>
              <p:spPr bwMode="auto">
                <a:xfrm>
                  <a:off x="734782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6" name="Rectangle: Rounded Corners 665">
                  <a:extLst>
                    <a:ext uri="{FF2B5EF4-FFF2-40B4-BE49-F238E27FC236}">
                      <a16:creationId xmlns:a16="http://schemas.microsoft.com/office/drawing/2014/main" id="{47FCA58C-F79E-3038-F7BB-2BF1645DC600}"/>
                    </a:ext>
                  </a:extLst>
                </p:cNvPr>
                <p:cNvSpPr/>
                <p:nvPr/>
              </p:nvSpPr>
              <p:spPr bwMode="auto">
                <a:xfrm>
                  <a:off x="751678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7" name="Rectangle: Rounded Corners 666">
                  <a:extLst>
                    <a:ext uri="{FF2B5EF4-FFF2-40B4-BE49-F238E27FC236}">
                      <a16:creationId xmlns:a16="http://schemas.microsoft.com/office/drawing/2014/main" id="{8F4808B6-E0A9-F0D1-DECA-D4EE751C74C2}"/>
                    </a:ext>
                  </a:extLst>
                </p:cNvPr>
                <p:cNvSpPr/>
                <p:nvPr/>
              </p:nvSpPr>
              <p:spPr bwMode="auto">
                <a:xfrm>
                  <a:off x="768574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8" name="Rectangle: Rounded Corners 667">
                  <a:extLst>
                    <a:ext uri="{FF2B5EF4-FFF2-40B4-BE49-F238E27FC236}">
                      <a16:creationId xmlns:a16="http://schemas.microsoft.com/office/drawing/2014/main" id="{AD66E727-A14A-F1F0-41FC-A43826936AF7}"/>
                    </a:ext>
                  </a:extLst>
                </p:cNvPr>
                <p:cNvSpPr/>
                <p:nvPr/>
              </p:nvSpPr>
              <p:spPr bwMode="auto">
                <a:xfrm>
                  <a:off x="785470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69" name="Rectangle: Rounded Corners 668">
                  <a:extLst>
                    <a:ext uri="{FF2B5EF4-FFF2-40B4-BE49-F238E27FC236}">
                      <a16:creationId xmlns:a16="http://schemas.microsoft.com/office/drawing/2014/main" id="{7EDF5A0E-7565-8B20-69D4-B34090A3CE0E}"/>
                    </a:ext>
                  </a:extLst>
                </p:cNvPr>
                <p:cNvSpPr/>
                <p:nvPr/>
              </p:nvSpPr>
              <p:spPr bwMode="auto">
                <a:xfrm>
                  <a:off x="802366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0" name="Rectangle: Rounded Corners 669">
                  <a:extLst>
                    <a:ext uri="{FF2B5EF4-FFF2-40B4-BE49-F238E27FC236}">
                      <a16:creationId xmlns:a16="http://schemas.microsoft.com/office/drawing/2014/main" id="{137E64F0-9010-4870-BC3F-3C2BC7812D8B}"/>
                    </a:ext>
                  </a:extLst>
                </p:cNvPr>
                <p:cNvSpPr/>
                <p:nvPr/>
              </p:nvSpPr>
              <p:spPr bwMode="auto">
                <a:xfrm>
                  <a:off x="819262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1" name="Rectangle: Rounded Corners 670">
                  <a:extLst>
                    <a:ext uri="{FF2B5EF4-FFF2-40B4-BE49-F238E27FC236}">
                      <a16:creationId xmlns:a16="http://schemas.microsoft.com/office/drawing/2014/main" id="{425DE92D-B97D-CA55-6F95-31AD67028866}"/>
                    </a:ext>
                  </a:extLst>
                </p:cNvPr>
                <p:cNvSpPr/>
                <p:nvPr/>
              </p:nvSpPr>
              <p:spPr bwMode="auto">
                <a:xfrm>
                  <a:off x="836158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2" name="Rectangle: Rounded Corners 671">
                  <a:extLst>
                    <a:ext uri="{FF2B5EF4-FFF2-40B4-BE49-F238E27FC236}">
                      <a16:creationId xmlns:a16="http://schemas.microsoft.com/office/drawing/2014/main" id="{8C899C18-4766-1F1A-3530-1D002BE46A39}"/>
                    </a:ext>
                  </a:extLst>
                </p:cNvPr>
                <p:cNvSpPr/>
                <p:nvPr/>
              </p:nvSpPr>
              <p:spPr bwMode="auto">
                <a:xfrm>
                  <a:off x="853054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3" name="Rectangle: Rounded Corners 672">
                  <a:extLst>
                    <a:ext uri="{FF2B5EF4-FFF2-40B4-BE49-F238E27FC236}">
                      <a16:creationId xmlns:a16="http://schemas.microsoft.com/office/drawing/2014/main" id="{4C464BA4-93FD-052F-C58B-686094FC6A66}"/>
                    </a:ext>
                  </a:extLst>
                </p:cNvPr>
                <p:cNvSpPr/>
                <p:nvPr/>
              </p:nvSpPr>
              <p:spPr bwMode="auto">
                <a:xfrm>
                  <a:off x="8699508"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4" name="Rectangle: Rounded Corners 673">
                  <a:extLst>
                    <a:ext uri="{FF2B5EF4-FFF2-40B4-BE49-F238E27FC236}">
                      <a16:creationId xmlns:a16="http://schemas.microsoft.com/office/drawing/2014/main" id="{B88667E5-C546-3484-351C-94FCFE0EBC55}"/>
                    </a:ext>
                  </a:extLst>
                </p:cNvPr>
                <p:cNvSpPr/>
                <p:nvPr/>
              </p:nvSpPr>
              <p:spPr bwMode="auto">
                <a:xfrm>
                  <a:off x="8872761"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5" name="Rectangle: Rounded Corners 674">
                  <a:extLst>
                    <a:ext uri="{FF2B5EF4-FFF2-40B4-BE49-F238E27FC236}">
                      <a16:creationId xmlns:a16="http://schemas.microsoft.com/office/drawing/2014/main" id="{B088EA08-B2C9-694B-09DF-8FAA4EE736B3}"/>
                    </a:ext>
                  </a:extLst>
                </p:cNvPr>
                <p:cNvSpPr/>
                <p:nvPr/>
              </p:nvSpPr>
              <p:spPr bwMode="auto">
                <a:xfrm>
                  <a:off x="9041721"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6" name="Rectangle: Rounded Corners 675">
                  <a:extLst>
                    <a:ext uri="{FF2B5EF4-FFF2-40B4-BE49-F238E27FC236}">
                      <a16:creationId xmlns:a16="http://schemas.microsoft.com/office/drawing/2014/main" id="{CF859356-8A62-4292-5D3E-E276D86DD0B4}"/>
                    </a:ext>
                  </a:extLst>
                </p:cNvPr>
                <p:cNvSpPr/>
                <p:nvPr/>
              </p:nvSpPr>
              <p:spPr bwMode="auto">
                <a:xfrm>
                  <a:off x="9210683"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7" name="Rectangle: Rounded Corners 676">
                  <a:extLst>
                    <a:ext uri="{FF2B5EF4-FFF2-40B4-BE49-F238E27FC236}">
                      <a16:creationId xmlns:a16="http://schemas.microsoft.com/office/drawing/2014/main" id="{4AD977FB-626B-0A63-4BEA-B3B96E7B3923}"/>
                    </a:ext>
                  </a:extLst>
                </p:cNvPr>
                <p:cNvSpPr/>
                <p:nvPr/>
              </p:nvSpPr>
              <p:spPr bwMode="auto">
                <a:xfrm>
                  <a:off x="736882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8" name="Rectangle: Rounded Corners 677">
                  <a:extLst>
                    <a:ext uri="{FF2B5EF4-FFF2-40B4-BE49-F238E27FC236}">
                      <a16:creationId xmlns:a16="http://schemas.microsoft.com/office/drawing/2014/main" id="{6E3F3C09-A858-F01C-2477-CE79A8FB431B}"/>
                    </a:ext>
                  </a:extLst>
                </p:cNvPr>
                <p:cNvSpPr/>
                <p:nvPr/>
              </p:nvSpPr>
              <p:spPr bwMode="auto">
                <a:xfrm>
                  <a:off x="753778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679" name="Rectangle: Rounded Corners 678">
                  <a:extLst>
                    <a:ext uri="{FF2B5EF4-FFF2-40B4-BE49-F238E27FC236}">
                      <a16:creationId xmlns:a16="http://schemas.microsoft.com/office/drawing/2014/main" id="{BC6D3027-236B-8773-CEFB-0B37F06B1262}"/>
                    </a:ext>
                  </a:extLst>
                </p:cNvPr>
                <p:cNvSpPr/>
                <p:nvPr/>
              </p:nvSpPr>
              <p:spPr bwMode="auto">
                <a:xfrm>
                  <a:off x="770674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grpSp>
          <p:sp>
            <p:nvSpPr>
              <p:cNvPr id="697" name="Rectangle 696">
                <a:extLst>
                  <a:ext uri="{FF2B5EF4-FFF2-40B4-BE49-F238E27FC236}">
                    <a16:creationId xmlns:a16="http://schemas.microsoft.com/office/drawing/2014/main" id="{0E9F0833-3026-0B9E-FE39-9B65E01E6F10}"/>
                  </a:ext>
                </a:extLst>
              </p:cNvPr>
              <p:cNvSpPr/>
              <p:nvPr/>
            </p:nvSpPr>
            <p:spPr bwMode="auto">
              <a:xfrm>
                <a:off x="4791051" y="3081113"/>
                <a:ext cx="2315983" cy="131503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000">
                    <a:solidFill>
                      <a:srgbClr val="000000"/>
                    </a:solidFill>
                    <a:latin typeface="Cascadia Code" panose="020B0609020000020004" pitchFamily="49" charset="0"/>
                    <a:ea typeface="Segoe UI" pitchFamily="34" charset="0"/>
                    <a:cs typeface="Cascadia Code" panose="020B0609020000020004" pitchFamily="49" charset="0"/>
                  </a:rPr>
                  <a:t>Consumer Group, some applications unique view into the Event Hub as a whole</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698" name="Right Brace 697">
                <a:extLst>
                  <a:ext uri="{FF2B5EF4-FFF2-40B4-BE49-F238E27FC236}">
                    <a16:creationId xmlns:a16="http://schemas.microsoft.com/office/drawing/2014/main" id="{38A1D7EC-1782-2F56-0AF7-7E7A2B2096BC}"/>
                  </a:ext>
                </a:extLst>
              </p:cNvPr>
              <p:cNvSpPr/>
              <p:nvPr/>
            </p:nvSpPr>
            <p:spPr>
              <a:xfrm>
                <a:off x="4640487" y="3933042"/>
                <a:ext cx="308378" cy="1892085"/>
              </a:xfrm>
              <a:prstGeom prst="rightBrace">
                <a:avLst>
                  <a:gd name="adj1" fmla="val 8333"/>
                  <a:gd name="adj2" fmla="val 3344"/>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grpSp>
            <p:nvGrpSpPr>
              <p:cNvPr id="251" name="Group 250">
                <a:extLst>
                  <a:ext uri="{FF2B5EF4-FFF2-40B4-BE49-F238E27FC236}">
                    <a16:creationId xmlns:a16="http://schemas.microsoft.com/office/drawing/2014/main" id="{45CABAC2-EF45-D8AC-25FA-02B7833C7821}"/>
                  </a:ext>
                </a:extLst>
              </p:cNvPr>
              <p:cNvGrpSpPr/>
              <p:nvPr/>
            </p:nvGrpSpPr>
            <p:grpSpPr>
              <a:xfrm>
                <a:off x="6874452" y="3421653"/>
                <a:ext cx="3235038" cy="2635145"/>
                <a:chOff x="11150633" y="3573032"/>
                <a:chExt cx="3235038" cy="2635145"/>
              </a:xfrm>
            </p:grpSpPr>
            <p:grpSp>
              <p:nvGrpSpPr>
                <p:cNvPr id="207" name="Group 206">
                  <a:extLst>
                    <a:ext uri="{FF2B5EF4-FFF2-40B4-BE49-F238E27FC236}">
                      <a16:creationId xmlns:a16="http://schemas.microsoft.com/office/drawing/2014/main" id="{78B6B97E-D667-A2EC-47D4-DB803CB9DEA7}"/>
                    </a:ext>
                  </a:extLst>
                </p:cNvPr>
                <p:cNvGrpSpPr/>
                <p:nvPr/>
              </p:nvGrpSpPr>
              <p:grpSpPr>
                <a:xfrm>
                  <a:off x="11150633" y="3609357"/>
                  <a:ext cx="3235038" cy="2598820"/>
                  <a:chOff x="7158052" y="3699802"/>
                  <a:chExt cx="3235038" cy="2598820"/>
                </a:xfrm>
              </p:grpSpPr>
              <p:sp>
                <p:nvSpPr>
                  <p:cNvPr id="208" name="Rectangle: Rounded Corners 207">
                    <a:extLst>
                      <a:ext uri="{FF2B5EF4-FFF2-40B4-BE49-F238E27FC236}">
                        <a16:creationId xmlns:a16="http://schemas.microsoft.com/office/drawing/2014/main" id="{AB272B12-F1CF-3099-4AC0-03D49710E908}"/>
                      </a:ext>
                    </a:extLst>
                  </p:cNvPr>
                  <p:cNvSpPr/>
                  <p:nvPr/>
                </p:nvSpPr>
                <p:spPr bwMode="auto">
                  <a:xfrm>
                    <a:off x="7158052" y="3699802"/>
                    <a:ext cx="3235038" cy="2598820"/>
                  </a:xfrm>
                  <a:prstGeom prst="roundRect">
                    <a:avLst>
                      <a:gd name="adj" fmla="val 1284"/>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2" name="Rectangle: Rounded Corners 211">
                    <a:extLst>
                      <a:ext uri="{FF2B5EF4-FFF2-40B4-BE49-F238E27FC236}">
                        <a16:creationId xmlns:a16="http://schemas.microsoft.com/office/drawing/2014/main" id="{66B0B0E2-267A-C08F-C6BF-D5286FBC593A}"/>
                      </a:ext>
                    </a:extLst>
                  </p:cNvPr>
                  <p:cNvSpPr/>
                  <p:nvPr/>
                </p:nvSpPr>
                <p:spPr bwMode="auto">
                  <a:xfrm>
                    <a:off x="7273648" y="4191758"/>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3" name="Rectangle: Rounded Corners 212">
                    <a:extLst>
                      <a:ext uri="{FF2B5EF4-FFF2-40B4-BE49-F238E27FC236}">
                        <a16:creationId xmlns:a16="http://schemas.microsoft.com/office/drawing/2014/main" id="{7EE82DB9-41B3-8DE4-7C8E-CF39FED8849D}"/>
                      </a:ext>
                    </a:extLst>
                  </p:cNvPr>
                  <p:cNvSpPr/>
                  <p:nvPr/>
                </p:nvSpPr>
                <p:spPr bwMode="auto">
                  <a:xfrm>
                    <a:off x="7273648" y="4748752"/>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4" name="Rectangle: Rounded Corners 213">
                    <a:extLst>
                      <a:ext uri="{FF2B5EF4-FFF2-40B4-BE49-F238E27FC236}">
                        <a16:creationId xmlns:a16="http://schemas.microsoft.com/office/drawing/2014/main" id="{158E5E2A-78D7-180B-637F-FACC470FA6BF}"/>
                      </a:ext>
                    </a:extLst>
                  </p:cNvPr>
                  <p:cNvSpPr/>
                  <p:nvPr/>
                </p:nvSpPr>
                <p:spPr bwMode="auto">
                  <a:xfrm>
                    <a:off x="7273648" y="5281603"/>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5" name="Rectangle: Rounded Corners 214">
                    <a:extLst>
                      <a:ext uri="{FF2B5EF4-FFF2-40B4-BE49-F238E27FC236}">
                        <a16:creationId xmlns:a16="http://schemas.microsoft.com/office/drawing/2014/main" id="{65C98256-FAFA-5F3D-3E56-5B078C8AE91E}"/>
                      </a:ext>
                    </a:extLst>
                  </p:cNvPr>
                  <p:cNvSpPr/>
                  <p:nvPr/>
                </p:nvSpPr>
                <p:spPr bwMode="auto">
                  <a:xfrm>
                    <a:off x="7273648" y="5800375"/>
                    <a:ext cx="303815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6" name="Rectangle: Rounded Corners 215">
                    <a:extLst>
                      <a:ext uri="{FF2B5EF4-FFF2-40B4-BE49-F238E27FC236}">
                        <a16:creationId xmlns:a16="http://schemas.microsoft.com/office/drawing/2014/main" id="{6E2A8D10-4D63-5930-DEB8-1F75DEA901D2}"/>
                      </a:ext>
                    </a:extLst>
                  </p:cNvPr>
                  <p:cNvSpPr/>
                  <p:nvPr/>
                </p:nvSpPr>
                <p:spPr bwMode="auto">
                  <a:xfrm>
                    <a:off x="734782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7" name="Rectangle: Rounded Corners 216">
                    <a:extLst>
                      <a:ext uri="{FF2B5EF4-FFF2-40B4-BE49-F238E27FC236}">
                        <a16:creationId xmlns:a16="http://schemas.microsoft.com/office/drawing/2014/main" id="{0C7673D9-4B9C-492C-CCC7-C7D024199E2E}"/>
                      </a:ext>
                    </a:extLst>
                  </p:cNvPr>
                  <p:cNvSpPr/>
                  <p:nvPr/>
                </p:nvSpPr>
                <p:spPr bwMode="auto">
                  <a:xfrm>
                    <a:off x="751678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8" name="Rectangle: Rounded Corners 217">
                    <a:extLst>
                      <a:ext uri="{FF2B5EF4-FFF2-40B4-BE49-F238E27FC236}">
                        <a16:creationId xmlns:a16="http://schemas.microsoft.com/office/drawing/2014/main" id="{896D3C72-B47B-7642-8EEC-F5734B09D2B1}"/>
                      </a:ext>
                    </a:extLst>
                  </p:cNvPr>
                  <p:cNvSpPr/>
                  <p:nvPr/>
                </p:nvSpPr>
                <p:spPr bwMode="auto">
                  <a:xfrm>
                    <a:off x="768574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9" name="Rectangle: Rounded Corners 218">
                    <a:extLst>
                      <a:ext uri="{FF2B5EF4-FFF2-40B4-BE49-F238E27FC236}">
                        <a16:creationId xmlns:a16="http://schemas.microsoft.com/office/drawing/2014/main" id="{FD7C0EE7-069F-DD37-FD5A-8089E73CABC9}"/>
                      </a:ext>
                    </a:extLst>
                  </p:cNvPr>
                  <p:cNvSpPr/>
                  <p:nvPr/>
                </p:nvSpPr>
                <p:spPr bwMode="auto">
                  <a:xfrm>
                    <a:off x="785470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0" name="Rectangle: Rounded Corners 219">
                    <a:extLst>
                      <a:ext uri="{FF2B5EF4-FFF2-40B4-BE49-F238E27FC236}">
                        <a16:creationId xmlns:a16="http://schemas.microsoft.com/office/drawing/2014/main" id="{4A4855D1-B006-10A1-7D7B-8B453309DE97}"/>
                      </a:ext>
                    </a:extLst>
                  </p:cNvPr>
                  <p:cNvSpPr/>
                  <p:nvPr/>
                </p:nvSpPr>
                <p:spPr bwMode="auto">
                  <a:xfrm>
                    <a:off x="802366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1" name="Rectangle: Rounded Corners 220">
                    <a:extLst>
                      <a:ext uri="{FF2B5EF4-FFF2-40B4-BE49-F238E27FC236}">
                        <a16:creationId xmlns:a16="http://schemas.microsoft.com/office/drawing/2014/main" id="{C4E7F7D6-144D-BB03-D303-8509C5971447}"/>
                      </a:ext>
                    </a:extLst>
                  </p:cNvPr>
                  <p:cNvSpPr/>
                  <p:nvPr/>
                </p:nvSpPr>
                <p:spPr bwMode="auto">
                  <a:xfrm>
                    <a:off x="819262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2" name="Rectangle: Rounded Corners 221">
                    <a:extLst>
                      <a:ext uri="{FF2B5EF4-FFF2-40B4-BE49-F238E27FC236}">
                        <a16:creationId xmlns:a16="http://schemas.microsoft.com/office/drawing/2014/main" id="{E7575EC2-3BD2-0BC2-D15C-71B2C57D33E5}"/>
                      </a:ext>
                    </a:extLst>
                  </p:cNvPr>
                  <p:cNvSpPr/>
                  <p:nvPr/>
                </p:nvSpPr>
                <p:spPr bwMode="auto">
                  <a:xfrm>
                    <a:off x="836158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3" name="Rectangle: Rounded Corners 222">
                    <a:extLst>
                      <a:ext uri="{FF2B5EF4-FFF2-40B4-BE49-F238E27FC236}">
                        <a16:creationId xmlns:a16="http://schemas.microsoft.com/office/drawing/2014/main" id="{1BA77D89-101A-785E-793A-6969FBF5E9B0}"/>
                      </a:ext>
                    </a:extLst>
                  </p:cNvPr>
                  <p:cNvSpPr/>
                  <p:nvPr/>
                </p:nvSpPr>
                <p:spPr bwMode="auto">
                  <a:xfrm>
                    <a:off x="853054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4" name="Rectangle: Rounded Corners 223">
                    <a:extLst>
                      <a:ext uri="{FF2B5EF4-FFF2-40B4-BE49-F238E27FC236}">
                        <a16:creationId xmlns:a16="http://schemas.microsoft.com/office/drawing/2014/main" id="{89214D8F-EDDE-8426-5613-95CC47285F34}"/>
                      </a:ext>
                    </a:extLst>
                  </p:cNvPr>
                  <p:cNvSpPr/>
                  <p:nvPr/>
                </p:nvSpPr>
                <p:spPr bwMode="auto">
                  <a:xfrm>
                    <a:off x="8699508"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5" name="Rectangle: Rounded Corners 224">
                    <a:extLst>
                      <a:ext uri="{FF2B5EF4-FFF2-40B4-BE49-F238E27FC236}">
                        <a16:creationId xmlns:a16="http://schemas.microsoft.com/office/drawing/2014/main" id="{619D6552-72BA-2E10-1C72-8FEBA861DC48}"/>
                      </a:ext>
                    </a:extLst>
                  </p:cNvPr>
                  <p:cNvSpPr/>
                  <p:nvPr/>
                </p:nvSpPr>
                <p:spPr bwMode="auto">
                  <a:xfrm>
                    <a:off x="735388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6" name="Rectangle: Rounded Corners 225">
                    <a:extLst>
                      <a:ext uri="{FF2B5EF4-FFF2-40B4-BE49-F238E27FC236}">
                        <a16:creationId xmlns:a16="http://schemas.microsoft.com/office/drawing/2014/main" id="{33F27D68-04A5-1510-21FD-D752B846266D}"/>
                      </a:ext>
                    </a:extLst>
                  </p:cNvPr>
                  <p:cNvSpPr/>
                  <p:nvPr/>
                </p:nvSpPr>
                <p:spPr bwMode="auto">
                  <a:xfrm>
                    <a:off x="752284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7" name="Rectangle: Rounded Corners 226">
                    <a:extLst>
                      <a:ext uri="{FF2B5EF4-FFF2-40B4-BE49-F238E27FC236}">
                        <a16:creationId xmlns:a16="http://schemas.microsoft.com/office/drawing/2014/main" id="{25CAEF7E-198D-9912-9E9B-E37884434233}"/>
                      </a:ext>
                    </a:extLst>
                  </p:cNvPr>
                  <p:cNvSpPr/>
                  <p:nvPr/>
                </p:nvSpPr>
                <p:spPr bwMode="auto">
                  <a:xfrm>
                    <a:off x="769180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8" name="Rectangle: Rounded Corners 227">
                    <a:extLst>
                      <a:ext uri="{FF2B5EF4-FFF2-40B4-BE49-F238E27FC236}">
                        <a16:creationId xmlns:a16="http://schemas.microsoft.com/office/drawing/2014/main" id="{1A99DB72-9A19-87AA-B591-566422FD6615}"/>
                      </a:ext>
                    </a:extLst>
                  </p:cNvPr>
                  <p:cNvSpPr/>
                  <p:nvPr/>
                </p:nvSpPr>
                <p:spPr bwMode="auto">
                  <a:xfrm>
                    <a:off x="786076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9" name="Rectangle: Rounded Corners 228">
                    <a:extLst>
                      <a:ext uri="{FF2B5EF4-FFF2-40B4-BE49-F238E27FC236}">
                        <a16:creationId xmlns:a16="http://schemas.microsoft.com/office/drawing/2014/main" id="{042C3482-3E54-D1A7-BE6D-6A9F98BD3DAB}"/>
                      </a:ext>
                    </a:extLst>
                  </p:cNvPr>
                  <p:cNvSpPr/>
                  <p:nvPr/>
                </p:nvSpPr>
                <p:spPr bwMode="auto">
                  <a:xfrm>
                    <a:off x="802972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0" name="Rectangle: Rounded Corners 229">
                    <a:extLst>
                      <a:ext uri="{FF2B5EF4-FFF2-40B4-BE49-F238E27FC236}">
                        <a16:creationId xmlns:a16="http://schemas.microsoft.com/office/drawing/2014/main" id="{2BEBD983-1B2D-2787-512A-B0F11028FB08}"/>
                      </a:ext>
                    </a:extLst>
                  </p:cNvPr>
                  <p:cNvSpPr/>
                  <p:nvPr/>
                </p:nvSpPr>
                <p:spPr bwMode="auto">
                  <a:xfrm>
                    <a:off x="819868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1" name="Rectangle: Rounded Corners 230">
                    <a:extLst>
                      <a:ext uri="{FF2B5EF4-FFF2-40B4-BE49-F238E27FC236}">
                        <a16:creationId xmlns:a16="http://schemas.microsoft.com/office/drawing/2014/main" id="{1BAB7C09-7D54-523D-5E99-749FB0692655}"/>
                      </a:ext>
                    </a:extLst>
                  </p:cNvPr>
                  <p:cNvSpPr/>
                  <p:nvPr/>
                </p:nvSpPr>
                <p:spPr bwMode="auto">
                  <a:xfrm>
                    <a:off x="836764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2" name="Rectangle: Rounded Corners 231">
                    <a:extLst>
                      <a:ext uri="{FF2B5EF4-FFF2-40B4-BE49-F238E27FC236}">
                        <a16:creationId xmlns:a16="http://schemas.microsoft.com/office/drawing/2014/main" id="{E21F24F6-8983-D255-FC5A-B64944C933DE}"/>
                      </a:ext>
                    </a:extLst>
                  </p:cNvPr>
                  <p:cNvSpPr/>
                  <p:nvPr/>
                </p:nvSpPr>
                <p:spPr bwMode="auto">
                  <a:xfrm>
                    <a:off x="853660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4" name="Rectangle: Rounded Corners 233">
                    <a:extLst>
                      <a:ext uri="{FF2B5EF4-FFF2-40B4-BE49-F238E27FC236}">
                        <a16:creationId xmlns:a16="http://schemas.microsoft.com/office/drawing/2014/main" id="{28E21CB4-3472-0F09-1F7C-D8BE61FA4861}"/>
                      </a:ext>
                    </a:extLst>
                  </p:cNvPr>
                  <p:cNvSpPr/>
                  <p:nvPr/>
                </p:nvSpPr>
                <p:spPr bwMode="auto">
                  <a:xfrm>
                    <a:off x="734782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5" name="Rectangle: Rounded Corners 234">
                    <a:extLst>
                      <a:ext uri="{FF2B5EF4-FFF2-40B4-BE49-F238E27FC236}">
                        <a16:creationId xmlns:a16="http://schemas.microsoft.com/office/drawing/2014/main" id="{264EBD8C-60F9-4D62-D5D2-ED5FD2774130}"/>
                      </a:ext>
                    </a:extLst>
                  </p:cNvPr>
                  <p:cNvSpPr/>
                  <p:nvPr/>
                </p:nvSpPr>
                <p:spPr bwMode="auto">
                  <a:xfrm>
                    <a:off x="751678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6" name="Rectangle: Rounded Corners 235">
                    <a:extLst>
                      <a:ext uri="{FF2B5EF4-FFF2-40B4-BE49-F238E27FC236}">
                        <a16:creationId xmlns:a16="http://schemas.microsoft.com/office/drawing/2014/main" id="{0C442D43-9E47-E936-2B3B-69746CC125A2}"/>
                      </a:ext>
                    </a:extLst>
                  </p:cNvPr>
                  <p:cNvSpPr/>
                  <p:nvPr/>
                </p:nvSpPr>
                <p:spPr bwMode="auto">
                  <a:xfrm>
                    <a:off x="768574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7" name="Rectangle: Rounded Corners 236">
                    <a:extLst>
                      <a:ext uri="{FF2B5EF4-FFF2-40B4-BE49-F238E27FC236}">
                        <a16:creationId xmlns:a16="http://schemas.microsoft.com/office/drawing/2014/main" id="{7A34491A-8A57-47F9-A4DE-2909CFBE31C4}"/>
                      </a:ext>
                    </a:extLst>
                  </p:cNvPr>
                  <p:cNvSpPr/>
                  <p:nvPr/>
                </p:nvSpPr>
                <p:spPr bwMode="auto">
                  <a:xfrm>
                    <a:off x="785470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8" name="Rectangle: Rounded Corners 237">
                    <a:extLst>
                      <a:ext uri="{FF2B5EF4-FFF2-40B4-BE49-F238E27FC236}">
                        <a16:creationId xmlns:a16="http://schemas.microsoft.com/office/drawing/2014/main" id="{6770CDCD-1F07-CFD8-9375-F52ED7C5BDC1}"/>
                      </a:ext>
                    </a:extLst>
                  </p:cNvPr>
                  <p:cNvSpPr/>
                  <p:nvPr/>
                </p:nvSpPr>
                <p:spPr bwMode="auto">
                  <a:xfrm>
                    <a:off x="802366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9" name="Rectangle: Rounded Corners 238">
                    <a:extLst>
                      <a:ext uri="{FF2B5EF4-FFF2-40B4-BE49-F238E27FC236}">
                        <a16:creationId xmlns:a16="http://schemas.microsoft.com/office/drawing/2014/main" id="{604DCC9C-1ACC-20AD-C84E-148B443E3E2C}"/>
                      </a:ext>
                    </a:extLst>
                  </p:cNvPr>
                  <p:cNvSpPr/>
                  <p:nvPr/>
                </p:nvSpPr>
                <p:spPr bwMode="auto">
                  <a:xfrm>
                    <a:off x="819262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0" name="Rectangle: Rounded Corners 239">
                    <a:extLst>
                      <a:ext uri="{FF2B5EF4-FFF2-40B4-BE49-F238E27FC236}">
                        <a16:creationId xmlns:a16="http://schemas.microsoft.com/office/drawing/2014/main" id="{2938B28D-7623-F23E-30A8-EE1AF8F0EF87}"/>
                      </a:ext>
                    </a:extLst>
                  </p:cNvPr>
                  <p:cNvSpPr/>
                  <p:nvPr/>
                </p:nvSpPr>
                <p:spPr bwMode="auto">
                  <a:xfrm>
                    <a:off x="836158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1" name="Rectangle: Rounded Corners 240">
                    <a:extLst>
                      <a:ext uri="{FF2B5EF4-FFF2-40B4-BE49-F238E27FC236}">
                        <a16:creationId xmlns:a16="http://schemas.microsoft.com/office/drawing/2014/main" id="{45729D8D-5C0C-5F6E-1A94-EDE27F0B3439}"/>
                      </a:ext>
                    </a:extLst>
                  </p:cNvPr>
                  <p:cNvSpPr/>
                  <p:nvPr/>
                </p:nvSpPr>
                <p:spPr bwMode="auto">
                  <a:xfrm>
                    <a:off x="853054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2" name="Rectangle: Rounded Corners 241">
                    <a:extLst>
                      <a:ext uri="{FF2B5EF4-FFF2-40B4-BE49-F238E27FC236}">
                        <a16:creationId xmlns:a16="http://schemas.microsoft.com/office/drawing/2014/main" id="{2EBD2B33-7223-596F-995E-422AA28ABAC7}"/>
                      </a:ext>
                    </a:extLst>
                  </p:cNvPr>
                  <p:cNvSpPr/>
                  <p:nvPr/>
                </p:nvSpPr>
                <p:spPr bwMode="auto">
                  <a:xfrm>
                    <a:off x="8699508"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6" name="Rectangle: Rounded Corners 245">
                    <a:extLst>
                      <a:ext uri="{FF2B5EF4-FFF2-40B4-BE49-F238E27FC236}">
                        <a16:creationId xmlns:a16="http://schemas.microsoft.com/office/drawing/2014/main" id="{ADD2DDF5-4C26-C7AB-1D8F-27BE1A691A20}"/>
                      </a:ext>
                    </a:extLst>
                  </p:cNvPr>
                  <p:cNvSpPr/>
                  <p:nvPr/>
                </p:nvSpPr>
                <p:spPr bwMode="auto">
                  <a:xfrm>
                    <a:off x="736882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7" name="Rectangle: Rounded Corners 246">
                    <a:extLst>
                      <a:ext uri="{FF2B5EF4-FFF2-40B4-BE49-F238E27FC236}">
                        <a16:creationId xmlns:a16="http://schemas.microsoft.com/office/drawing/2014/main" id="{17645A7D-41FE-282E-A08A-F9902AF291BF}"/>
                      </a:ext>
                    </a:extLst>
                  </p:cNvPr>
                  <p:cNvSpPr/>
                  <p:nvPr/>
                </p:nvSpPr>
                <p:spPr bwMode="auto">
                  <a:xfrm>
                    <a:off x="753778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8" name="Rectangle: Rounded Corners 247">
                    <a:extLst>
                      <a:ext uri="{FF2B5EF4-FFF2-40B4-BE49-F238E27FC236}">
                        <a16:creationId xmlns:a16="http://schemas.microsoft.com/office/drawing/2014/main" id="{FB3967A1-FECC-7D63-1EF7-E446F5297558}"/>
                      </a:ext>
                    </a:extLst>
                  </p:cNvPr>
                  <p:cNvSpPr/>
                  <p:nvPr/>
                </p:nvSpPr>
                <p:spPr bwMode="auto">
                  <a:xfrm>
                    <a:off x="770674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grpSp>
            <p:sp>
              <p:nvSpPr>
                <p:cNvPr id="249" name="Rectangle 248">
                  <a:extLst>
                    <a:ext uri="{FF2B5EF4-FFF2-40B4-BE49-F238E27FC236}">
                      <a16:creationId xmlns:a16="http://schemas.microsoft.com/office/drawing/2014/main" id="{CF6B627C-EA99-D7B4-71C2-B9DF6E0716FB}"/>
                    </a:ext>
                  </a:extLst>
                </p:cNvPr>
                <p:cNvSpPr/>
                <p:nvPr/>
              </p:nvSpPr>
              <p:spPr bwMode="auto">
                <a:xfrm>
                  <a:off x="11405786" y="3573032"/>
                  <a:ext cx="2972595"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Spark Executors</a:t>
                  </a:r>
                  <a:br>
                    <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Threadpools dequeing messages as fast as possible</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250" name="Picture 4" descr="Apache, spark, logo Icon in Vector Logo">
                  <a:extLst>
                    <a:ext uri="{FF2B5EF4-FFF2-40B4-BE49-F238E27FC236}">
                      <a16:creationId xmlns:a16="http://schemas.microsoft.com/office/drawing/2014/main" id="{1DB608FE-B1A8-2EED-0319-576E624714E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57468" y="3644059"/>
                  <a:ext cx="403701" cy="40370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687" name="Straight Arrow Connector 686">
                <a:extLst>
                  <a:ext uri="{FF2B5EF4-FFF2-40B4-BE49-F238E27FC236}">
                    <a16:creationId xmlns:a16="http://schemas.microsoft.com/office/drawing/2014/main" id="{A2E6505B-5C09-345A-1F48-84264C21731A}"/>
                  </a:ext>
                </a:extLst>
              </p:cNvPr>
              <p:cNvCxnSpPr>
                <a:cxnSpLocks/>
              </p:cNvCxnSpPr>
              <p:nvPr/>
            </p:nvCxnSpPr>
            <p:spPr>
              <a:xfrm>
                <a:off x="4061990" y="4115550"/>
                <a:ext cx="2971270" cy="0"/>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693" name="Straight Arrow Connector 692">
                <a:extLst>
                  <a:ext uri="{FF2B5EF4-FFF2-40B4-BE49-F238E27FC236}">
                    <a16:creationId xmlns:a16="http://schemas.microsoft.com/office/drawing/2014/main" id="{31EF2573-3203-D231-34F1-5A2F6EE202DC}"/>
                  </a:ext>
                </a:extLst>
              </p:cNvPr>
              <p:cNvCxnSpPr>
                <a:cxnSpLocks/>
              </p:cNvCxnSpPr>
              <p:nvPr/>
            </p:nvCxnSpPr>
            <p:spPr>
              <a:xfrm>
                <a:off x="4061990" y="4694670"/>
                <a:ext cx="2971270" cy="0"/>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694" name="Straight Arrow Connector 693">
                <a:extLst>
                  <a:ext uri="{FF2B5EF4-FFF2-40B4-BE49-F238E27FC236}">
                    <a16:creationId xmlns:a16="http://schemas.microsoft.com/office/drawing/2014/main" id="{ECF554FD-6A78-D49D-9B84-75F394E2EE00}"/>
                  </a:ext>
                </a:extLst>
              </p:cNvPr>
              <p:cNvCxnSpPr>
                <a:cxnSpLocks/>
              </p:cNvCxnSpPr>
              <p:nvPr/>
            </p:nvCxnSpPr>
            <p:spPr>
              <a:xfrm>
                <a:off x="4061990" y="5212830"/>
                <a:ext cx="2971270" cy="0"/>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695" name="Straight Arrow Connector 694">
                <a:extLst>
                  <a:ext uri="{FF2B5EF4-FFF2-40B4-BE49-F238E27FC236}">
                    <a16:creationId xmlns:a16="http://schemas.microsoft.com/office/drawing/2014/main" id="{6EF05438-635C-EA69-2F4E-131BC907CCD6}"/>
                  </a:ext>
                </a:extLst>
              </p:cNvPr>
              <p:cNvCxnSpPr>
                <a:cxnSpLocks/>
              </p:cNvCxnSpPr>
              <p:nvPr/>
            </p:nvCxnSpPr>
            <p:spPr>
              <a:xfrm>
                <a:off x="4061990" y="5723370"/>
                <a:ext cx="2971270" cy="0"/>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sp>
            <p:nvSpPr>
              <p:cNvPr id="696" name="Rectangle: Rounded Corners 695">
                <a:extLst>
                  <a:ext uri="{FF2B5EF4-FFF2-40B4-BE49-F238E27FC236}">
                    <a16:creationId xmlns:a16="http://schemas.microsoft.com/office/drawing/2014/main" id="{6E8B66C1-0FCA-D297-4661-7DA75D7D5B50}"/>
                  </a:ext>
                </a:extLst>
              </p:cNvPr>
              <p:cNvSpPr/>
              <p:nvPr/>
            </p:nvSpPr>
            <p:spPr bwMode="auto">
              <a:xfrm>
                <a:off x="4265506" y="3921261"/>
                <a:ext cx="348455" cy="1979823"/>
              </a:xfrm>
              <a:prstGeom prst="roundRect">
                <a:avLst/>
              </a:prstGeom>
              <a:pattFill prst="wdUpDiag">
                <a:fgClr>
                  <a:schemeClr val="bg1">
                    <a:lumMod val="95000"/>
                  </a:schemeClr>
                </a:fgClr>
                <a:bgClr>
                  <a:schemeClr val="bg1"/>
                </a:bgClr>
              </a:patt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cxnSp>
            <p:nvCxnSpPr>
              <p:cNvPr id="253" name="Straight Connector 252">
                <a:extLst>
                  <a:ext uri="{FF2B5EF4-FFF2-40B4-BE49-F238E27FC236}">
                    <a16:creationId xmlns:a16="http://schemas.microsoft.com/office/drawing/2014/main" id="{A33F54EB-E9D4-1675-02FC-111DA1757ECA}"/>
                  </a:ext>
                </a:extLst>
              </p:cNvPr>
              <p:cNvCxnSpPr>
                <a:cxnSpLocks/>
                <a:stCxn id="2050" idx="2"/>
              </p:cNvCxnSpPr>
              <p:nvPr/>
            </p:nvCxnSpPr>
            <p:spPr>
              <a:xfrm flipV="1">
                <a:off x="7551420" y="3863748"/>
                <a:ext cx="0" cy="2407377"/>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37B34F4D-D0C7-CA3C-F134-2AE565BB36A8}"/>
                  </a:ext>
                </a:extLst>
              </p:cNvPr>
              <p:cNvCxnSpPr>
                <a:cxnSpLocks/>
                <a:stCxn id="2050" idx="1"/>
              </p:cNvCxnSpPr>
              <p:nvPr/>
            </p:nvCxnSpPr>
            <p:spPr>
              <a:xfrm flipH="1" flipV="1">
                <a:off x="8046718" y="3863746"/>
                <a:ext cx="3389" cy="2506258"/>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9B0814AE-05F8-F9C7-0E6A-713C490F1E5C}"/>
                  </a:ext>
                </a:extLst>
              </p:cNvPr>
              <p:cNvCxnSpPr>
                <a:cxnSpLocks/>
              </p:cNvCxnSpPr>
              <p:nvPr/>
            </p:nvCxnSpPr>
            <p:spPr>
              <a:xfrm flipV="1">
                <a:off x="8542020" y="3863746"/>
                <a:ext cx="0" cy="2430631"/>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50" name="Right Brace 2049">
                <a:extLst>
                  <a:ext uri="{FF2B5EF4-FFF2-40B4-BE49-F238E27FC236}">
                    <a16:creationId xmlns:a16="http://schemas.microsoft.com/office/drawing/2014/main" id="{ABEDFD54-D004-7FE1-113C-D145E915E47E}"/>
                  </a:ext>
                </a:extLst>
              </p:cNvPr>
              <p:cNvSpPr/>
              <p:nvPr/>
            </p:nvSpPr>
            <p:spPr>
              <a:xfrm rot="5400000">
                <a:off x="7997279" y="5825265"/>
                <a:ext cx="98879" cy="990598"/>
              </a:xfrm>
              <a:prstGeom prst="rightBrace">
                <a:avLst>
                  <a:gd name="adj1" fmla="val 8333"/>
                  <a:gd name="adj2" fmla="val 49658"/>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055" name="Rectangle 2054">
                <a:extLst>
                  <a:ext uri="{FF2B5EF4-FFF2-40B4-BE49-F238E27FC236}">
                    <a16:creationId xmlns:a16="http://schemas.microsoft.com/office/drawing/2014/main" id="{B3033977-26A5-EE1D-90E6-BF0E7A797DC7}"/>
                  </a:ext>
                </a:extLst>
              </p:cNvPr>
              <p:cNvSpPr/>
              <p:nvPr/>
            </p:nvSpPr>
            <p:spPr bwMode="auto">
              <a:xfrm>
                <a:off x="7276104" y="5980052"/>
                <a:ext cx="331195" cy="3143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000">
                    <a:solidFill>
                      <a:srgbClr val="000000"/>
                    </a:solidFill>
                    <a:latin typeface="Cascadia Code" panose="020B0609020000020004" pitchFamily="49" charset="0"/>
                    <a:ea typeface="Segoe UI" pitchFamily="34" charset="0"/>
                    <a:cs typeface="Cascadia Code" panose="020B0609020000020004" pitchFamily="49" charset="0"/>
                  </a:rPr>
                  <a:t>0</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056" name="Rectangle 2055">
                <a:extLst>
                  <a:ext uri="{FF2B5EF4-FFF2-40B4-BE49-F238E27FC236}">
                    <a16:creationId xmlns:a16="http://schemas.microsoft.com/office/drawing/2014/main" id="{1CB8C9CB-4E16-0FC8-6664-645FE44481EB}"/>
                  </a:ext>
                </a:extLst>
              </p:cNvPr>
              <p:cNvSpPr/>
              <p:nvPr/>
            </p:nvSpPr>
            <p:spPr bwMode="auto">
              <a:xfrm>
                <a:off x="7766568" y="5986794"/>
                <a:ext cx="331195" cy="3143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000">
                    <a:solidFill>
                      <a:srgbClr val="000000"/>
                    </a:solidFill>
                    <a:latin typeface="Cascadia Code" panose="020B0609020000020004" pitchFamily="49" charset="0"/>
                    <a:ea typeface="Segoe UI" pitchFamily="34" charset="0"/>
                    <a:cs typeface="Cascadia Code" panose="020B0609020000020004" pitchFamily="49" charset="0"/>
                  </a:rPr>
                  <a:t>1</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057" name="Rectangle 2056">
                <a:extLst>
                  <a:ext uri="{FF2B5EF4-FFF2-40B4-BE49-F238E27FC236}">
                    <a16:creationId xmlns:a16="http://schemas.microsoft.com/office/drawing/2014/main" id="{249A0E77-EF84-3C3D-99E2-E3B173BE50DA}"/>
                  </a:ext>
                </a:extLst>
              </p:cNvPr>
              <p:cNvSpPr/>
              <p:nvPr/>
            </p:nvSpPr>
            <p:spPr bwMode="auto">
              <a:xfrm>
                <a:off x="8270497" y="5986794"/>
                <a:ext cx="331195" cy="3143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000">
                    <a:solidFill>
                      <a:srgbClr val="000000"/>
                    </a:solidFill>
                    <a:latin typeface="Cascadia Code" panose="020B0609020000020004" pitchFamily="49" charset="0"/>
                    <a:ea typeface="Segoe UI" pitchFamily="34" charset="0"/>
                    <a:cs typeface="Cascadia Code" panose="020B0609020000020004" pitchFamily="49" charset="0"/>
                  </a:rPr>
                  <a:t>2</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061" name="Rectangle: Rounded Corners 2060">
                <a:extLst>
                  <a:ext uri="{FF2B5EF4-FFF2-40B4-BE49-F238E27FC236}">
                    <a16:creationId xmlns:a16="http://schemas.microsoft.com/office/drawing/2014/main" id="{7CC092A4-F389-A119-ECCD-10B4D47854F8}"/>
                  </a:ext>
                </a:extLst>
              </p:cNvPr>
              <p:cNvSpPr/>
              <p:nvPr/>
            </p:nvSpPr>
            <p:spPr bwMode="auto">
              <a:xfrm>
                <a:off x="5765906" y="208946"/>
                <a:ext cx="5353311" cy="2768143"/>
              </a:xfrm>
              <a:prstGeom prst="roundRect">
                <a:avLst>
                  <a:gd name="adj" fmla="val 2093"/>
                </a:avLst>
              </a:prstGeom>
              <a:solidFill>
                <a:schemeClr val="bg1"/>
              </a:solidFill>
              <a:ln w="3175">
                <a:solidFill>
                  <a:schemeClr val="tx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65" name="Rectangle 2064">
                <a:extLst>
                  <a:ext uri="{FF2B5EF4-FFF2-40B4-BE49-F238E27FC236}">
                    <a16:creationId xmlns:a16="http://schemas.microsoft.com/office/drawing/2014/main" id="{6F96FE6E-754D-E5CB-62A0-DD1C28D2031B}"/>
                  </a:ext>
                </a:extLst>
              </p:cNvPr>
              <p:cNvSpPr/>
              <p:nvPr/>
            </p:nvSpPr>
            <p:spPr bwMode="auto">
              <a:xfrm rot="16200000">
                <a:off x="3457153" y="4737171"/>
                <a:ext cx="1951819" cy="49176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sz="1600">
                    <a:solidFill>
                      <a:schemeClr val="accent4"/>
                    </a:solidFill>
                    <a:latin typeface="Cascadia Code" panose="020B0609020000020004" pitchFamily="49" charset="0"/>
                    <a:ea typeface="Segoe UI" pitchFamily="34" charset="0"/>
                    <a:cs typeface="Cascadia Code" panose="020B0609020000020004" pitchFamily="49" charset="0"/>
                  </a:rPr>
                  <a:t>Spark-app-1</a:t>
                </a:r>
                <a:endParaRPr kumimoji="0" lang="en-US" sz="1600" b="0" i="0" u="none" strike="noStrike" kern="120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063" name="TextBox 2062">
                <a:extLst>
                  <a:ext uri="{FF2B5EF4-FFF2-40B4-BE49-F238E27FC236}">
                    <a16:creationId xmlns:a16="http://schemas.microsoft.com/office/drawing/2014/main" id="{78FBB322-A575-78F1-D9FF-28339CC7E0A1}"/>
                  </a:ext>
                </a:extLst>
              </p:cNvPr>
              <p:cNvSpPr txBox="1"/>
              <p:nvPr/>
            </p:nvSpPr>
            <p:spPr>
              <a:xfrm>
                <a:off x="5879512" y="231750"/>
                <a:ext cx="5263195" cy="2559803"/>
              </a:xfrm>
              <a:prstGeom prst="rect">
                <a:avLst/>
              </a:prstGeom>
              <a:noFill/>
            </p:spPr>
            <p:txBody>
              <a:bodyPr wrap="square">
                <a:spAutoFit/>
              </a:bodyPr>
              <a:lstStyle/>
              <a:p>
                <a:pPr>
                  <a:lnSpc>
                    <a:spcPct val="250000"/>
                  </a:lnSpc>
                  <a:buNone/>
                </a:pPr>
                <a:r>
                  <a:rPr lang="en-CA" sz="1100" b="0">
                    <a:effectLst/>
                    <a:latin typeface="Cascadia Code" panose="020B0609020000020004" pitchFamily="49" charset="0"/>
                    <a:cs typeface="Cascadia Code" panose="020B0609020000020004" pitchFamily="49" charset="0"/>
                  </a:rPr>
                  <a:t>EventHubsConf(connectionString)</a:t>
                </a:r>
              </a:p>
              <a:p>
                <a:pPr>
                  <a:lnSpc>
                    <a:spcPct val="250000"/>
                  </a:lnSpc>
                  <a:buNone/>
                </a:pPr>
                <a:r>
                  <a:rPr lang="en-CA" sz="1100" b="0">
                    <a:effectLst/>
                    <a:latin typeface="Cascadia Code" panose="020B0609020000020004" pitchFamily="49" charset="0"/>
                    <a:cs typeface="Cascadia Code" panose="020B0609020000020004" pitchFamily="49" charset="0"/>
                  </a:rPr>
                  <a:t>      .setMaxEventsPerTrigger(</a:t>
                </a:r>
                <a:r>
                  <a:rPr lang="en-CA" sz="1100" b="0">
                    <a:solidFill>
                      <a:schemeClr val="accent4"/>
                    </a:solidFill>
                    <a:effectLst/>
                    <a:latin typeface="Cascadia Code" panose="020B0609020000020004" pitchFamily="49" charset="0"/>
                    <a:cs typeface="Cascadia Code" panose="020B0609020000020004" pitchFamily="49" charset="0"/>
                  </a:rPr>
                  <a:t>50000</a:t>
                </a:r>
                <a:r>
                  <a:rPr lang="en-CA" sz="1100" b="0">
                    <a:effectLst/>
                    <a:latin typeface="Cascadia Code" panose="020B0609020000020004" pitchFamily="49" charset="0"/>
                    <a:cs typeface="Cascadia Code" panose="020B0609020000020004" pitchFamily="49" charset="0"/>
                  </a:rPr>
                  <a:t>)</a:t>
                </a:r>
              </a:p>
              <a:p>
                <a:pPr>
                  <a:lnSpc>
                    <a:spcPct val="250000"/>
                  </a:lnSpc>
                  <a:buNone/>
                </a:pPr>
                <a:r>
                  <a:rPr lang="en-CA" sz="1100" b="0">
                    <a:effectLst/>
                    <a:latin typeface="Cascadia Code" panose="020B0609020000020004" pitchFamily="49" charset="0"/>
                    <a:cs typeface="Cascadia Code" panose="020B0609020000020004" pitchFamily="49" charset="0"/>
                  </a:rPr>
                  <a:t>      .setPrefetchCount(</a:t>
                </a:r>
                <a:r>
                  <a:rPr lang="en-CA" sz="1100" b="0">
                    <a:solidFill>
                      <a:schemeClr val="accent4"/>
                    </a:solidFill>
                    <a:effectLst/>
                    <a:latin typeface="Cascadia Code" panose="020B0609020000020004" pitchFamily="49" charset="0"/>
                    <a:cs typeface="Cascadia Code" panose="020B0609020000020004" pitchFamily="49" charset="0"/>
                  </a:rPr>
                  <a:t>30</a:t>
                </a:r>
                <a:r>
                  <a:rPr lang="en-CA" sz="1100" b="0">
                    <a:effectLst/>
                    <a:latin typeface="Cascadia Code" panose="020B0609020000020004" pitchFamily="49" charset="0"/>
                    <a:cs typeface="Cascadia Code" panose="020B0609020000020004" pitchFamily="49" charset="0"/>
                  </a:rPr>
                  <a:t>)</a:t>
                </a:r>
              </a:p>
              <a:p>
                <a:pPr>
                  <a:lnSpc>
                    <a:spcPct val="250000"/>
                  </a:lnSpc>
                  <a:buNone/>
                </a:pPr>
                <a:r>
                  <a:rPr lang="en-CA" sz="1100" b="0">
                    <a:effectLst/>
                    <a:latin typeface="Cascadia Code" panose="020B0609020000020004" pitchFamily="49" charset="0"/>
                    <a:cs typeface="Cascadia Code" panose="020B0609020000020004" pitchFamily="49" charset="0"/>
                  </a:rPr>
                  <a:t>      .setMaxRatePerPartition(</a:t>
                </a:r>
                <a:r>
                  <a:rPr lang="en-CA" sz="1100" b="0">
                    <a:solidFill>
                      <a:schemeClr val="accent4"/>
                    </a:solidFill>
                    <a:effectLst/>
                    <a:latin typeface="Cascadia Code" panose="020B0609020000020004" pitchFamily="49" charset="0"/>
                    <a:cs typeface="Cascadia Code" panose="020B0609020000020004" pitchFamily="49" charset="0"/>
                  </a:rPr>
                  <a:t>5000</a:t>
                </a:r>
                <a:r>
                  <a:rPr lang="en-CA" sz="1100" b="0">
                    <a:effectLst/>
                    <a:latin typeface="Cascadia Code" panose="020B0609020000020004" pitchFamily="49" charset="0"/>
                    <a:cs typeface="Cascadia Code" panose="020B0609020000020004" pitchFamily="49" charset="0"/>
                  </a:rPr>
                  <a:t>)</a:t>
                </a:r>
              </a:p>
              <a:p>
                <a:pPr>
                  <a:lnSpc>
                    <a:spcPct val="250000"/>
                  </a:lnSpc>
                  <a:buNone/>
                </a:pPr>
                <a:r>
                  <a:rPr lang="en-CA" sz="1100" b="0">
                    <a:effectLst/>
                    <a:latin typeface="Cascadia Code" panose="020B0609020000020004" pitchFamily="49" charset="0"/>
                    <a:cs typeface="Cascadia Code" panose="020B0609020000020004" pitchFamily="49" charset="0"/>
                  </a:rPr>
                  <a:t>      .setThreadPoolSize(</a:t>
                </a:r>
                <a:r>
                  <a:rPr lang="en-CA" sz="1100" b="0">
                    <a:solidFill>
                      <a:schemeClr val="accent4"/>
                    </a:solidFill>
                    <a:effectLst/>
                    <a:latin typeface="Cascadia Code" panose="020B0609020000020004" pitchFamily="49" charset="0"/>
                    <a:cs typeface="Cascadia Code" panose="020B0609020000020004" pitchFamily="49" charset="0"/>
                  </a:rPr>
                  <a:t>16</a:t>
                </a:r>
                <a:r>
                  <a:rPr lang="en-CA" sz="1100" b="0">
                    <a:effectLst/>
                    <a:latin typeface="Cascadia Code" panose="020B0609020000020004" pitchFamily="49" charset="0"/>
                    <a:cs typeface="Cascadia Code" panose="020B0609020000020004" pitchFamily="49" charset="0"/>
                  </a:rPr>
                  <a:t>)</a:t>
                </a:r>
              </a:p>
              <a:p>
                <a:pPr>
                  <a:lnSpc>
                    <a:spcPct val="250000"/>
                  </a:lnSpc>
                  <a:buNone/>
                </a:pPr>
                <a:r>
                  <a:rPr lang="en-CA" sz="1100" b="0">
                    <a:effectLst/>
                    <a:latin typeface="Cascadia Code" panose="020B0609020000020004" pitchFamily="49" charset="0"/>
                    <a:cs typeface="Cascadia Code" panose="020B0609020000020004" pitchFamily="49" charset="0"/>
                  </a:rPr>
                  <a:t>      .setConsumerGroup(</a:t>
                </a:r>
                <a:r>
                  <a:rPr lang="en-CA" sz="1100" b="0">
                    <a:solidFill>
                      <a:schemeClr val="accent4"/>
                    </a:solidFill>
                    <a:effectLst/>
                    <a:latin typeface="Cascadia Code" panose="020B0609020000020004" pitchFamily="49" charset="0"/>
                    <a:cs typeface="Cascadia Code" panose="020B0609020000020004" pitchFamily="49" charset="0"/>
                  </a:rPr>
                  <a:t>“Spark-app-1”</a:t>
                </a:r>
                <a:r>
                  <a:rPr lang="en-CA" sz="1100" b="0">
                    <a:effectLst/>
                    <a:latin typeface="Cascadia Code" panose="020B0609020000020004" pitchFamily="49" charset="0"/>
                    <a:cs typeface="Cascadia Code" panose="020B0609020000020004" pitchFamily="49" charset="0"/>
                  </a:rPr>
                  <a:t>)</a:t>
                </a:r>
              </a:p>
            </p:txBody>
          </p:sp>
        </p:grpSp>
        <p:cxnSp>
          <p:nvCxnSpPr>
            <p:cNvPr id="2070" name="Straight Arrow Connector 2069">
              <a:extLst>
                <a:ext uri="{FF2B5EF4-FFF2-40B4-BE49-F238E27FC236}">
                  <a16:creationId xmlns:a16="http://schemas.microsoft.com/office/drawing/2014/main" id="{535ECDAA-7C7C-F56F-4834-5BF36E5E518E}"/>
                </a:ext>
              </a:extLst>
            </p:cNvPr>
            <p:cNvCxnSpPr>
              <a:cxnSpLocks/>
              <a:endCxn id="208" idx="0"/>
            </p:cNvCxnSpPr>
            <p:nvPr/>
          </p:nvCxnSpPr>
          <p:spPr>
            <a:xfrm>
              <a:off x="8491971" y="2988554"/>
              <a:ext cx="0" cy="469424"/>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sp>
          <p:nvSpPr>
            <p:cNvPr id="2064" name="Rectangle 2063">
              <a:extLst>
                <a:ext uri="{FF2B5EF4-FFF2-40B4-BE49-F238E27FC236}">
                  <a16:creationId xmlns:a16="http://schemas.microsoft.com/office/drawing/2014/main" id="{B35F4CDC-2CA3-0183-411B-185EB4D7F9F5}"/>
                </a:ext>
              </a:extLst>
            </p:cNvPr>
            <p:cNvSpPr/>
            <p:nvPr/>
          </p:nvSpPr>
          <p:spPr bwMode="auto">
            <a:xfrm>
              <a:off x="6377075" y="432362"/>
              <a:ext cx="5482524" cy="7083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defTabSz="932472" fontAlgn="base">
                <a:spcBef>
                  <a:spcPct val="0"/>
                </a:spcBef>
                <a:spcAft>
                  <a:spcPct val="0"/>
                </a:spcAft>
                <a:defRPr/>
              </a:pPr>
              <a:r>
                <a:rPr lang="en-US" sz="1000">
                  <a:solidFill>
                    <a:schemeClr val="accent4"/>
                  </a:solidFill>
                  <a:latin typeface="Cascadia Code" panose="020B0609020000020004" pitchFamily="49" charset="0"/>
                  <a:ea typeface="Segoe UI" pitchFamily="34" charset="0"/>
                  <a:cs typeface="Cascadia Code" panose="020B0609020000020004" pitchFamily="49" charset="0"/>
                </a:rPr>
                <a:t>Max total events read per micro-batch across all partitions</a:t>
              </a:r>
            </a:p>
          </p:txBody>
        </p:sp>
        <p:sp>
          <p:nvSpPr>
            <p:cNvPr id="2066" name="Rectangle 2065">
              <a:extLst>
                <a:ext uri="{FF2B5EF4-FFF2-40B4-BE49-F238E27FC236}">
                  <a16:creationId xmlns:a16="http://schemas.microsoft.com/office/drawing/2014/main" id="{599C64DC-46B0-5BA2-943B-4A38850D2AFD}"/>
                </a:ext>
              </a:extLst>
            </p:cNvPr>
            <p:cNvSpPr/>
            <p:nvPr/>
          </p:nvSpPr>
          <p:spPr bwMode="auto">
            <a:xfrm>
              <a:off x="6373295" y="861500"/>
              <a:ext cx="5482524" cy="7083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defTabSz="932472" fontAlgn="base">
                <a:spcBef>
                  <a:spcPct val="0"/>
                </a:spcBef>
                <a:spcAft>
                  <a:spcPct val="0"/>
                </a:spcAft>
                <a:defRPr/>
              </a:pPr>
              <a:r>
                <a:rPr lang="en-US" sz="1000">
                  <a:solidFill>
                    <a:schemeClr val="accent4"/>
                  </a:solidFill>
                  <a:latin typeface="Cascadia Code" panose="020B0609020000020004" pitchFamily="49" charset="0"/>
                  <a:ea typeface="Segoe UI" pitchFamily="34" charset="0"/>
                  <a:cs typeface="Cascadia Code" panose="020B0609020000020004" pitchFamily="49" charset="0"/>
                </a:rPr>
                <a:t>Events pre-fetched into local concurrent safe buffer</a:t>
              </a:r>
            </a:p>
          </p:txBody>
        </p:sp>
        <p:sp>
          <p:nvSpPr>
            <p:cNvPr id="2067" name="Rectangle 2066">
              <a:extLst>
                <a:ext uri="{FF2B5EF4-FFF2-40B4-BE49-F238E27FC236}">
                  <a16:creationId xmlns:a16="http://schemas.microsoft.com/office/drawing/2014/main" id="{45AA7F29-BF32-93A3-B7CC-DA1AC3958E00}"/>
                </a:ext>
              </a:extLst>
            </p:cNvPr>
            <p:cNvSpPr/>
            <p:nvPr/>
          </p:nvSpPr>
          <p:spPr bwMode="auto">
            <a:xfrm>
              <a:off x="6354973" y="1279790"/>
              <a:ext cx="5482524" cy="7083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defTabSz="932472" fontAlgn="base">
                <a:spcBef>
                  <a:spcPct val="0"/>
                </a:spcBef>
                <a:spcAft>
                  <a:spcPct val="0"/>
                </a:spcAft>
                <a:defRPr/>
              </a:pPr>
              <a:r>
                <a:rPr lang="en-US" sz="1000">
                  <a:solidFill>
                    <a:schemeClr val="accent4"/>
                  </a:solidFill>
                  <a:latin typeface="Cascadia Code" panose="020B0609020000020004" pitchFamily="49" charset="0"/>
                  <a:ea typeface="Segoe UI" pitchFamily="34" charset="0"/>
                  <a:cs typeface="Cascadia Code" panose="020B0609020000020004" pitchFamily="49" charset="0"/>
                </a:rPr>
                <a:t>Max events read per partition, per microbatch</a:t>
              </a:r>
            </a:p>
          </p:txBody>
        </p:sp>
        <p:sp>
          <p:nvSpPr>
            <p:cNvPr id="2069" name="Rectangle 2068">
              <a:extLst>
                <a:ext uri="{FF2B5EF4-FFF2-40B4-BE49-F238E27FC236}">
                  <a16:creationId xmlns:a16="http://schemas.microsoft.com/office/drawing/2014/main" id="{340A0535-55CF-ADDB-D176-2C0068173C18}"/>
                </a:ext>
              </a:extLst>
            </p:cNvPr>
            <p:cNvSpPr/>
            <p:nvPr/>
          </p:nvSpPr>
          <p:spPr bwMode="auto">
            <a:xfrm>
              <a:off x="6354972" y="2126031"/>
              <a:ext cx="5482524" cy="7083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defTabSz="932472" fontAlgn="base">
                <a:spcBef>
                  <a:spcPct val="0"/>
                </a:spcBef>
                <a:spcAft>
                  <a:spcPct val="0"/>
                </a:spcAft>
                <a:defRPr/>
              </a:pPr>
              <a:r>
                <a:rPr lang="en-US" sz="1000">
                  <a:solidFill>
                    <a:schemeClr val="accent4"/>
                  </a:solidFill>
                  <a:latin typeface="Cascadia Code" panose="020B0609020000020004" pitchFamily="49" charset="0"/>
                  <a:ea typeface="Segoe UI" pitchFamily="34" charset="0"/>
                  <a:cs typeface="Cascadia Code" panose="020B0609020000020004" pitchFamily="49" charset="0"/>
                </a:rPr>
                <a:t>A unique Consumer Group </a:t>
              </a:r>
              <a:r>
                <a:rPr lang="en-US" sz="1000" b="1">
                  <a:solidFill>
                    <a:schemeClr val="accent4"/>
                  </a:solidFill>
                  <a:latin typeface="Cascadia Code" panose="020B0609020000020004" pitchFamily="49" charset="0"/>
                  <a:ea typeface="Segoe UI" pitchFamily="34" charset="0"/>
                  <a:cs typeface="Cascadia Code" panose="020B0609020000020004" pitchFamily="49" charset="0"/>
                </a:rPr>
                <a:t>PER DATAFRAME</a:t>
              </a:r>
              <a:r>
                <a:rPr lang="en-US" sz="1000">
                  <a:solidFill>
                    <a:schemeClr val="accent4"/>
                  </a:solidFill>
                  <a:latin typeface="Cascadia Code" panose="020B0609020000020004" pitchFamily="49" charset="0"/>
                  <a:ea typeface="Segoe UI" pitchFamily="34" charset="0"/>
                  <a:cs typeface="Cascadia Code" panose="020B0609020000020004" pitchFamily="49" charset="0"/>
                </a:rPr>
                <a:t> (</a:t>
              </a:r>
              <a:r>
                <a:rPr lang="en-US" sz="1000" u="sng">
                  <a:solidFill>
                    <a:schemeClr val="accent4"/>
                  </a:solidFill>
                  <a:latin typeface="Cascadia Code" panose="020B0609020000020004" pitchFamily="49" charset="0"/>
                  <a:ea typeface="Segoe UI" pitchFamily="34" charset="0"/>
                  <a:cs typeface="Cascadia Code" panose="020B0609020000020004" pitchFamily="49" charset="0"/>
                </a:rPr>
                <a:t>not</a:t>
              </a:r>
              <a:r>
                <a:rPr lang="en-US" sz="1000">
                  <a:solidFill>
                    <a:schemeClr val="accent4"/>
                  </a:solidFill>
                  <a:latin typeface="Cascadia Code" panose="020B0609020000020004" pitchFamily="49" charset="0"/>
                  <a:ea typeface="Segoe UI" pitchFamily="34" charset="0"/>
                  <a:cs typeface="Cascadia Code" panose="020B0609020000020004" pitchFamily="49" charset="0"/>
                </a:rPr>
                <a:t> </a:t>
              </a:r>
              <a:r>
                <a:rPr lang="en-US" sz="1000" b="1">
                  <a:solidFill>
                    <a:schemeClr val="accent4"/>
                  </a:solidFill>
                  <a:latin typeface="Cascadia Code" panose="020B0609020000020004" pitchFamily="49" charset="0"/>
                  <a:ea typeface="Segoe UI" pitchFamily="34" charset="0"/>
                  <a:cs typeface="Cascadia Code" panose="020B0609020000020004" pitchFamily="49" charset="0"/>
                </a:rPr>
                <a:t>PER APP</a:t>
              </a:r>
              <a:r>
                <a:rPr lang="en-US" sz="1000">
                  <a:solidFill>
                    <a:schemeClr val="accent4"/>
                  </a:solidFill>
                  <a:latin typeface="Cascadia Code" panose="020B0609020000020004" pitchFamily="49" charset="0"/>
                  <a:ea typeface="Segoe UI" pitchFamily="34" charset="0"/>
                  <a:cs typeface="Cascadia Code" panose="020B0609020000020004" pitchFamily="49" charset="0"/>
                </a:rPr>
                <a:t>)</a:t>
              </a:r>
            </a:p>
          </p:txBody>
        </p:sp>
        <p:sp>
          <p:nvSpPr>
            <p:cNvPr id="2068" name="Rectangle 2067">
              <a:extLst>
                <a:ext uri="{FF2B5EF4-FFF2-40B4-BE49-F238E27FC236}">
                  <a16:creationId xmlns:a16="http://schemas.microsoft.com/office/drawing/2014/main" id="{8F428BE5-2AB6-3855-C743-FD631203697A}"/>
                </a:ext>
              </a:extLst>
            </p:cNvPr>
            <p:cNvSpPr/>
            <p:nvPr/>
          </p:nvSpPr>
          <p:spPr bwMode="auto">
            <a:xfrm>
              <a:off x="6377075" y="1727014"/>
              <a:ext cx="4264332" cy="70834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defTabSz="932472" fontAlgn="base">
                <a:spcBef>
                  <a:spcPct val="0"/>
                </a:spcBef>
                <a:spcAft>
                  <a:spcPct val="0"/>
                </a:spcAft>
                <a:defRPr/>
              </a:pPr>
              <a:r>
                <a:rPr lang="en-US" sz="1000">
                  <a:solidFill>
                    <a:schemeClr val="accent4"/>
                  </a:solidFill>
                  <a:latin typeface="Cascadia Code" panose="020B0609020000020004" pitchFamily="49" charset="0"/>
                  <a:ea typeface="Segoe UI" pitchFamily="34" charset="0"/>
                  <a:cs typeface="Cascadia Code" panose="020B0609020000020004" pitchFamily="49" charset="0"/>
                </a:rPr>
                <a:t>Number of threadpools to use from the OS to connect</a:t>
              </a:r>
            </a:p>
          </p:txBody>
        </p:sp>
      </p:grpSp>
    </p:spTree>
    <p:extLst>
      <p:ext uri="{BB962C8B-B14F-4D97-AF65-F5344CB8AC3E}">
        <p14:creationId xmlns:p14="http://schemas.microsoft.com/office/powerpoint/2010/main" val="264689530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E8214-2F28-2AE9-1C02-679199FCFC8A}"/>
            </a:ext>
          </a:extLst>
        </p:cNvPr>
        <p:cNvGrpSpPr/>
        <p:nvPr/>
      </p:nvGrpSpPr>
      <p:grpSpPr>
        <a:xfrm>
          <a:off x="0" y="0"/>
          <a:ext cx="0" cy="0"/>
          <a:chOff x="0" y="0"/>
          <a:chExt cx="0" cy="0"/>
        </a:xfrm>
      </p:grpSpPr>
      <p:grpSp>
        <p:nvGrpSpPr>
          <p:cNvPr id="2121" name="Group 2120">
            <a:extLst>
              <a:ext uri="{FF2B5EF4-FFF2-40B4-BE49-F238E27FC236}">
                <a16:creationId xmlns:a16="http://schemas.microsoft.com/office/drawing/2014/main" id="{F1556400-2C4D-95B0-DAB7-EE59B344DB61}"/>
              </a:ext>
            </a:extLst>
          </p:cNvPr>
          <p:cNvGrpSpPr/>
          <p:nvPr/>
        </p:nvGrpSpPr>
        <p:grpSpPr>
          <a:xfrm>
            <a:off x="1" y="2"/>
            <a:ext cx="12219716" cy="6857998"/>
            <a:chOff x="1" y="2"/>
            <a:chExt cx="12219716" cy="6857998"/>
          </a:xfrm>
        </p:grpSpPr>
        <p:sp>
          <p:nvSpPr>
            <p:cNvPr id="76" name="Rectangle: Rounded Corners 75">
              <a:extLst>
                <a:ext uri="{FF2B5EF4-FFF2-40B4-BE49-F238E27FC236}">
                  <a16:creationId xmlns:a16="http://schemas.microsoft.com/office/drawing/2014/main" id="{8B7F6C33-DCD8-C3A0-DD8D-AA7B0B72E0B4}"/>
                </a:ext>
              </a:extLst>
            </p:cNvPr>
            <p:cNvSpPr/>
            <p:nvPr/>
          </p:nvSpPr>
          <p:spPr bwMode="auto">
            <a:xfrm>
              <a:off x="1784516" y="382400"/>
              <a:ext cx="3153957" cy="2964820"/>
            </a:xfrm>
            <a:prstGeom prst="roundRect">
              <a:avLst>
                <a:gd name="adj" fmla="val 1988"/>
              </a:avLst>
            </a:prstGeom>
            <a:solidFill>
              <a:srgbClr val="E1ECEA"/>
            </a:solidFill>
            <a:ln w="4445" cap="flat" cmpd="sng" algn="ctr">
              <a:solidFill>
                <a:srgbClr val="CAE4E1"/>
              </a:solidFill>
              <a:prstDash val="solid"/>
              <a:headEnd type="none" w="med" len="med"/>
              <a:tailEnd type="none" w="med" len="med"/>
            </a:ln>
            <a:effectLst>
              <a:outerShdw blurRad="50800" dist="38100" dir="5400000" algn="t" rotWithShape="0">
                <a:prstClr val="black">
                  <a:alpha val="7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CA" sz="20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2053" name="Straight Connector 2052">
              <a:extLst>
                <a:ext uri="{FF2B5EF4-FFF2-40B4-BE49-F238E27FC236}">
                  <a16:creationId xmlns:a16="http://schemas.microsoft.com/office/drawing/2014/main" id="{BED7D502-A5C0-48C7-BA75-24CE71E640BA}"/>
                </a:ext>
              </a:extLst>
            </p:cNvPr>
            <p:cNvCxnSpPr>
              <a:cxnSpLocks/>
            </p:cNvCxnSpPr>
            <p:nvPr/>
          </p:nvCxnSpPr>
          <p:spPr>
            <a:xfrm>
              <a:off x="1786722" y="660254"/>
              <a:ext cx="37025"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4C2564CE-5428-8AAC-B52E-CD44EAC36C25}"/>
                </a:ext>
              </a:extLst>
            </p:cNvPr>
            <p:cNvCxnSpPr>
              <a:cxnSpLocks/>
            </p:cNvCxnSpPr>
            <p:nvPr/>
          </p:nvCxnSpPr>
          <p:spPr>
            <a:xfrm>
              <a:off x="4942252" y="681209"/>
              <a:ext cx="0" cy="4635646"/>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07" name="Rectangle 606">
              <a:extLst>
                <a:ext uri="{FF2B5EF4-FFF2-40B4-BE49-F238E27FC236}">
                  <a16:creationId xmlns:a16="http://schemas.microsoft.com/office/drawing/2014/main" id="{A27C5CF6-6DEA-31D0-5689-804BDEE3FAC3}"/>
                </a:ext>
              </a:extLst>
            </p:cNvPr>
            <p:cNvSpPr/>
            <p:nvPr/>
          </p:nvSpPr>
          <p:spPr bwMode="auto">
            <a:xfrm>
              <a:off x="354504" y="499391"/>
              <a:ext cx="1432220"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8" name="Rectangle 607">
              <a:extLst>
                <a:ext uri="{FF2B5EF4-FFF2-40B4-BE49-F238E27FC236}">
                  <a16:creationId xmlns:a16="http://schemas.microsoft.com/office/drawing/2014/main" id="{378B45B1-16C7-DFDA-8776-648761E9A8B7}"/>
                </a:ext>
              </a:extLst>
            </p:cNvPr>
            <p:cNvSpPr/>
            <p:nvPr/>
          </p:nvSpPr>
          <p:spPr bwMode="auto">
            <a:xfrm>
              <a:off x="688209" y="509206"/>
              <a:ext cx="803361"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grpSp>
          <p:nvGrpSpPr>
            <p:cNvPr id="609" name="migrate 2" descr="migrate">
              <a:extLst>
                <a:ext uri="{FF2B5EF4-FFF2-40B4-BE49-F238E27FC236}">
                  <a16:creationId xmlns:a16="http://schemas.microsoft.com/office/drawing/2014/main" id="{61FD16C4-01DE-B3E6-13D0-20E57E6C8227}"/>
                </a:ext>
              </a:extLst>
            </p:cNvPr>
            <p:cNvGrpSpPr/>
            <p:nvPr/>
          </p:nvGrpSpPr>
          <p:grpSpPr>
            <a:xfrm>
              <a:off x="748777" y="536049"/>
              <a:ext cx="105208" cy="104839"/>
              <a:chOff x="697286" y="2098371"/>
              <a:chExt cx="443544" cy="441988"/>
            </a:xfrm>
          </p:grpSpPr>
          <p:sp>
            <p:nvSpPr>
              <p:cNvPr id="610" name="Freeform 765">
                <a:extLst>
                  <a:ext uri="{FF2B5EF4-FFF2-40B4-BE49-F238E27FC236}">
                    <a16:creationId xmlns:a16="http://schemas.microsoft.com/office/drawing/2014/main" id="{607E67F3-829D-71B7-A193-EAE90F76F926}"/>
                  </a:ext>
                </a:extLst>
              </p:cNvPr>
              <p:cNvSpPr>
                <a:spLocks/>
              </p:cNvSpPr>
              <p:nvPr/>
            </p:nvSpPr>
            <p:spPr bwMode="auto">
              <a:xfrm>
                <a:off x="1024108" y="2099928"/>
                <a:ext cx="116722" cy="116722"/>
              </a:xfrm>
              <a:custGeom>
                <a:avLst/>
                <a:gdLst>
                  <a:gd name="T0" fmla="*/ 50 w 101"/>
                  <a:gd name="T1" fmla="*/ 101 h 101"/>
                  <a:gd name="T2" fmla="*/ 0 w 101"/>
                  <a:gd name="T3" fmla="*/ 51 h 101"/>
                  <a:gd name="T4" fmla="*/ 50 w 101"/>
                  <a:gd name="T5" fmla="*/ 0 h 101"/>
                  <a:gd name="T6" fmla="*/ 101 w 101"/>
                  <a:gd name="T7" fmla="*/ 51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9"/>
                      <a:pt x="0" y="51"/>
                    </a:cubicBezTo>
                    <a:cubicBezTo>
                      <a:pt x="0" y="23"/>
                      <a:pt x="22" y="0"/>
                      <a:pt x="50" y="0"/>
                    </a:cubicBezTo>
                    <a:cubicBezTo>
                      <a:pt x="78" y="0"/>
                      <a:pt x="101" y="23"/>
                      <a:pt x="101" y="51"/>
                    </a:cubicBezTo>
                    <a:cubicBezTo>
                      <a:pt x="101" y="79"/>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1" name="Freeform 766">
                <a:extLst>
                  <a:ext uri="{FF2B5EF4-FFF2-40B4-BE49-F238E27FC236}">
                    <a16:creationId xmlns:a16="http://schemas.microsoft.com/office/drawing/2014/main" id="{C0978942-BD61-07E8-A3EE-69C36F368ECA}"/>
                  </a:ext>
                </a:extLst>
              </p:cNvPr>
              <p:cNvSpPr>
                <a:spLocks/>
              </p:cNvSpPr>
              <p:nvPr/>
            </p:nvSpPr>
            <p:spPr bwMode="auto">
              <a:xfrm>
                <a:off x="1024108" y="2261782"/>
                <a:ext cx="116722" cy="116722"/>
              </a:xfrm>
              <a:custGeom>
                <a:avLst/>
                <a:gdLst>
                  <a:gd name="T0" fmla="*/ 50 w 101"/>
                  <a:gd name="T1" fmla="*/ 101 h 101"/>
                  <a:gd name="T2" fmla="*/ 0 w 101"/>
                  <a:gd name="T3" fmla="*/ 50 h 101"/>
                  <a:gd name="T4" fmla="*/ 50 w 101"/>
                  <a:gd name="T5" fmla="*/ 0 h 101"/>
                  <a:gd name="T6" fmla="*/ 101 w 101"/>
                  <a:gd name="T7" fmla="*/ 50 h 101"/>
                  <a:gd name="T8" fmla="*/ 50 w 101"/>
                  <a:gd name="T9" fmla="*/ 101 h 101"/>
                </a:gdLst>
                <a:ahLst/>
                <a:cxnLst>
                  <a:cxn ang="0">
                    <a:pos x="T0" y="T1"/>
                  </a:cxn>
                  <a:cxn ang="0">
                    <a:pos x="T2" y="T3"/>
                  </a:cxn>
                  <a:cxn ang="0">
                    <a:pos x="T4" y="T5"/>
                  </a:cxn>
                  <a:cxn ang="0">
                    <a:pos x="T6" y="T7"/>
                  </a:cxn>
                  <a:cxn ang="0">
                    <a:pos x="T8" y="T9"/>
                  </a:cxn>
                </a:cxnLst>
                <a:rect l="0" t="0" r="r" b="b"/>
                <a:pathLst>
                  <a:path w="101" h="101">
                    <a:moveTo>
                      <a:pt x="50" y="101"/>
                    </a:moveTo>
                    <a:cubicBezTo>
                      <a:pt x="22" y="101"/>
                      <a:pt x="0" y="78"/>
                      <a:pt x="0" y="50"/>
                    </a:cubicBezTo>
                    <a:cubicBezTo>
                      <a:pt x="0" y="22"/>
                      <a:pt x="22" y="0"/>
                      <a:pt x="50" y="0"/>
                    </a:cubicBezTo>
                    <a:cubicBezTo>
                      <a:pt x="78" y="0"/>
                      <a:pt x="101" y="22"/>
                      <a:pt x="101" y="50"/>
                    </a:cubicBezTo>
                    <a:cubicBezTo>
                      <a:pt x="101" y="78"/>
                      <a:pt x="79" y="101"/>
                      <a:pt x="50" y="10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2" name="Rectangle 767">
                <a:extLst>
                  <a:ext uri="{FF2B5EF4-FFF2-40B4-BE49-F238E27FC236}">
                    <a16:creationId xmlns:a16="http://schemas.microsoft.com/office/drawing/2014/main" id="{E5B996D1-94A4-625E-9F44-11AAA99193B6}"/>
                  </a:ext>
                </a:extLst>
              </p:cNvPr>
              <p:cNvSpPr>
                <a:spLocks noChangeArrowheads="1"/>
              </p:cNvSpPr>
              <p:nvPr/>
            </p:nvSpPr>
            <p:spPr bwMode="auto">
              <a:xfrm>
                <a:off x="697286" y="2261782"/>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3" name="Rectangle 768">
                <a:extLst>
                  <a:ext uri="{FF2B5EF4-FFF2-40B4-BE49-F238E27FC236}">
                    <a16:creationId xmlns:a16="http://schemas.microsoft.com/office/drawing/2014/main" id="{71E91DEC-7929-99E9-55AF-23C2F0C32CD0}"/>
                  </a:ext>
                </a:extLst>
              </p:cNvPr>
              <p:cNvSpPr>
                <a:spLocks noChangeArrowheads="1"/>
              </p:cNvSpPr>
              <p:nvPr/>
            </p:nvSpPr>
            <p:spPr bwMode="auto">
              <a:xfrm>
                <a:off x="697286" y="2098371"/>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4" name="Rectangle 769">
                <a:extLst>
                  <a:ext uri="{FF2B5EF4-FFF2-40B4-BE49-F238E27FC236}">
                    <a16:creationId xmlns:a16="http://schemas.microsoft.com/office/drawing/2014/main" id="{3B558174-040D-AA85-8B06-0905D38BB40E}"/>
                  </a:ext>
                </a:extLst>
              </p:cNvPr>
              <p:cNvSpPr>
                <a:spLocks noChangeArrowheads="1"/>
              </p:cNvSpPr>
              <p:nvPr/>
            </p:nvSpPr>
            <p:spPr bwMode="auto">
              <a:xfrm>
                <a:off x="697286" y="2423637"/>
                <a:ext cx="116722" cy="116722"/>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5" name="Freeform 770">
                <a:extLst>
                  <a:ext uri="{FF2B5EF4-FFF2-40B4-BE49-F238E27FC236}">
                    <a16:creationId xmlns:a16="http://schemas.microsoft.com/office/drawing/2014/main" id="{5FEEFF99-329B-E2AE-CF0A-F9936BAB7381}"/>
                  </a:ext>
                </a:extLst>
              </p:cNvPr>
              <p:cNvSpPr>
                <a:spLocks/>
              </p:cNvSpPr>
              <p:nvPr/>
            </p:nvSpPr>
            <p:spPr bwMode="auto">
              <a:xfrm>
                <a:off x="1024108" y="2423637"/>
                <a:ext cx="116722" cy="116722"/>
              </a:xfrm>
              <a:custGeom>
                <a:avLst/>
                <a:gdLst>
                  <a:gd name="T0" fmla="*/ 50 w 101"/>
                  <a:gd name="T1" fmla="*/ 102 h 102"/>
                  <a:gd name="T2" fmla="*/ 0 w 101"/>
                  <a:gd name="T3" fmla="*/ 51 h 102"/>
                  <a:gd name="T4" fmla="*/ 50 w 101"/>
                  <a:gd name="T5" fmla="*/ 0 h 102"/>
                  <a:gd name="T6" fmla="*/ 101 w 101"/>
                  <a:gd name="T7" fmla="*/ 51 h 102"/>
                  <a:gd name="T8" fmla="*/ 50 w 101"/>
                  <a:gd name="T9" fmla="*/ 102 h 102"/>
                </a:gdLst>
                <a:ahLst/>
                <a:cxnLst>
                  <a:cxn ang="0">
                    <a:pos x="T0" y="T1"/>
                  </a:cxn>
                  <a:cxn ang="0">
                    <a:pos x="T2" y="T3"/>
                  </a:cxn>
                  <a:cxn ang="0">
                    <a:pos x="T4" y="T5"/>
                  </a:cxn>
                  <a:cxn ang="0">
                    <a:pos x="T6" y="T7"/>
                  </a:cxn>
                  <a:cxn ang="0">
                    <a:pos x="T8" y="T9"/>
                  </a:cxn>
                </a:cxnLst>
                <a:rect l="0" t="0" r="r" b="b"/>
                <a:pathLst>
                  <a:path w="101" h="102">
                    <a:moveTo>
                      <a:pt x="50" y="102"/>
                    </a:moveTo>
                    <a:cubicBezTo>
                      <a:pt x="22" y="102"/>
                      <a:pt x="0" y="79"/>
                      <a:pt x="0" y="51"/>
                    </a:cubicBezTo>
                    <a:cubicBezTo>
                      <a:pt x="0" y="23"/>
                      <a:pt x="22" y="0"/>
                      <a:pt x="50" y="0"/>
                    </a:cubicBezTo>
                    <a:cubicBezTo>
                      <a:pt x="78" y="0"/>
                      <a:pt x="101" y="23"/>
                      <a:pt x="101" y="51"/>
                    </a:cubicBezTo>
                    <a:cubicBezTo>
                      <a:pt x="101" y="79"/>
                      <a:pt x="79" y="102"/>
                      <a:pt x="50" y="102"/>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6" name="Freeform 771">
                <a:extLst>
                  <a:ext uri="{FF2B5EF4-FFF2-40B4-BE49-F238E27FC236}">
                    <a16:creationId xmlns:a16="http://schemas.microsoft.com/office/drawing/2014/main" id="{8FA22550-ABE1-E2C7-0B9A-B7CBD62A0BF7}"/>
                  </a:ext>
                </a:extLst>
              </p:cNvPr>
              <p:cNvSpPr>
                <a:spLocks/>
              </p:cNvSpPr>
              <p:nvPr/>
            </p:nvSpPr>
            <p:spPr bwMode="auto">
              <a:xfrm>
                <a:off x="873147" y="2436087"/>
                <a:ext cx="116722" cy="94934"/>
              </a:xfrm>
              <a:custGeom>
                <a:avLst/>
                <a:gdLst>
                  <a:gd name="T0" fmla="*/ 75 w 75"/>
                  <a:gd name="T1" fmla="*/ 31 h 61"/>
                  <a:gd name="T2" fmla="*/ 44 w 75"/>
                  <a:gd name="T3" fmla="*/ 0 h 61"/>
                  <a:gd name="T4" fmla="*/ 44 w 75"/>
                  <a:gd name="T5" fmla="*/ 15 h 61"/>
                  <a:gd name="T6" fmla="*/ 0 w 75"/>
                  <a:gd name="T7" fmla="*/ 15 h 61"/>
                  <a:gd name="T8" fmla="*/ 0 w 75"/>
                  <a:gd name="T9" fmla="*/ 46 h 61"/>
                  <a:gd name="T10" fmla="*/ 44 w 75"/>
                  <a:gd name="T11" fmla="*/ 46 h 61"/>
                  <a:gd name="T12" fmla="*/ 44 w 75"/>
                  <a:gd name="T13" fmla="*/ 61 h 61"/>
                  <a:gd name="T14" fmla="*/ 75 w 75"/>
                  <a:gd name="T15" fmla="*/ 31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1">
                    <a:moveTo>
                      <a:pt x="75" y="31"/>
                    </a:moveTo>
                    <a:lnTo>
                      <a:pt x="44" y="0"/>
                    </a:lnTo>
                    <a:lnTo>
                      <a:pt x="44" y="15"/>
                    </a:lnTo>
                    <a:lnTo>
                      <a:pt x="0" y="15"/>
                    </a:lnTo>
                    <a:lnTo>
                      <a:pt x="0" y="46"/>
                    </a:lnTo>
                    <a:lnTo>
                      <a:pt x="44" y="46"/>
                    </a:lnTo>
                    <a:lnTo>
                      <a:pt x="44" y="61"/>
                    </a:lnTo>
                    <a:lnTo>
                      <a:pt x="75" y="3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7" name="Freeform 772">
                <a:extLst>
                  <a:ext uri="{FF2B5EF4-FFF2-40B4-BE49-F238E27FC236}">
                    <a16:creationId xmlns:a16="http://schemas.microsoft.com/office/drawing/2014/main" id="{E210614E-35F5-38E7-1287-31D053A8FD89}"/>
                  </a:ext>
                </a:extLst>
              </p:cNvPr>
              <p:cNvSpPr>
                <a:spLocks/>
              </p:cNvSpPr>
              <p:nvPr/>
            </p:nvSpPr>
            <p:spPr bwMode="auto">
              <a:xfrm>
                <a:off x="873147" y="2274233"/>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18" name="Freeform 773">
                <a:extLst>
                  <a:ext uri="{FF2B5EF4-FFF2-40B4-BE49-F238E27FC236}">
                    <a16:creationId xmlns:a16="http://schemas.microsoft.com/office/drawing/2014/main" id="{988ED852-8A1D-476B-F542-5B59636D94AF}"/>
                  </a:ext>
                </a:extLst>
              </p:cNvPr>
              <p:cNvSpPr>
                <a:spLocks/>
              </p:cNvSpPr>
              <p:nvPr/>
            </p:nvSpPr>
            <p:spPr bwMode="auto">
              <a:xfrm>
                <a:off x="873147" y="2110821"/>
                <a:ext cx="116722" cy="93378"/>
              </a:xfrm>
              <a:custGeom>
                <a:avLst/>
                <a:gdLst>
                  <a:gd name="T0" fmla="*/ 75 w 75"/>
                  <a:gd name="T1" fmla="*/ 30 h 60"/>
                  <a:gd name="T2" fmla="*/ 44 w 75"/>
                  <a:gd name="T3" fmla="*/ 0 h 60"/>
                  <a:gd name="T4" fmla="*/ 44 w 75"/>
                  <a:gd name="T5" fmla="*/ 15 h 60"/>
                  <a:gd name="T6" fmla="*/ 0 w 75"/>
                  <a:gd name="T7" fmla="*/ 15 h 60"/>
                  <a:gd name="T8" fmla="*/ 0 w 75"/>
                  <a:gd name="T9" fmla="*/ 45 h 60"/>
                  <a:gd name="T10" fmla="*/ 44 w 75"/>
                  <a:gd name="T11" fmla="*/ 45 h 60"/>
                  <a:gd name="T12" fmla="*/ 44 w 75"/>
                  <a:gd name="T13" fmla="*/ 60 h 60"/>
                  <a:gd name="T14" fmla="*/ 75 w 75"/>
                  <a:gd name="T15" fmla="*/ 3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60">
                    <a:moveTo>
                      <a:pt x="75" y="30"/>
                    </a:moveTo>
                    <a:lnTo>
                      <a:pt x="44" y="0"/>
                    </a:lnTo>
                    <a:lnTo>
                      <a:pt x="44" y="15"/>
                    </a:lnTo>
                    <a:lnTo>
                      <a:pt x="0" y="15"/>
                    </a:lnTo>
                    <a:lnTo>
                      <a:pt x="0" y="45"/>
                    </a:lnTo>
                    <a:lnTo>
                      <a:pt x="44" y="45"/>
                    </a:lnTo>
                    <a:lnTo>
                      <a:pt x="44" y="60"/>
                    </a:lnTo>
                    <a:lnTo>
                      <a:pt x="75" y="3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19" name="Rectangle 618">
              <a:extLst>
                <a:ext uri="{FF2B5EF4-FFF2-40B4-BE49-F238E27FC236}">
                  <a16:creationId xmlns:a16="http://schemas.microsoft.com/office/drawing/2014/main" id="{BB62BA07-6159-8CCD-CC77-F6E7956427FA}"/>
                </a:ext>
              </a:extLst>
            </p:cNvPr>
            <p:cNvSpPr/>
            <p:nvPr/>
          </p:nvSpPr>
          <p:spPr bwMode="auto">
            <a:xfrm>
              <a:off x="1780931" y="499391"/>
              <a:ext cx="1665269"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20" name="Rectangle 619">
              <a:extLst>
                <a:ext uri="{FF2B5EF4-FFF2-40B4-BE49-F238E27FC236}">
                  <a16:creationId xmlns:a16="http://schemas.microsoft.com/office/drawing/2014/main" id="{1DF57E88-49AF-E2CB-BE48-73FF095307A3}"/>
                </a:ext>
              </a:extLst>
            </p:cNvPr>
            <p:cNvSpPr/>
            <p:nvPr/>
          </p:nvSpPr>
          <p:spPr bwMode="auto">
            <a:xfrm>
              <a:off x="1559400" y="507888"/>
              <a:ext cx="226873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Real-time Transformation (&lt;1s)</a:t>
              </a:r>
            </a:p>
          </p:txBody>
        </p:sp>
        <p:grpSp>
          <p:nvGrpSpPr>
            <p:cNvPr id="640" name="simplify" descr="simplify">
              <a:extLst>
                <a:ext uri="{FF2B5EF4-FFF2-40B4-BE49-F238E27FC236}">
                  <a16:creationId xmlns:a16="http://schemas.microsoft.com/office/drawing/2014/main" id="{752FE41F-2FC9-7401-C051-87A25882BC77}"/>
                </a:ext>
              </a:extLst>
            </p:cNvPr>
            <p:cNvGrpSpPr/>
            <p:nvPr/>
          </p:nvGrpSpPr>
          <p:grpSpPr>
            <a:xfrm>
              <a:off x="1880721" y="536371"/>
              <a:ext cx="113523" cy="111133"/>
              <a:chOff x="2668480" y="1249680"/>
              <a:chExt cx="412066" cy="403390"/>
            </a:xfrm>
          </p:grpSpPr>
          <p:sp>
            <p:nvSpPr>
              <p:cNvPr id="641" name="Freeform 987">
                <a:extLst>
                  <a:ext uri="{FF2B5EF4-FFF2-40B4-BE49-F238E27FC236}">
                    <a16:creationId xmlns:a16="http://schemas.microsoft.com/office/drawing/2014/main" id="{4E00BED9-2A0D-067E-D140-748962E6C412}"/>
                  </a:ext>
                </a:extLst>
              </p:cNvPr>
              <p:cNvSpPr>
                <a:spLocks/>
              </p:cNvSpPr>
              <p:nvPr/>
            </p:nvSpPr>
            <p:spPr bwMode="auto">
              <a:xfrm>
                <a:off x="2749447" y="1282935"/>
                <a:ext cx="331099" cy="344110"/>
              </a:xfrm>
              <a:custGeom>
                <a:avLst/>
                <a:gdLst>
                  <a:gd name="T0" fmla="*/ 229 w 229"/>
                  <a:gd name="T1" fmla="*/ 112 h 238"/>
                  <a:gd name="T2" fmla="*/ 200 w 229"/>
                  <a:gd name="T3" fmla="*/ 81 h 238"/>
                  <a:gd name="T4" fmla="*/ 200 w 229"/>
                  <a:gd name="T5" fmla="*/ 104 h 238"/>
                  <a:gd name="T6" fmla="*/ 125 w 229"/>
                  <a:gd name="T7" fmla="*/ 104 h 238"/>
                  <a:gd name="T8" fmla="*/ 125 w 229"/>
                  <a:gd name="T9" fmla="*/ 0 h 238"/>
                  <a:gd name="T10" fmla="*/ 0 w 229"/>
                  <a:gd name="T11" fmla="*/ 0 h 238"/>
                  <a:gd name="T12" fmla="*/ 0 w 229"/>
                  <a:gd name="T13" fmla="*/ 15 h 238"/>
                  <a:gd name="T14" fmla="*/ 110 w 229"/>
                  <a:gd name="T15" fmla="*/ 15 h 238"/>
                  <a:gd name="T16" fmla="*/ 110 w 229"/>
                  <a:gd name="T17" fmla="*/ 104 h 238"/>
                  <a:gd name="T18" fmla="*/ 5 w 229"/>
                  <a:gd name="T19" fmla="*/ 104 h 238"/>
                  <a:gd name="T20" fmla="*/ 5 w 229"/>
                  <a:gd name="T21" fmla="*/ 119 h 238"/>
                  <a:gd name="T22" fmla="*/ 110 w 229"/>
                  <a:gd name="T23" fmla="*/ 119 h 238"/>
                  <a:gd name="T24" fmla="*/ 110 w 229"/>
                  <a:gd name="T25" fmla="*/ 223 h 238"/>
                  <a:gd name="T26" fmla="*/ 0 w 229"/>
                  <a:gd name="T27" fmla="*/ 223 h 238"/>
                  <a:gd name="T28" fmla="*/ 0 w 229"/>
                  <a:gd name="T29" fmla="*/ 238 h 238"/>
                  <a:gd name="T30" fmla="*/ 125 w 229"/>
                  <a:gd name="T31" fmla="*/ 238 h 238"/>
                  <a:gd name="T32" fmla="*/ 125 w 229"/>
                  <a:gd name="T33" fmla="*/ 119 h 238"/>
                  <a:gd name="T34" fmla="*/ 200 w 229"/>
                  <a:gd name="T35" fmla="*/ 119 h 238"/>
                  <a:gd name="T36" fmla="*/ 200 w 229"/>
                  <a:gd name="T37" fmla="*/ 141 h 238"/>
                  <a:gd name="T38" fmla="*/ 229 w 229"/>
                  <a:gd name="T39" fmla="*/ 11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9" h="238">
                    <a:moveTo>
                      <a:pt x="229" y="112"/>
                    </a:moveTo>
                    <a:lnTo>
                      <a:pt x="200" y="81"/>
                    </a:lnTo>
                    <a:lnTo>
                      <a:pt x="200" y="104"/>
                    </a:lnTo>
                    <a:lnTo>
                      <a:pt x="125" y="104"/>
                    </a:lnTo>
                    <a:lnTo>
                      <a:pt x="125" y="0"/>
                    </a:lnTo>
                    <a:lnTo>
                      <a:pt x="0" y="0"/>
                    </a:lnTo>
                    <a:lnTo>
                      <a:pt x="0" y="15"/>
                    </a:lnTo>
                    <a:lnTo>
                      <a:pt x="110" y="15"/>
                    </a:lnTo>
                    <a:lnTo>
                      <a:pt x="110" y="104"/>
                    </a:lnTo>
                    <a:lnTo>
                      <a:pt x="5" y="104"/>
                    </a:lnTo>
                    <a:lnTo>
                      <a:pt x="5" y="119"/>
                    </a:lnTo>
                    <a:lnTo>
                      <a:pt x="110" y="119"/>
                    </a:lnTo>
                    <a:lnTo>
                      <a:pt x="110" y="223"/>
                    </a:lnTo>
                    <a:lnTo>
                      <a:pt x="0" y="223"/>
                    </a:lnTo>
                    <a:lnTo>
                      <a:pt x="0" y="238"/>
                    </a:lnTo>
                    <a:lnTo>
                      <a:pt x="125" y="238"/>
                    </a:lnTo>
                    <a:lnTo>
                      <a:pt x="125" y="119"/>
                    </a:lnTo>
                    <a:lnTo>
                      <a:pt x="200" y="119"/>
                    </a:lnTo>
                    <a:lnTo>
                      <a:pt x="200" y="141"/>
                    </a:lnTo>
                    <a:lnTo>
                      <a:pt x="229" y="112"/>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2" name="Freeform 988">
                <a:extLst>
                  <a:ext uri="{FF2B5EF4-FFF2-40B4-BE49-F238E27FC236}">
                    <a16:creationId xmlns:a16="http://schemas.microsoft.com/office/drawing/2014/main" id="{FB5DFAE7-757E-371D-7124-31EF0EEDB462}"/>
                  </a:ext>
                </a:extLst>
              </p:cNvPr>
              <p:cNvSpPr>
                <a:spLocks/>
              </p:cNvSpPr>
              <p:nvPr/>
            </p:nvSpPr>
            <p:spPr bwMode="auto">
              <a:xfrm>
                <a:off x="2669925" y="1378360"/>
                <a:ext cx="127234" cy="127234"/>
              </a:xfrm>
              <a:custGeom>
                <a:avLst/>
                <a:gdLst>
                  <a:gd name="T0" fmla="*/ 118 w 118"/>
                  <a:gd name="T1" fmla="*/ 66 h 119"/>
                  <a:gd name="T2" fmla="*/ 118 w 118"/>
                  <a:gd name="T3" fmla="*/ 53 h 119"/>
                  <a:gd name="T4" fmla="*/ 105 w 118"/>
                  <a:gd name="T5" fmla="*/ 53 h 119"/>
                  <a:gd name="T6" fmla="*/ 96 w 118"/>
                  <a:gd name="T7" fmla="*/ 31 h 119"/>
                  <a:gd name="T8" fmla="*/ 105 w 118"/>
                  <a:gd name="T9" fmla="*/ 22 h 119"/>
                  <a:gd name="T10" fmla="*/ 97 w 118"/>
                  <a:gd name="T11" fmla="*/ 13 h 119"/>
                  <a:gd name="T12" fmla="*/ 87 w 118"/>
                  <a:gd name="T13" fmla="*/ 22 h 119"/>
                  <a:gd name="T14" fmla="*/ 65 w 118"/>
                  <a:gd name="T15" fmla="*/ 13 h 119"/>
                  <a:gd name="T16" fmla="*/ 65 w 118"/>
                  <a:gd name="T17" fmla="*/ 0 h 119"/>
                  <a:gd name="T18" fmla="*/ 53 w 118"/>
                  <a:gd name="T19" fmla="*/ 0 h 119"/>
                  <a:gd name="T20" fmla="*/ 53 w 118"/>
                  <a:gd name="T21" fmla="*/ 13 h 119"/>
                  <a:gd name="T22" fmla="*/ 31 w 118"/>
                  <a:gd name="T23" fmla="*/ 22 h 119"/>
                  <a:gd name="T24" fmla="*/ 22 w 118"/>
                  <a:gd name="T25" fmla="*/ 13 h 119"/>
                  <a:gd name="T26" fmla="*/ 13 w 118"/>
                  <a:gd name="T27" fmla="*/ 22 h 119"/>
                  <a:gd name="T28" fmla="*/ 22 w 118"/>
                  <a:gd name="T29" fmla="*/ 31 h 119"/>
                  <a:gd name="T30" fmla="*/ 13 w 118"/>
                  <a:gd name="T31" fmla="*/ 53 h 119"/>
                  <a:gd name="T32" fmla="*/ 0 w 118"/>
                  <a:gd name="T33" fmla="*/ 53 h 119"/>
                  <a:gd name="T34" fmla="*/ 0 w 118"/>
                  <a:gd name="T35" fmla="*/ 66 h 119"/>
                  <a:gd name="T36" fmla="*/ 13 w 118"/>
                  <a:gd name="T37" fmla="*/ 66 h 119"/>
                  <a:gd name="T38" fmla="*/ 22 w 118"/>
                  <a:gd name="T39" fmla="*/ 88 h 119"/>
                  <a:gd name="T40" fmla="*/ 13 w 118"/>
                  <a:gd name="T41" fmla="*/ 97 h 119"/>
                  <a:gd name="T42" fmla="*/ 21 w 118"/>
                  <a:gd name="T43" fmla="*/ 106 h 119"/>
                  <a:gd name="T44" fmla="*/ 31 w 118"/>
                  <a:gd name="T45" fmla="*/ 97 h 119"/>
                  <a:gd name="T46" fmla="*/ 53 w 118"/>
                  <a:gd name="T47" fmla="*/ 106 h 119"/>
                  <a:gd name="T48" fmla="*/ 53 w 118"/>
                  <a:gd name="T49" fmla="*/ 119 h 119"/>
                  <a:gd name="T50" fmla="*/ 65 w 118"/>
                  <a:gd name="T51" fmla="*/ 119 h 119"/>
                  <a:gd name="T52" fmla="*/ 65 w 118"/>
                  <a:gd name="T53" fmla="*/ 106 h 119"/>
                  <a:gd name="T54" fmla="*/ 87 w 118"/>
                  <a:gd name="T55" fmla="*/ 97 h 119"/>
                  <a:gd name="T56" fmla="*/ 97 w 118"/>
                  <a:gd name="T57" fmla="*/ 106 h 119"/>
                  <a:gd name="T58" fmla="*/ 105 w 118"/>
                  <a:gd name="T59" fmla="*/ 97 h 119"/>
                  <a:gd name="T60" fmla="*/ 96 w 118"/>
                  <a:gd name="T61" fmla="*/ 88 h 119"/>
                  <a:gd name="T62" fmla="*/ 105 w 118"/>
                  <a:gd name="T63" fmla="*/ 66 h 119"/>
                  <a:gd name="T64" fmla="*/ 118 w 118"/>
                  <a:gd name="T65" fmla="*/ 6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8" h="119">
                    <a:moveTo>
                      <a:pt x="118" y="66"/>
                    </a:moveTo>
                    <a:cubicBezTo>
                      <a:pt x="118" y="53"/>
                      <a:pt x="118" y="53"/>
                      <a:pt x="118" y="53"/>
                    </a:cubicBezTo>
                    <a:cubicBezTo>
                      <a:pt x="105" y="53"/>
                      <a:pt x="105" y="53"/>
                      <a:pt x="105" y="53"/>
                    </a:cubicBezTo>
                    <a:cubicBezTo>
                      <a:pt x="104" y="45"/>
                      <a:pt x="101" y="37"/>
                      <a:pt x="96" y="31"/>
                    </a:cubicBezTo>
                    <a:cubicBezTo>
                      <a:pt x="105" y="22"/>
                      <a:pt x="105" y="22"/>
                      <a:pt x="105" y="22"/>
                    </a:cubicBezTo>
                    <a:cubicBezTo>
                      <a:pt x="97" y="13"/>
                      <a:pt x="97" y="13"/>
                      <a:pt x="97" y="13"/>
                    </a:cubicBezTo>
                    <a:cubicBezTo>
                      <a:pt x="87" y="22"/>
                      <a:pt x="87" y="22"/>
                      <a:pt x="87" y="22"/>
                    </a:cubicBezTo>
                    <a:cubicBezTo>
                      <a:pt x="81" y="18"/>
                      <a:pt x="73" y="14"/>
                      <a:pt x="65" y="13"/>
                    </a:cubicBezTo>
                    <a:cubicBezTo>
                      <a:pt x="65" y="0"/>
                      <a:pt x="65" y="0"/>
                      <a:pt x="65" y="0"/>
                    </a:cubicBezTo>
                    <a:cubicBezTo>
                      <a:pt x="53" y="0"/>
                      <a:pt x="53" y="0"/>
                      <a:pt x="53" y="0"/>
                    </a:cubicBezTo>
                    <a:cubicBezTo>
                      <a:pt x="53" y="13"/>
                      <a:pt x="53" y="13"/>
                      <a:pt x="53" y="13"/>
                    </a:cubicBezTo>
                    <a:cubicBezTo>
                      <a:pt x="45" y="14"/>
                      <a:pt x="37" y="18"/>
                      <a:pt x="31" y="22"/>
                    </a:cubicBezTo>
                    <a:cubicBezTo>
                      <a:pt x="22" y="13"/>
                      <a:pt x="22" y="13"/>
                      <a:pt x="22" y="13"/>
                    </a:cubicBezTo>
                    <a:cubicBezTo>
                      <a:pt x="13" y="22"/>
                      <a:pt x="13" y="22"/>
                      <a:pt x="13" y="22"/>
                    </a:cubicBezTo>
                    <a:cubicBezTo>
                      <a:pt x="22" y="31"/>
                      <a:pt x="22" y="31"/>
                      <a:pt x="22" y="31"/>
                    </a:cubicBezTo>
                    <a:cubicBezTo>
                      <a:pt x="17" y="38"/>
                      <a:pt x="14" y="45"/>
                      <a:pt x="13" y="53"/>
                    </a:cubicBezTo>
                    <a:cubicBezTo>
                      <a:pt x="0" y="53"/>
                      <a:pt x="0" y="53"/>
                      <a:pt x="0" y="53"/>
                    </a:cubicBezTo>
                    <a:cubicBezTo>
                      <a:pt x="0" y="66"/>
                      <a:pt x="0" y="66"/>
                      <a:pt x="0" y="66"/>
                    </a:cubicBezTo>
                    <a:cubicBezTo>
                      <a:pt x="13" y="66"/>
                      <a:pt x="13" y="66"/>
                      <a:pt x="13" y="66"/>
                    </a:cubicBezTo>
                    <a:cubicBezTo>
                      <a:pt x="14" y="74"/>
                      <a:pt x="17" y="82"/>
                      <a:pt x="22" y="88"/>
                    </a:cubicBezTo>
                    <a:cubicBezTo>
                      <a:pt x="13" y="97"/>
                      <a:pt x="13" y="97"/>
                      <a:pt x="13" y="97"/>
                    </a:cubicBezTo>
                    <a:cubicBezTo>
                      <a:pt x="21" y="106"/>
                      <a:pt x="21" y="106"/>
                      <a:pt x="21" y="106"/>
                    </a:cubicBezTo>
                    <a:cubicBezTo>
                      <a:pt x="31" y="97"/>
                      <a:pt x="31" y="97"/>
                      <a:pt x="31" y="97"/>
                    </a:cubicBezTo>
                    <a:cubicBezTo>
                      <a:pt x="37" y="102"/>
                      <a:pt x="45" y="105"/>
                      <a:pt x="53" y="106"/>
                    </a:cubicBezTo>
                    <a:cubicBezTo>
                      <a:pt x="53" y="119"/>
                      <a:pt x="53" y="119"/>
                      <a:pt x="53" y="119"/>
                    </a:cubicBezTo>
                    <a:cubicBezTo>
                      <a:pt x="65" y="119"/>
                      <a:pt x="65" y="119"/>
                      <a:pt x="65" y="119"/>
                    </a:cubicBezTo>
                    <a:cubicBezTo>
                      <a:pt x="65" y="106"/>
                      <a:pt x="65" y="106"/>
                      <a:pt x="65" y="106"/>
                    </a:cubicBezTo>
                    <a:cubicBezTo>
                      <a:pt x="74" y="105"/>
                      <a:pt x="81" y="102"/>
                      <a:pt x="87" y="97"/>
                    </a:cubicBezTo>
                    <a:cubicBezTo>
                      <a:pt x="97" y="106"/>
                      <a:pt x="97" y="106"/>
                      <a:pt x="97" y="106"/>
                    </a:cubicBezTo>
                    <a:cubicBezTo>
                      <a:pt x="105" y="97"/>
                      <a:pt x="105" y="97"/>
                      <a:pt x="105" y="97"/>
                    </a:cubicBezTo>
                    <a:cubicBezTo>
                      <a:pt x="96" y="88"/>
                      <a:pt x="96" y="88"/>
                      <a:pt x="96" y="88"/>
                    </a:cubicBezTo>
                    <a:cubicBezTo>
                      <a:pt x="101" y="82"/>
                      <a:pt x="104" y="74"/>
                      <a:pt x="105" y="66"/>
                    </a:cubicBezTo>
                    <a:lnTo>
                      <a:pt x="118" y="6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3" name="Oval 989">
                <a:extLst>
                  <a:ext uri="{FF2B5EF4-FFF2-40B4-BE49-F238E27FC236}">
                    <a16:creationId xmlns:a16="http://schemas.microsoft.com/office/drawing/2014/main" id="{7FB018B1-84FB-498C-601D-1AEF1C519D2B}"/>
                  </a:ext>
                </a:extLst>
              </p:cNvPr>
              <p:cNvSpPr>
                <a:spLocks noChangeArrowheads="1"/>
              </p:cNvSpPr>
              <p:nvPr/>
            </p:nvSpPr>
            <p:spPr bwMode="auto">
              <a:xfrm>
                <a:off x="2708964" y="1418844"/>
                <a:ext cx="49159" cy="477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4" name="Rectangle 990">
                <a:extLst>
                  <a:ext uri="{FF2B5EF4-FFF2-40B4-BE49-F238E27FC236}">
                    <a16:creationId xmlns:a16="http://schemas.microsoft.com/office/drawing/2014/main" id="{06F28512-502A-77B0-2977-50B7CCFC4008}"/>
                  </a:ext>
                </a:extLst>
              </p:cNvPr>
              <p:cNvSpPr>
                <a:spLocks noChangeArrowheads="1"/>
              </p:cNvSpPr>
              <p:nvPr/>
            </p:nvSpPr>
            <p:spPr bwMode="auto">
              <a:xfrm>
                <a:off x="2680047" y="1249680"/>
                <a:ext cx="108439" cy="108439"/>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sp>
            <p:nvSpPr>
              <p:cNvPr id="645" name="Freeform 991">
                <a:extLst>
                  <a:ext uri="{FF2B5EF4-FFF2-40B4-BE49-F238E27FC236}">
                    <a16:creationId xmlns:a16="http://schemas.microsoft.com/office/drawing/2014/main" id="{011BE2AE-CF7D-D803-9E9D-0D0705A46D6D}"/>
                  </a:ext>
                </a:extLst>
              </p:cNvPr>
              <p:cNvSpPr>
                <a:spLocks/>
              </p:cNvSpPr>
              <p:nvPr/>
            </p:nvSpPr>
            <p:spPr bwMode="auto">
              <a:xfrm>
                <a:off x="2668480" y="1521498"/>
                <a:ext cx="133018" cy="131572"/>
              </a:xfrm>
              <a:custGeom>
                <a:avLst/>
                <a:gdLst>
                  <a:gd name="T0" fmla="*/ 92 w 92"/>
                  <a:gd name="T1" fmla="*/ 46 h 91"/>
                  <a:gd name="T2" fmla="*/ 46 w 92"/>
                  <a:gd name="T3" fmla="*/ 0 h 91"/>
                  <a:gd name="T4" fmla="*/ 0 w 92"/>
                  <a:gd name="T5" fmla="*/ 46 h 91"/>
                  <a:gd name="T6" fmla="*/ 46 w 92"/>
                  <a:gd name="T7" fmla="*/ 91 h 91"/>
                  <a:gd name="T8" fmla="*/ 92 w 92"/>
                  <a:gd name="T9" fmla="*/ 46 h 91"/>
                </a:gdLst>
                <a:ahLst/>
                <a:cxnLst>
                  <a:cxn ang="0">
                    <a:pos x="T0" y="T1"/>
                  </a:cxn>
                  <a:cxn ang="0">
                    <a:pos x="T2" y="T3"/>
                  </a:cxn>
                  <a:cxn ang="0">
                    <a:pos x="T4" y="T5"/>
                  </a:cxn>
                  <a:cxn ang="0">
                    <a:pos x="T6" y="T7"/>
                  </a:cxn>
                  <a:cxn ang="0">
                    <a:pos x="T8" y="T9"/>
                  </a:cxn>
                </a:cxnLst>
                <a:rect l="0" t="0" r="r" b="b"/>
                <a:pathLst>
                  <a:path w="92" h="91">
                    <a:moveTo>
                      <a:pt x="92" y="46"/>
                    </a:moveTo>
                    <a:lnTo>
                      <a:pt x="46" y="0"/>
                    </a:lnTo>
                    <a:lnTo>
                      <a:pt x="0" y="46"/>
                    </a:lnTo>
                    <a:lnTo>
                      <a:pt x="46" y="91"/>
                    </a:lnTo>
                    <a:lnTo>
                      <a:pt x="92" y="4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5050"/>
                  </a:solidFill>
                  <a:effectLst/>
                  <a:uLnTx/>
                  <a:uFillTx/>
                  <a:latin typeface="Segoe UI"/>
                  <a:ea typeface="+mn-ea"/>
                  <a:cs typeface="+mn-cs"/>
                </a:endParaRPr>
              </a:p>
            </p:txBody>
          </p:sp>
        </p:grpSp>
        <p:sp>
          <p:nvSpPr>
            <p:cNvPr id="649" name="Rectangle 648">
              <a:extLst>
                <a:ext uri="{FF2B5EF4-FFF2-40B4-BE49-F238E27FC236}">
                  <a16:creationId xmlns:a16="http://schemas.microsoft.com/office/drawing/2014/main" id="{AE6BFCC8-B9B0-DBD4-977C-E5CDABBB2840}"/>
                </a:ext>
              </a:extLst>
            </p:cNvPr>
            <p:cNvSpPr/>
            <p:nvPr/>
          </p:nvSpPr>
          <p:spPr bwMode="auto">
            <a:xfrm>
              <a:off x="3442545" y="499391"/>
              <a:ext cx="1503291"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0" name="Rectangle 649">
              <a:extLst>
                <a:ext uri="{FF2B5EF4-FFF2-40B4-BE49-F238E27FC236}">
                  <a16:creationId xmlns:a16="http://schemas.microsoft.com/office/drawing/2014/main" id="{FC6534D7-61DC-4E91-7E62-68753C29B7D1}"/>
                </a:ext>
              </a:extLst>
            </p:cNvPr>
            <p:cNvSpPr/>
            <p:nvPr/>
          </p:nvSpPr>
          <p:spPr bwMode="auto">
            <a:xfrm>
              <a:off x="3168808" y="507549"/>
              <a:ext cx="2135615" cy="15494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Alerting</a:t>
              </a:r>
            </a:p>
          </p:txBody>
        </p:sp>
        <p:grpSp>
          <p:nvGrpSpPr>
            <p:cNvPr id="721" name="analyze" descr="analyze, search">
              <a:extLst>
                <a:ext uri="{FF2B5EF4-FFF2-40B4-BE49-F238E27FC236}">
                  <a16:creationId xmlns:a16="http://schemas.microsoft.com/office/drawing/2014/main" id="{EBD83480-3173-C2D8-0456-A45312E45458}"/>
                </a:ext>
              </a:extLst>
            </p:cNvPr>
            <p:cNvGrpSpPr>
              <a:grpSpLocks noChangeAspect="1"/>
            </p:cNvGrpSpPr>
            <p:nvPr/>
          </p:nvGrpSpPr>
          <p:grpSpPr bwMode="auto">
            <a:xfrm>
              <a:off x="3895245" y="536049"/>
              <a:ext cx="109547" cy="109547"/>
              <a:chOff x="1654" y="806"/>
              <a:chExt cx="239" cy="239"/>
            </a:xfrm>
          </p:grpSpPr>
          <p:sp>
            <p:nvSpPr>
              <p:cNvPr id="722" name="AutoShape 37">
                <a:extLst>
                  <a:ext uri="{FF2B5EF4-FFF2-40B4-BE49-F238E27FC236}">
                    <a16:creationId xmlns:a16="http://schemas.microsoft.com/office/drawing/2014/main" id="{7FD927A1-518F-32D9-3132-27F351DA1578}"/>
                  </a:ext>
                </a:extLst>
              </p:cNvPr>
              <p:cNvSpPr>
                <a:spLocks noChangeAspect="1" noChangeArrowheads="1" noTextEdit="1"/>
              </p:cNvSpPr>
              <p:nvPr/>
            </p:nvSpPr>
            <p:spPr bwMode="auto">
              <a:xfrm>
                <a:off x="1654" y="806"/>
                <a:ext cx="23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3" name="Freeform 39">
                <a:extLst>
                  <a:ext uri="{FF2B5EF4-FFF2-40B4-BE49-F238E27FC236}">
                    <a16:creationId xmlns:a16="http://schemas.microsoft.com/office/drawing/2014/main" id="{865C556E-477F-8B17-ACBD-E881F6A33D9F}"/>
                  </a:ext>
                </a:extLst>
              </p:cNvPr>
              <p:cNvSpPr>
                <a:spLocks/>
              </p:cNvSpPr>
              <p:nvPr/>
            </p:nvSpPr>
            <p:spPr bwMode="auto">
              <a:xfrm>
                <a:off x="1653" y="80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4" name="Oval 40">
                <a:extLst>
                  <a:ext uri="{FF2B5EF4-FFF2-40B4-BE49-F238E27FC236}">
                    <a16:creationId xmlns:a16="http://schemas.microsoft.com/office/drawing/2014/main" id="{A69FA48D-6644-5CB1-BB96-219300FB1E87}"/>
                  </a:ext>
                </a:extLst>
              </p:cNvPr>
              <p:cNvSpPr>
                <a:spLocks noChangeArrowheads="1"/>
              </p:cNvSpPr>
              <p:nvPr/>
            </p:nvSpPr>
            <p:spPr bwMode="auto">
              <a:xfrm>
                <a:off x="169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5" name="Oval 41">
                <a:extLst>
                  <a:ext uri="{FF2B5EF4-FFF2-40B4-BE49-F238E27FC236}">
                    <a16:creationId xmlns:a16="http://schemas.microsoft.com/office/drawing/2014/main" id="{0D0AF787-5955-5328-7761-1DA59E80EECA}"/>
                  </a:ext>
                </a:extLst>
              </p:cNvPr>
              <p:cNvSpPr>
                <a:spLocks noChangeArrowheads="1"/>
              </p:cNvSpPr>
              <p:nvPr/>
            </p:nvSpPr>
            <p:spPr bwMode="auto">
              <a:xfrm>
                <a:off x="1734" y="8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6" name="Oval 42">
                <a:extLst>
                  <a:ext uri="{FF2B5EF4-FFF2-40B4-BE49-F238E27FC236}">
                    <a16:creationId xmlns:a16="http://schemas.microsoft.com/office/drawing/2014/main" id="{1952E097-4D3B-E1F3-9723-DBA068A99609}"/>
                  </a:ext>
                </a:extLst>
              </p:cNvPr>
              <p:cNvSpPr>
                <a:spLocks noChangeArrowheads="1"/>
              </p:cNvSpPr>
              <p:nvPr/>
            </p:nvSpPr>
            <p:spPr bwMode="auto">
              <a:xfrm>
                <a:off x="177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7" name="Oval 43">
                <a:extLst>
                  <a:ext uri="{FF2B5EF4-FFF2-40B4-BE49-F238E27FC236}">
                    <a16:creationId xmlns:a16="http://schemas.microsoft.com/office/drawing/2014/main" id="{238273D8-03A8-5BAA-DFA7-5B05E4B38E79}"/>
                  </a:ext>
                </a:extLst>
              </p:cNvPr>
              <p:cNvSpPr>
                <a:spLocks noChangeArrowheads="1"/>
              </p:cNvSpPr>
              <p:nvPr/>
            </p:nvSpPr>
            <p:spPr bwMode="auto">
              <a:xfrm>
                <a:off x="181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8" name="Oval 44">
                <a:extLst>
                  <a:ext uri="{FF2B5EF4-FFF2-40B4-BE49-F238E27FC236}">
                    <a16:creationId xmlns:a16="http://schemas.microsoft.com/office/drawing/2014/main" id="{F3292290-FA1B-198A-D83C-FFD54E82DADF}"/>
                  </a:ext>
                </a:extLst>
              </p:cNvPr>
              <p:cNvSpPr>
                <a:spLocks noChangeArrowheads="1"/>
              </p:cNvSpPr>
              <p:nvPr/>
            </p:nvSpPr>
            <p:spPr bwMode="auto">
              <a:xfrm>
                <a:off x="1853" y="80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29" name="Freeform 45">
                <a:extLst>
                  <a:ext uri="{FF2B5EF4-FFF2-40B4-BE49-F238E27FC236}">
                    <a16:creationId xmlns:a16="http://schemas.microsoft.com/office/drawing/2014/main" id="{37EB8CFD-63DA-4AB1-E0A6-00E07BBD78DB}"/>
                  </a:ext>
                </a:extLst>
              </p:cNvPr>
              <p:cNvSpPr>
                <a:spLocks/>
              </p:cNvSpPr>
              <p:nvPr/>
            </p:nvSpPr>
            <p:spPr bwMode="auto">
              <a:xfrm>
                <a:off x="1653" y="846"/>
                <a:ext cx="27" cy="26"/>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0" name="Oval 46">
                <a:extLst>
                  <a:ext uri="{FF2B5EF4-FFF2-40B4-BE49-F238E27FC236}">
                    <a16:creationId xmlns:a16="http://schemas.microsoft.com/office/drawing/2014/main" id="{87A87262-6753-4A09-ADB3-B8B4DC92B6EE}"/>
                  </a:ext>
                </a:extLst>
              </p:cNvPr>
              <p:cNvSpPr>
                <a:spLocks noChangeArrowheads="1"/>
              </p:cNvSpPr>
              <p:nvPr/>
            </p:nvSpPr>
            <p:spPr bwMode="auto">
              <a:xfrm>
                <a:off x="169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1" name="Oval 47">
                <a:extLst>
                  <a:ext uri="{FF2B5EF4-FFF2-40B4-BE49-F238E27FC236}">
                    <a16:creationId xmlns:a16="http://schemas.microsoft.com/office/drawing/2014/main" id="{E1161AC9-4FDA-C6E2-0BF3-BEFBE9262723}"/>
                  </a:ext>
                </a:extLst>
              </p:cNvPr>
              <p:cNvSpPr>
                <a:spLocks noChangeArrowheads="1"/>
              </p:cNvSpPr>
              <p:nvPr/>
            </p:nvSpPr>
            <p:spPr bwMode="auto">
              <a:xfrm>
                <a:off x="1734" y="846"/>
                <a:ext cx="26"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2" name="Oval 48">
                <a:extLst>
                  <a:ext uri="{FF2B5EF4-FFF2-40B4-BE49-F238E27FC236}">
                    <a16:creationId xmlns:a16="http://schemas.microsoft.com/office/drawing/2014/main" id="{2E8451B2-1E67-B2B1-7525-E1EF60F91AB5}"/>
                  </a:ext>
                </a:extLst>
              </p:cNvPr>
              <p:cNvSpPr>
                <a:spLocks noChangeArrowheads="1"/>
              </p:cNvSpPr>
              <p:nvPr/>
            </p:nvSpPr>
            <p:spPr bwMode="auto">
              <a:xfrm>
                <a:off x="177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3" name="Oval 49">
                <a:extLst>
                  <a:ext uri="{FF2B5EF4-FFF2-40B4-BE49-F238E27FC236}">
                    <a16:creationId xmlns:a16="http://schemas.microsoft.com/office/drawing/2014/main" id="{C7AF9E4B-03C3-ADB5-8E15-9E8C10976107}"/>
                  </a:ext>
                </a:extLst>
              </p:cNvPr>
              <p:cNvSpPr>
                <a:spLocks noChangeArrowheads="1"/>
              </p:cNvSpPr>
              <p:nvPr/>
            </p:nvSpPr>
            <p:spPr bwMode="auto">
              <a:xfrm>
                <a:off x="181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4" name="Oval 50">
                <a:extLst>
                  <a:ext uri="{FF2B5EF4-FFF2-40B4-BE49-F238E27FC236}">
                    <a16:creationId xmlns:a16="http://schemas.microsoft.com/office/drawing/2014/main" id="{DA03FA63-3698-92E3-C526-324DDA7B66B0}"/>
                  </a:ext>
                </a:extLst>
              </p:cNvPr>
              <p:cNvSpPr>
                <a:spLocks noChangeArrowheads="1"/>
              </p:cNvSpPr>
              <p:nvPr/>
            </p:nvSpPr>
            <p:spPr bwMode="auto">
              <a:xfrm>
                <a:off x="1853" y="846"/>
                <a:ext cx="27" cy="26"/>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5" name="Freeform 51">
                <a:extLst>
                  <a:ext uri="{FF2B5EF4-FFF2-40B4-BE49-F238E27FC236}">
                    <a16:creationId xmlns:a16="http://schemas.microsoft.com/office/drawing/2014/main" id="{6E61579E-B274-D7C9-6990-1689A1B06BD3}"/>
                  </a:ext>
                </a:extLst>
              </p:cNvPr>
              <p:cNvSpPr>
                <a:spLocks/>
              </p:cNvSpPr>
              <p:nvPr/>
            </p:nvSpPr>
            <p:spPr bwMode="auto">
              <a:xfrm>
                <a:off x="1653" y="885"/>
                <a:ext cx="27" cy="27"/>
              </a:xfrm>
              <a:custGeom>
                <a:avLst/>
                <a:gdLst>
                  <a:gd name="T0" fmla="*/ 20 w 41"/>
                  <a:gd name="T1" fmla="*/ 41 h 41"/>
                  <a:gd name="T2" fmla="*/ 0 w 41"/>
                  <a:gd name="T3" fmla="*/ 21 h 41"/>
                  <a:gd name="T4" fmla="*/ 20 w 41"/>
                  <a:gd name="T5" fmla="*/ 0 h 41"/>
                  <a:gd name="T6" fmla="*/ 41 w 41"/>
                  <a:gd name="T7" fmla="*/ 21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1"/>
                    </a:cubicBezTo>
                    <a:cubicBezTo>
                      <a:pt x="0" y="9"/>
                      <a:pt x="9" y="0"/>
                      <a:pt x="20" y="0"/>
                    </a:cubicBezTo>
                    <a:cubicBezTo>
                      <a:pt x="32" y="0"/>
                      <a:pt x="41" y="9"/>
                      <a:pt x="41" y="21"/>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6" name="Oval 52">
                <a:extLst>
                  <a:ext uri="{FF2B5EF4-FFF2-40B4-BE49-F238E27FC236}">
                    <a16:creationId xmlns:a16="http://schemas.microsoft.com/office/drawing/2014/main" id="{6321498E-D987-51E0-DD07-8C5D8FEE2877}"/>
                  </a:ext>
                </a:extLst>
              </p:cNvPr>
              <p:cNvSpPr>
                <a:spLocks noChangeArrowheads="1"/>
              </p:cNvSpPr>
              <p:nvPr/>
            </p:nvSpPr>
            <p:spPr bwMode="auto">
              <a:xfrm>
                <a:off x="169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7" name="Oval 53">
                <a:extLst>
                  <a:ext uri="{FF2B5EF4-FFF2-40B4-BE49-F238E27FC236}">
                    <a16:creationId xmlns:a16="http://schemas.microsoft.com/office/drawing/2014/main" id="{E0F79E66-7100-8266-9EF1-DCF335A8FE05}"/>
                  </a:ext>
                </a:extLst>
              </p:cNvPr>
              <p:cNvSpPr>
                <a:spLocks noChangeArrowheads="1"/>
              </p:cNvSpPr>
              <p:nvPr/>
            </p:nvSpPr>
            <p:spPr bwMode="auto">
              <a:xfrm>
                <a:off x="1734" y="88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8" name="Oval 54">
                <a:extLst>
                  <a:ext uri="{FF2B5EF4-FFF2-40B4-BE49-F238E27FC236}">
                    <a16:creationId xmlns:a16="http://schemas.microsoft.com/office/drawing/2014/main" id="{23005177-1BA6-4D18-00A1-B9B435606D72}"/>
                  </a:ext>
                </a:extLst>
              </p:cNvPr>
              <p:cNvSpPr>
                <a:spLocks noChangeArrowheads="1"/>
              </p:cNvSpPr>
              <p:nvPr/>
            </p:nvSpPr>
            <p:spPr bwMode="auto">
              <a:xfrm>
                <a:off x="177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39" name="Oval 55">
                <a:extLst>
                  <a:ext uri="{FF2B5EF4-FFF2-40B4-BE49-F238E27FC236}">
                    <a16:creationId xmlns:a16="http://schemas.microsoft.com/office/drawing/2014/main" id="{5D179F3C-83C2-51FD-430D-8FA2F89F0F31}"/>
                  </a:ext>
                </a:extLst>
              </p:cNvPr>
              <p:cNvSpPr>
                <a:spLocks noChangeArrowheads="1"/>
              </p:cNvSpPr>
              <p:nvPr/>
            </p:nvSpPr>
            <p:spPr bwMode="auto">
              <a:xfrm>
                <a:off x="181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0" name="Oval 56">
                <a:extLst>
                  <a:ext uri="{FF2B5EF4-FFF2-40B4-BE49-F238E27FC236}">
                    <a16:creationId xmlns:a16="http://schemas.microsoft.com/office/drawing/2014/main" id="{66A9AC32-087D-AE48-D0B2-FD1224FBE4BA}"/>
                  </a:ext>
                </a:extLst>
              </p:cNvPr>
              <p:cNvSpPr>
                <a:spLocks noChangeArrowheads="1"/>
              </p:cNvSpPr>
              <p:nvPr/>
            </p:nvSpPr>
            <p:spPr bwMode="auto">
              <a:xfrm>
                <a:off x="1853" y="885"/>
                <a:ext cx="27"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1" name="Freeform 57">
                <a:extLst>
                  <a:ext uri="{FF2B5EF4-FFF2-40B4-BE49-F238E27FC236}">
                    <a16:creationId xmlns:a16="http://schemas.microsoft.com/office/drawing/2014/main" id="{4ADF575A-BFEA-5F2B-8DFF-7A538DAADDEF}"/>
                  </a:ext>
                </a:extLst>
              </p:cNvPr>
              <p:cNvSpPr>
                <a:spLocks/>
              </p:cNvSpPr>
              <p:nvPr/>
            </p:nvSpPr>
            <p:spPr bwMode="auto">
              <a:xfrm>
                <a:off x="1653" y="92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2" name="Oval 58">
                <a:extLst>
                  <a:ext uri="{FF2B5EF4-FFF2-40B4-BE49-F238E27FC236}">
                    <a16:creationId xmlns:a16="http://schemas.microsoft.com/office/drawing/2014/main" id="{622BC488-15F3-AF3D-5193-7981BFC4C054}"/>
                  </a:ext>
                </a:extLst>
              </p:cNvPr>
              <p:cNvSpPr>
                <a:spLocks noChangeArrowheads="1"/>
              </p:cNvSpPr>
              <p:nvPr/>
            </p:nvSpPr>
            <p:spPr bwMode="auto">
              <a:xfrm>
                <a:off x="169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3" name="Oval 59">
                <a:extLst>
                  <a:ext uri="{FF2B5EF4-FFF2-40B4-BE49-F238E27FC236}">
                    <a16:creationId xmlns:a16="http://schemas.microsoft.com/office/drawing/2014/main" id="{F4AF0B5E-ADED-4DEA-92A1-E3D4BC8DB357}"/>
                  </a:ext>
                </a:extLst>
              </p:cNvPr>
              <p:cNvSpPr>
                <a:spLocks noChangeArrowheads="1"/>
              </p:cNvSpPr>
              <p:nvPr/>
            </p:nvSpPr>
            <p:spPr bwMode="auto">
              <a:xfrm>
                <a:off x="1734" y="92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4" name="Freeform 60">
                <a:extLst>
                  <a:ext uri="{FF2B5EF4-FFF2-40B4-BE49-F238E27FC236}">
                    <a16:creationId xmlns:a16="http://schemas.microsoft.com/office/drawing/2014/main" id="{0C8A2613-4D87-E8C5-944F-AFAFB3A6BD07}"/>
                  </a:ext>
                </a:extLst>
              </p:cNvPr>
              <p:cNvSpPr>
                <a:spLocks/>
              </p:cNvSpPr>
              <p:nvPr/>
            </p:nvSpPr>
            <p:spPr bwMode="auto">
              <a:xfrm>
                <a:off x="1653" y="965"/>
                <a:ext cx="27" cy="27"/>
              </a:xfrm>
              <a:custGeom>
                <a:avLst/>
                <a:gdLst>
                  <a:gd name="T0" fmla="*/ 20 w 41"/>
                  <a:gd name="T1" fmla="*/ 40 h 40"/>
                  <a:gd name="T2" fmla="*/ 0 w 41"/>
                  <a:gd name="T3" fmla="*/ 20 h 40"/>
                  <a:gd name="T4" fmla="*/ 20 w 41"/>
                  <a:gd name="T5" fmla="*/ 0 h 40"/>
                  <a:gd name="T6" fmla="*/ 41 w 41"/>
                  <a:gd name="T7" fmla="*/ 20 h 40"/>
                  <a:gd name="T8" fmla="*/ 20 w 41"/>
                  <a:gd name="T9" fmla="*/ 40 h 40"/>
                </a:gdLst>
                <a:ahLst/>
                <a:cxnLst>
                  <a:cxn ang="0">
                    <a:pos x="T0" y="T1"/>
                  </a:cxn>
                  <a:cxn ang="0">
                    <a:pos x="T2" y="T3"/>
                  </a:cxn>
                  <a:cxn ang="0">
                    <a:pos x="T4" y="T5"/>
                  </a:cxn>
                  <a:cxn ang="0">
                    <a:pos x="T6" y="T7"/>
                  </a:cxn>
                  <a:cxn ang="0">
                    <a:pos x="T8" y="T9"/>
                  </a:cxn>
                </a:cxnLst>
                <a:rect l="0" t="0" r="r" b="b"/>
                <a:pathLst>
                  <a:path w="41" h="40">
                    <a:moveTo>
                      <a:pt x="20" y="40"/>
                    </a:moveTo>
                    <a:cubicBezTo>
                      <a:pt x="9" y="40"/>
                      <a:pt x="0" y="31"/>
                      <a:pt x="0" y="20"/>
                    </a:cubicBezTo>
                    <a:cubicBezTo>
                      <a:pt x="0" y="9"/>
                      <a:pt x="9" y="0"/>
                      <a:pt x="20" y="0"/>
                    </a:cubicBezTo>
                    <a:cubicBezTo>
                      <a:pt x="32" y="0"/>
                      <a:pt x="41" y="9"/>
                      <a:pt x="41" y="20"/>
                    </a:cubicBezTo>
                    <a:cubicBezTo>
                      <a:pt x="41" y="31"/>
                      <a:pt x="31" y="40"/>
                      <a:pt x="20" y="4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5" name="Oval 61">
                <a:extLst>
                  <a:ext uri="{FF2B5EF4-FFF2-40B4-BE49-F238E27FC236}">
                    <a16:creationId xmlns:a16="http://schemas.microsoft.com/office/drawing/2014/main" id="{BC315AD7-E6B1-70B2-DF32-75703F5278B8}"/>
                  </a:ext>
                </a:extLst>
              </p:cNvPr>
              <p:cNvSpPr>
                <a:spLocks noChangeArrowheads="1"/>
              </p:cNvSpPr>
              <p:nvPr/>
            </p:nvSpPr>
            <p:spPr bwMode="auto">
              <a:xfrm>
                <a:off x="169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6" name="Oval 62">
                <a:extLst>
                  <a:ext uri="{FF2B5EF4-FFF2-40B4-BE49-F238E27FC236}">
                    <a16:creationId xmlns:a16="http://schemas.microsoft.com/office/drawing/2014/main" id="{328FCF21-5A3B-E230-A16D-B47CD0B9D03B}"/>
                  </a:ext>
                </a:extLst>
              </p:cNvPr>
              <p:cNvSpPr>
                <a:spLocks noChangeArrowheads="1"/>
              </p:cNvSpPr>
              <p:nvPr/>
            </p:nvSpPr>
            <p:spPr bwMode="auto">
              <a:xfrm>
                <a:off x="1734" y="96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7" name="Freeform 63">
                <a:extLst>
                  <a:ext uri="{FF2B5EF4-FFF2-40B4-BE49-F238E27FC236}">
                    <a16:creationId xmlns:a16="http://schemas.microsoft.com/office/drawing/2014/main" id="{82F8288D-998E-2EAD-8421-5188CECE5171}"/>
                  </a:ext>
                </a:extLst>
              </p:cNvPr>
              <p:cNvSpPr>
                <a:spLocks/>
              </p:cNvSpPr>
              <p:nvPr/>
            </p:nvSpPr>
            <p:spPr bwMode="auto">
              <a:xfrm>
                <a:off x="1653" y="1005"/>
                <a:ext cx="27" cy="27"/>
              </a:xfrm>
              <a:custGeom>
                <a:avLst/>
                <a:gdLst>
                  <a:gd name="T0" fmla="*/ 20 w 41"/>
                  <a:gd name="T1" fmla="*/ 41 h 41"/>
                  <a:gd name="T2" fmla="*/ 0 w 41"/>
                  <a:gd name="T3" fmla="*/ 20 h 41"/>
                  <a:gd name="T4" fmla="*/ 20 w 41"/>
                  <a:gd name="T5" fmla="*/ 0 h 41"/>
                  <a:gd name="T6" fmla="*/ 41 w 41"/>
                  <a:gd name="T7" fmla="*/ 20 h 41"/>
                  <a:gd name="T8" fmla="*/ 20 w 41"/>
                  <a:gd name="T9" fmla="*/ 41 h 41"/>
                </a:gdLst>
                <a:ahLst/>
                <a:cxnLst>
                  <a:cxn ang="0">
                    <a:pos x="T0" y="T1"/>
                  </a:cxn>
                  <a:cxn ang="0">
                    <a:pos x="T2" y="T3"/>
                  </a:cxn>
                  <a:cxn ang="0">
                    <a:pos x="T4" y="T5"/>
                  </a:cxn>
                  <a:cxn ang="0">
                    <a:pos x="T6" y="T7"/>
                  </a:cxn>
                  <a:cxn ang="0">
                    <a:pos x="T8" y="T9"/>
                  </a:cxn>
                </a:cxnLst>
                <a:rect l="0" t="0" r="r" b="b"/>
                <a:pathLst>
                  <a:path w="41" h="41">
                    <a:moveTo>
                      <a:pt x="20" y="41"/>
                    </a:moveTo>
                    <a:cubicBezTo>
                      <a:pt x="9" y="41"/>
                      <a:pt x="0" y="32"/>
                      <a:pt x="0" y="20"/>
                    </a:cubicBezTo>
                    <a:cubicBezTo>
                      <a:pt x="0" y="9"/>
                      <a:pt x="9" y="0"/>
                      <a:pt x="20" y="0"/>
                    </a:cubicBezTo>
                    <a:cubicBezTo>
                      <a:pt x="32" y="0"/>
                      <a:pt x="41" y="9"/>
                      <a:pt x="41" y="20"/>
                    </a:cubicBezTo>
                    <a:cubicBezTo>
                      <a:pt x="41" y="32"/>
                      <a:pt x="31" y="41"/>
                      <a:pt x="20" y="4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8" name="Oval 64">
                <a:extLst>
                  <a:ext uri="{FF2B5EF4-FFF2-40B4-BE49-F238E27FC236}">
                    <a16:creationId xmlns:a16="http://schemas.microsoft.com/office/drawing/2014/main" id="{4F701594-7BE7-6F56-4546-F29FE18A26AE}"/>
                  </a:ext>
                </a:extLst>
              </p:cNvPr>
              <p:cNvSpPr>
                <a:spLocks noChangeArrowheads="1"/>
              </p:cNvSpPr>
              <p:nvPr/>
            </p:nvSpPr>
            <p:spPr bwMode="auto">
              <a:xfrm>
                <a:off x="169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9" name="Oval 65">
                <a:extLst>
                  <a:ext uri="{FF2B5EF4-FFF2-40B4-BE49-F238E27FC236}">
                    <a16:creationId xmlns:a16="http://schemas.microsoft.com/office/drawing/2014/main" id="{8CC04531-A0CC-C2AA-5D09-000CCAFF6850}"/>
                  </a:ext>
                </a:extLst>
              </p:cNvPr>
              <p:cNvSpPr>
                <a:spLocks noChangeArrowheads="1"/>
              </p:cNvSpPr>
              <p:nvPr/>
            </p:nvSpPr>
            <p:spPr bwMode="auto">
              <a:xfrm>
                <a:off x="1734" y="1005"/>
                <a:ext cx="26" cy="27"/>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50" name="Freeform 66">
                <a:extLst>
                  <a:ext uri="{FF2B5EF4-FFF2-40B4-BE49-F238E27FC236}">
                    <a16:creationId xmlns:a16="http://schemas.microsoft.com/office/drawing/2014/main" id="{EE15235B-8CE0-12E4-1335-3BDEB310B194}"/>
                  </a:ext>
                </a:extLst>
              </p:cNvPr>
              <p:cNvSpPr>
                <a:spLocks noEditPoints="1"/>
              </p:cNvSpPr>
              <p:nvPr/>
            </p:nvSpPr>
            <p:spPr bwMode="auto">
              <a:xfrm>
                <a:off x="1774" y="925"/>
                <a:ext cx="119" cy="120"/>
              </a:xfrm>
              <a:custGeom>
                <a:avLst/>
                <a:gdLst>
                  <a:gd name="T0" fmla="*/ 181 w 181"/>
                  <a:gd name="T1" fmla="*/ 169 h 183"/>
                  <a:gd name="T2" fmla="*/ 123 w 181"/>
                  <a:gd name="T3" fmla="*/ 111 h 183"/>
                  <a:gd name="T4" fmla="*/ 137 w 181"/>
                  <a:gd name="T5" fmla="*/ 69 h 183"/>
                  <a:gd name="T6" fmla="*/ 68 w 181"/>
                  <a:gd name="T7" fmla="*/ 0 h 183"/>
                  <a:gd name="T8" fmla="*/ 0 w 181"/>
                  <a:gd name="T9" fmla="*/ 69 h 183"/>
                  <a:gd name="T10" fmla="*/ 68 w 181"/>
                  <a:gd name="T11" fmla="*/ 138 h 183"/>
                  <a:gd name="T12" fmla="*/ 108 w 181"/>
                  <a:gd name="T13" fmla="*/ 125 h 183"/>
                  <a:gd name="T14" fmla="*/ 167 w 181"/>
                  <a:gd name="T15" fmla="*/ 183 h 183"/>
                  <a:gd name="T16" fmla="*/ 181 w 181"/>
                  <a:gd name="T17" fmla="*/ 169 h 183"/>
                  <a:gd name="T18" fmla="*/ 68 w 181"/>
                  <a:gd name="T19" fmla="*/ 118 h 183"/>
                  <a:gd name="T20" fmla="*/ 20 w 181"/>
                  <a:gd name="T21" fmla="*/ 69 h 183"/>
                  <a:gd name="T22" fmla="*/ 68 w 181"/>
                  <a:gd name="T23" fmla="*/ 21 h 183"/>
                  <a:gd name="T24" fmla="*/ 117 w 181"/>
                  <a:gd name="T25" fmla="*/ 69 h 183"/>
                  <a:gd name="T26" fmla="*/ 68 w 181"/>
                  <a:gd name="T27" fmla="*/ 11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 h="183">
                    <a:moveTo>
                      <a:pt x="181" y="169"/>
                    </a:moveTo>
                    <a:cubicBezTo>
                      <a:pt x="123" y="111"/>
                      <a:pt x="123" y="111"/>
                      <a:pt x="123" y="111"/>
                    </a:cubicBezTo>
                    <a:cubicBezTo>
                      <a:pt x="132" y="99"/>
                      <a:pt x="137" y="85"/>
                      <a:pt x="137" y="69"/>
                    </a:cubicBezTo>
                    <a:cubicBezTo>
                      <a:pt x="137" y="31"/>
                      <a:pt x="106" y="0"/>
                      <a:pt x="68" y="0"/>
                    </a:cubicBezTo>
                    <a:cubicBezTo>
                      <a:pt x="30" y="0"/>
                      <a:pt x="0" y="31"/>
                      <a:pt x="0" y="69"/>
                    </a:cubicBezTo>
                    <a:cubicBezTo>
                      <a:pt x="0" y="107"/>
                      <a:pt x="30" y="138"/>
                      <a:pt x="68" y="138"/>
                    </a:cubicBezTo>
                    <a:cubicBezTo>
                      <a:pt x="83" y="138"/>
                      <a:pt x="97" y="133"/>
                      <a:pt x="108" y="125"/>
                    </a:cubicBezTo>
                    <a:cubicBezTo>
                      <a:pt x="167" y="183"/>
                      <a:pt x="167" y="183"/>
                      <a:pt x="167" y="183"/>
                    </a:cubicBezTo>
                    <a:lnTo>
                      <a:pt x="181" y="169"/>
                    </a:lnTo>
                    <a:close/>
                    <a:moveTo>
                      <a:pt x="68" y="118"/>
                    </a:moveTo>
                    <a:cubicBezTo>
                      <a:pt x="42" y="118"/>
                      <a:pt x="20" y="96"/>
                      <a:pt x="20" y="69"/>
                    </a:cubicBezTo>
                    <a:cubicBezTo>
                      <a:pt x="20" y="42"/>
                      <a:pt x="42" y="21"/>
                      <a:pt x="68" y="21"/>
                    </a:cubicBezTo>
                    <a:cubicBezTo>
                      <a:pt x="95" y="21"/>
                      <a:pt x="117" y="42"/>
                      <a:pt x="117" y="69"/>
                    </a:cubicBezTo>
                    <a:cubicBezTo>
                      <a:pt x="117" y="96"/>
                      <a:pt x="95" y="118"/>
                      <a:pt x="68" y="118"/>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751" name="Rectangle 750">
              <a:extLst>
                <a:ext uri="{FF2B5EF4-FFF2-40B4-BE49-F238E27FC236}">
                  <a16:creationId xmlns:a16="http://schemas.microsoft.com/office/drawing/2014/main" id="{587998DB-5570-AD38-80A2-E0567914C3B4}"/>
                </a:ext>
              </a:extLst>
            </p:cNvPr>
            <p:cNvSpPr/>
            <p:nvPr/>
          </p:nvSpPr>
          <p:spPr bwMode="auto">
            <a:xfrm>
              <a:off x="4945837" y="499391"/>
              <a:ext cx="1265416" cy="171892"/>
            </a:xfrm>
            <a:prstGeom prst="rect">
              <a:avLst/>
            </a:prstGeom>
            <a:solidFill>
              <a:srgbClr val="F3F9FD"/>
            </a:solidFill>
            <a:ln w="3175">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52" name="Rectangle 751">
              <a:extLst>
                <a:ext uri="{FF2B5EF4-FFF2-40B4-BE49-F238E27FC236}">
                  <a16:creationId xmlns:a16="http://schemas.microsoft.com/office/drawing/2014/main" id="{DC447224-917C-4289-953F-863F50410D94}"/>
                </a:ext>
              </a:extLst>
            </p:cNvPr>
            <p:cNvSpPr/>
            <p:nvPr/>
          </p:nvSpPr>
          <p:spPr bwMode="auto">
            <a:xfrm>
              <a:off x="5190816" y="505309"/>
              <a:ext cx="809499" cy="15488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Actioning</a:t>
              </a:r>
            </a:p>
          </p:txBody>
        </p:sp>
        <p:pic>
          <p:nvPicPr>
            <p:cNvPr id="202" name="Graphic 201">
              <a:extLst>
                <a:ext uri="{FF2B5EF4-FFF2-40B4-BE49-F238E27FC236}">
                  <a16:creationId xmlns:a16="http://schemas.microsoft.com/office/drawing/2014/main" id="{C0F40DDB-C759-B57E-9E8D-92B951AFD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35640" y="538599"/>
              <a:ext cx="116843" cy="115017"/>
            </a:xfrm>
            <a:prstGeom prst="rect">
              <a:avLst/>
            </a:prstGeom>
          </p:spPr>
        </p:pic>
        <p:cxnSp>
          <p:nvCxnSpPr>
            <p:cNvPr id="57" name="Straight Connector 56">
              <a:extLst>
                <a:ext uri="{FF2B5EF4-FFF2-40B4-BE49-F238E27FC236}">
                  <a16:creationId xmlns:a16="http://schemas.microsoft.com/office/drawing/2014/main" id="{29AC2E31-707C-49CC-B1FE-ECF6A0DCE7C9}"/>
                </a:ext>
              </a:extLst>
            </p:cNvPr>
            <p:cNvCxnSpPr>
              <a:cxnSpLocks/>
            </p:cNvCxnSpPr>
            <p:nvPr/>
          </p:nvCxnSpPr>
          <p:spPr>
            <a:xfrm>
              <a:off x="354504" y="609073"/>
              <a:ext cx="0" cy="4707782"/>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0" name="Rectangle: Rounded Corners 99">
              <a:extLst>
                <a:ext uri="{FF2B5EF4-FFF2-40B4-BE49-F238E27FC236}">
                  <a16:creationId xmlns:a16="http://schemas.microsoft.com/office/drawing/2014/main" id="{3B19CE2D-6B00-B98C-9DA6-673D9024409B}"/>
                </a:ext>
              </a:extLst>
            </p:cNvPr>
            <p:cNvSpPr/>
            <p:nvPr/>
          </p:nvSpPr>
          <p:spPr bwMode="auto">
            <a:xfrm>
              <a:off x="1877762" y="843844"/>
              <a:ext cx="2646164" cy="724079"/>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4" name="Picture 113" descr="Eventstream">
              <a:extLst>
                <a:ext uri="{FF2B5EF4-FFF2-40B4-BE49-F238E27FC236}">
                  <a16:creationId xmlns:a16="http://schemas.microsoft.com/office/drawing/2014/main" id="{B27F0F18-E293-29E8-30A2-C84AECD408C0}"/>
                </a:ext>
              </a:extLst>
            </p:cNvPr>
            <p:cNvPicPr>
              <a:picLocks noChangeAspect="1"/>
            </p:cNvPicPr>
            <p:nvPr/>
          </p:nvPicPr>
          <p:blipFill>
            <a:blip r:embed="rId4"/>
            <a:stretch>
              <a:fillRect/>
            </a:stretch>
          </p:blipFill>
          <p:spPr>
            <a:xfrm>
              <a:off x="3084222" y="1030346"/>
              <a:ext cx="311417" cy="311417"/>
            </a:xfrm>
            <a:prstGeom prst="rect">
              <a:avLst/>
            </a:prstGeom>
          </p:spPr>
        </p:pic>
        <p:sp>
          <p:nvSpPr>
            <p:cNvPr id="134" name="Rectangle: Rounded Corners 133">
              <a:extLst>
                <a:ext uri="{FF2B5EF4-FFF2-40B4-BE49-F238E27FC236}">
                  <a16:creationId xmlns:a16="http://schemas.microsoft.com/office/drawing/2014/main" id="{0B567890-BA13-52C4-B390-A6FB1C80BC60}"/>
                </a:ext>
              </a:extLst>
            </p:cNvPr>
            <p:cNvSpPr/>
            <p:nvPr/>
          </p:nvSpPr>
          <p:spPr bwMode="auto">
            <a:xfrm>
              <a:off x="551794" y="1029058"/>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2" name="Rectangle: Rounded Corners 131">
              <a:extLst>
                <a:ext uri="{FF2B5EF4-FFF2-40B4-BE49-F238E27FC236}">
                  <a16:creationId xmlns:a16="http://schemas.microsoft.com/office/drawing/2014/main" id="{7A1ECE38-AD0C-8C61-B342-2C1A2218E07D}"/>
                </a:ext>
              </a:extLst>
            </p:cNvPr>
            <p:cNvSpPr/>
            <p:nvPr/>
          </p:nvSpPr>
          <p:spPr bwMode="auto">
            <a:xfrm>
              <a:off x="481069" y="944860"/>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Rectangle 36">
              <a:extLst>
                <a:ext uri="{FF2B5EF4-FFF2-40B4-BE49-F238E27FC236}">
                  <a16:creationId xmlns:a16="http://schemas.microsoft.com/office/drawing/2014/main" id="{F2277D5D-D1F4-9F38-862F-6594A6EB779F}"/>
                </a:ext>
              </a:extLst>
            </p:cNvPr>
            <p:cNvSpPr/>
            <p:nvPr/>
          </p:nvSpPr>
          <p:spPr bwMode="auto">
            <a:xfrm>
              <a:off x="696187" y="920611"/>
              <a:ext cx="93972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Producers</a:t>
              </a:r>
            </a:p>
          </p:txBody>
        </p:sp>
        <p:pic>
          <p:nvPicPr>
            <p:cNvPr id="31" name="Graphic 30">
              <a:extLst>
                <a:ext uri="{FF2B5EF4-FFF2-40B4-BE49-F238E27FC236}">
                  <a16:creationId xmlns:a16="http://schemas.microsoft.com/office/drawing/2014/main" id="{8A35EF86-CEBF-6C0C-943B-D48F54C344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6630" y="1060542"/>
              <a:ext cx="262697" cy="262697"/>
            </a:xfrm>
            <a:prstGeom prst="rect">
              <a:avLst/>
            </a:prstGeom>
          </p:spPr>
        </p:pic>
        <p:cxnSp>
          <p:nvCxnSpPr>
            <p:cNvPr id="106" name="Straight Arrow Connector 105">
              <a:extLst>
                <a:ext uri="{FF2B5EF4-FFF2-40B4-BE49-F238E27FC236}">
                  <a16:creationId xmlns:a16="http://schemas.microsoft.com/office/drawing/2014/main" id="{50BAB008-382D-1202-F5F8-236C54438A02}"/>
                </a:ext>
              </a:extLst>
            </p:cNvPr>
            <p:cNvCxnSpPr>
              <a:cxnSpLocks/>
              <a:stCxn id="132" idx="3"/>
              <a:endCxn id="101" idx="1"/>
            </p:cNvCxnSpPr>
            <p:nvPr/>
          </p:nvCxnSpPr>
          <p:spPr>
            <a:xfrm>
              <a:off x="1530369" y="1203478"/>
              <a:ext cx="441262" cy="10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09" name="Graphic 108">
              <a:extLst>
                <a:ext uri="{FF2B5EF4-FFF2-40B4-BE49-F238E27FC236}">
                  <a16:creationId xmlns:a16="http://schemas.microsoft.com/office/drawing/2014/main" id="{41C5499E-B6C2-C363-4209-4157E9BC003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94266" y="1100932"/>
              <a:ext cx="229481" cy="229481"/>
            </a:xfrm>
            <a:prstGeom prst="rect">
              <a:avLst/>
            </a:prstGeom>
          </p:spPr>
        </p:pic>
        <p:sp>
          <p:nvSpPr>
            <p:cNvPr id="63" name="Rectangle 62">
              <a:extLst>
                <a:ext uri="{FF2B5EF4-FFF2-40B4-BE49-F238E27FC236}">
                  <a16:creationId xmlns:a16="http://schemas.microsoft.com/office/drawing/2014/main" id="{C48B168C-F93A-E191-A931-33D4762D4AB7}"/>
                </a:ext>
              </a:extLst>
            </p:cNvPr>
            <p:cNvSpPr/>
            <p:nvPr/>
          </p:nvSpPr>
          <p:spPr bwMode="auto">
            <a:xfrm>
              <a:off x="1" y="2"/>
              <a:ext cx="12219716" cy="6857998"/>
            </a:xfrm>
            <a:prstGeom prst="rect">
              <a:avLst/>
            </a:prstGeom>
            <a:gradFill>
              <a:gsLst>
                <a:gs pos="0">
                  <a:srgbClr val="F7FDFD">
                    <a:alpha val="90000"/>
                  </a:srgbClr>
                </a:gs>
                <a:gs pos="100000">
                  <a:srgbClr val="EEEEF5">
                    <a:alpha val="90000"/>
                  </a:srgbClr>
                </a:gs>
              </a:gsLst>
              <a:lin ang="189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7071B395-090F-A965-9BE3-B27851DD8D58}"/>
                </a:ext>
              </a:extLst>
            </p:cNvPr>
            <p:cNvSpPr/>
            <p:nvPr/>
          </p:nvSpPr>
          <p:spPr bwMode="auto">
            <a:xfrm>
              <a:off x="23987" y="42930"/>
              <a:ext cx="6709319"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mj-lt"/>
                  <a:ea typeface="Segoe UI" pitchFamily="34" charset="0"/>
                  <a:cs typeface="Cascadia Code" panose="020B0609020000020004" pitchFamily="49" charset="0"/>
                </a:rPr>
                <a:t>Stateful Stream Processor: Apache Spark + RocksDB</a:t>
              </a:r>
            </a:p>
          </p:txBody>
        </p:sp>
        <p:sp>
          <p:nvSpPr>
            <p:cNvPr id="4" name="Rectangle: Rounded Corners 3">
              <a:extLst>
                <a:ext uri="{FF2B5EF4-FFF2-40B4-BE49-F238E27FC236}">
                  <a16:creationId xmlns:a16="http://schemas.microsoft.com/office/drawing/2014/main" id="{356AA1B2-85E5-B82F-D50C-041111AB1DD0}"/>
                </a:ext>
              </a:extLst>
            </p:cNvPr>
            <p:cNvSpPr/>
            <p:nvPr/>
          </p:nvSpPr>
          <p:spPr bwMode="auto">
            <a:xfrm>
              <a:off x="1908902" y="860963"/>
              <a:ext cx="4320674" cy="4311112"/>
            </a:xfrm>
            <a:prstGeom prst="roundRect">
              <a:avLst>
                <a:gd name="adj" fmla="val 1981"/>
              </a:avLst>
            </a:prstGeom>
            <a:solidFill>
              <a:schemeClr val="bg1">
                <a:alpha val="54000"/>
              </a:schemeClr>
            </a:solidFill>
            <a:ln w="3175">
              <a:solidFill>
                <a:schemeClr val="tx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15" name="Straight Arrow Connector 114">
              <a:extLst>
                <a:ext uri="{FF2B5EF4-FFF2-40B4-BE49-F238E27FC236}">
                  <a16:creationId xmlns:a16="http://schemas.microsoft.com/office/drawing/2014/main" id="{A76AF11A-A9DC-10D5-0A35-A25A6D528BF4}"/>
                </a:ext>
              </a:extLst>
            </p:cNvPr>
            <p:cNvCxnSpPr>
              <a:cxnSpLocks/>
              <a:stCxn id="101" idx="2"/>
            </p:cNvCxnSpPr>
            <p:nvPr/>
          </p:nvCxnSpPr>
          <p:spPr>
            <a:xfrm>
              <a:off x="2477092" y="1463168"/>
              <a:ext cx="0" cy="390159"/>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sp>
          <p:nvSpPr>
            <p:cNvPr id="101" name="Rectangle: Rounded Corners 100">
              <a:extLst>
                <a:ext uri="{FF2B5EF4-FFF2-40B4-BE49-F238E27FC236}">
                  <a16:creationId xmlns:a16="http://schemas.microsoft.com/office/drawing/2014/main" id="{F02CC2CD-85A5-333D-0267-0D99F2601B25}"/>
                </a:ext>
              </a:extLst>
            </p:cNvPr>
            <p:cNvSpPr/>
            <p:nvPr/>
          </p:nvSpPr>
          <p:spPr bwMode="auto">
            <a:xfrm>
              <a:off x="1971631" y="945932"/>
              <a:ext cx="1010922"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 name="Event Hubs" descr="Event Hubs">
              <a:extLst>
                <a:ext uri="{FF2B5EF4-FFF2-40B4-BE49-F238E27FC236}">
                  <a16:creationId xmlns:a16="http://schemas.microsoft.com/office/drawing/2014/main" id="{A07D8A5F-C9F3-DE1D-FD87-EC0A4B9517AB}"/>
                </a:ext>
              </a:extLst>
            </p:cNvPr>
            <p:cNvPicPr>
              <a:picLocks noChangeAspect="1"/>
            </p:cNvPicPr>
            <p:nvPr/>
          </p:nvPicPr>
          <p:blipFill>
            <a:blip r:embed="rId7"/>
            <a:stretch>
              <a:fillRect/>
            </a:stretch>
          </p:blipFill>
          <p:spPr>
            <a:xfrm>
              <a:off x="2028502" y="1088583"/>
              <a:ext cx="233868" cy="246263"/>
            </a:xfrm>
            <a:prstGeom prst="rect">
              <a:avLst/>
            </a:prstGeom>
          </p:spPr>
        </p:pic>
        <p:sp>
          <p:nvSpPr>
            <p:cNvPr id="8" name="Rectangle 7">
              <a:extLst>
                <a:ext uri="{FF2B5EF4-FFF2-40B4-BE49-F238E27FC236}">
                  <a16:creationId xmlns:a16="http://schemas.microsoft.com/office/drawing/2014/main" id="{3081728D-CF59-F8A5-74EB-249E3F1CF463}"/>
                </a:ext>
              </a:extLst>
            </p:cNvPr>
            <p:cNvSpPr/>
            <p:nvPr/>
          </p:nvSpPr>
          <p:spPr bwMode="auto">
            <a:xfrm>
              <a:off x="2133597" y="931129"/>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b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Producer</a:t>
              </a:r>
            </a:p>
          </p:txBody>
        </p:sp>
        <p:cxnSp>
          <p:nvCxnSpPr>
            <p:cNvPr id="2081" name="Straight Connector 2080">
              <a:extLst>
                <a:ext uri="{FF2B5EF4-FFF2-40B4-BE49-F238E27FC236}">
                  <a16:creationId xmlns:a16="http://schemas.microsoft.com/office/drawing/2014/main" id="{2AACE981-61AD-F1EF-C9E0-765F797DD545}"/>
                </a:ext>
              </a:extLst>
            </p:cNvPr>
            <p:cNvCxnSpPr>
              <a:cxnSpLocks/>
            </p:cNvCxnSpPr>
            <p:nvPr/>
          </p:nvCxnSpPr>
          <p:spPr>
            <a:xfrm flipV="1">
              <a:off x="6202148" y="609073"/>
              <a:ext cx="5028610" cy="251890"/>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0" name="Rectangle: Rounded Corners 109">
              <a:extLst>
                <a:ext uri="{FF2B5EF4-FFF2-40B4-BE49-F238E27FC236}">
                  <a16:creationId xmlns:a16="http://schemas.microsoft.com/office/drawing/2014/main" id="{340DFE8B-7FD6-A7B0-3A1B-C6538DAEFF35}"/>
                </a:ext>
              </a:extLst>
            </p:cNvPr>
            <p:cNvSpPr/>
            <p:nvPr/>
          </p:nvSpPr>
          <p:spPr bwMode="auto">
            <a:xfrm>
              <a:off x="2272463" y="1859280"/>
              <a:ext cx="1914718" cy="1257300"/>
            </a:xfrm>
            <a:prstGeom prst="roundRect">
              <a:avLst>
                <a:gd name="adj" fmla="val 1988"/>
              </a:avLst>
            </a:prstGeom>
            <a:solidFill>
              <a:srgbClr val="EBEBEB"/>
            </a:solidFill>
            <a:ln w="4445">
              <a:solidFill>
                <a:schemeClr val="tx1">
                  <a:lumMod val="75000"/>
                </a:schemeClr>
              </a:solidFill>
              <a:prstDash val="sysDot"/>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0CF61F9E-F111-18B7-C82A-450445D12CD2}"/>
                </a:ext>
              </a:extLst>
            </p:cNvPr>
            <p:cNvGrpSpPr/>
            <p:nvPr/>
          </p:nvGrpSpPr>
          <p:grpSpPr>
            <a:xfrm>
              <a:off x="2145974" y="2436690"/>
              <a:ext cx="3040866" cy="2648001"/>
              <a:chOff x="2145974" y="2436690"/>
              <a:chExt cx="3040866" cy="2648001"/>
            </a:xfrm>
          </p:grpSpPr>
          <p:grpSp>
            <p:nvGrpSpPr>
              <p:cNvPr id="99" name="Group 98">
                <a:extLst>
                  <a:ext uri="{FF2B5EF4-FFF2-40B4-BE49-F238E27FC236}">
                    <a16:creationId xmlns:a16="http://schemas.microsoft.com/office/drawing/2014/main" id="{0F5F121A-E5DB-DD58-FD1A-5668023AA88F}"/>
                  </a:ext>
                </a:extLst>
              </p:cNvPr>
              <p:cNvGrpSpPr/>
              <p:nvPr/>
            </p:nvGrpSpPr>
            <p:grpSpPr>
              <a:xfrm>
                <a:off x="2272463" y="3200482"/>
                <a:ext cx="2914377" cy="1884209"/>
                <a:chOff x="8099402" y="3176360"/>
                <a:chExt cx="2914377" cy="1884209"/>
              </a:xfrm>
            </p:grpSpPr>
            <p:sp>
              <p:nvSpPr>
                <p:cNvPr id="190" name="Rectangle 189">
                  <a:extLst>
                    <a:ext uri="{FF2B5EF4-FFF2-40B4-BE49-F238E27FC236}">
                      <a16:creationId xmlns:a16="http://schemas.microsoft.com/office/drawing/2014/main" id="{FB1BECA6-E012-4B37-4106-6B551F5F00A8}"/>
                    </a:ext>
                  </a:extLst>
                </p:cNvPr>
                <p:cNvSpPr/>
                <p:nvPr/>
              </p:nvSpPr>
              <p:spPr bwMode="auto">
                <a:xfrm>
                  <a:off x="8099402" y="3176360"/>
                  <a:ext cx="2813462" cy="1884209"/>
                </a:xfrm>
                <a:prstGeom prst="rect">
                  <a:avLst/>
                </a:prstGeom>
                <a:solidFill>
                  <a:schemeClr val="bg1"/>
                </a:solidFill>
                <a:ln w="15875" cap="rnd" cmpd="sng" algn="ctr">
                  <a:solidFill>
                    <a:schemeClr val="tx1">
                      <a:lumMod val="95000"/>
                    </a:schemeClr>
                  </a:solidFill>
                  <a:prstDash val="solid"/>
                  <a:headEnd type="none" w="med" len="med"/>
                  <a:tailEnd type="none" w="med" len="med"/>
                </a:ln>
                <a:effectLst>
                  <a:outerShdw blurRad="63500" algn="ctr" rotWithShape="0">
                    <a:prstClr val="black">
                      <a:alpha val="20000"/>
                    </a:prstClr>
                  </a:outerShdw>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92" name="Rectangle 191">
                  <a:extLst>
                    <a:ext uri="{FF2B5EF4-FFF2-40B4-BE49-F238E27FC236}">
                      <a16:creationId xmlns:a16="http://schemas.microsoft.com/office/drawing/2014/main" id="{1E247B56-7DE2-163A-4F2F-0295627BCCAF}"/>
                    </a:ext>
                  </a:extLst>
                </p:cNvPr>
                <p:cNvSpPr/>
                <p:nvPr/>
              </p:nvSpPr>
              <p:spPr bwMode="auto">
                <a:xfrm>
                  <a:off x="8292392" y="3360504"/>
                  <a:ext cx="2721387" cy="1520097"/>
                </a:xfrm>
                <a:prstGeom prst="rect">
                  <a:avLst/>
                </a:prstGeom>
                <a:no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0" cap="none" spc="0" normalizeH="0" baseline="0" noProof="0">
                      <a:ln>
                        <a:noFill/>
                      </a:ln>
                      <a:gradFill>
                        <a:gsLst>
                          <a:gs pos="0">
                            <a:srgbClr val="000000"/>
                          </a:gs>
                          <a:gs pos="100000">
                            <a:srgbClr val="000000">
                              <a:lumMod val="85000"/>
                            </a:srgbClr>
                          </a:gs>
                        </a:gsLst>
                        <a:lin ang="2700000" scaled="1"/>
                      </a:gradFill>
                      <a:effectLst/>
                      <a:uLnTx/>
                      <a:uFill>
                        <a:solidFill>
                          <a:srgbClr val="50E6FF"/>
                        </a:solidFill>
                      </a:uFill>
                      <a:latin typeface="Cascadia Code" panose="020B0609020000020004" pitchFamily="49" charset="0"/>
                      <a:ea typeface="Segoe UI" pitchFamily="34" charset="0"/>
                      <a:cs typeface="Cascadia Code" panose="020B0609020000020004" pitchFamily="49" charset="0"/>
                    </a:rPr>
                    <a:t>Arbitrary Stateful Processing</a:t>
                  </a:r>
                </a:p>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Basically, Spark guarantees a callback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f(x)</a:t>
                  </a:r>
                  <a:r>
                    <a:rPr kumimoji="0" lang="en-US" sz="800" b="0"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will execute with a microbatch of all events related to a key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Spark also guarantees a event-time based </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timeout</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callback, if events don’t arrive for </a:t>
                  </a:r>
                  <a:r>
                    <a:rPr kumimoji="0" lang="en-US" sz="800" b="1" i="0" u="none" strike="noStrike" kern="0" cap="none" spc="0" normalizeH="0" baseline="0" noProof="0">
                      <a:ln>
                        <a:noFill/>
                      </a:ln>
                      <a:solidFill>
                        <a:schemeClr val="accent4"/>
                      </a:solidFill>
                      <a:effectLst/>
                      <a:uLnTx/>
                      <a:uFillTx/>
                      <a:latin typeface="Cascadia Code" panose="020B0609020000020004" pitchFamily="49" charset="0"/>
                      <a:ea typeface="Segoe UI" pitchFamily="34" charset="0"/>
                      <a:cs typeface="Cascadia Code" panose="020B0609020000020004" pitchFamily="49" charset="0"/>
                    </a:rPr>
                    <a:t>x</a:t>
                  </a:r>
                  <a:r>
                    <a:rPr kumimoji="0" lang="en-US" sz="800" b="1" i="0" u="none" strike="noStrike" kern="0" cap="none" spc="0" normalizeH="0" baseline="0" noProof="0">
                      <a:ln>
                        <a:noFill/>
                      </a:ln>
                      <a:solidFill>
                        <a:srgbClr val="0078D4"/>
                      </a:solidFill>
                      <a:effectLst/>
                      <a:uLnTx/>
                      <a:uFillTx/>
                      <a:latin typeface="Cascadia Code" panose="020B0609020000020004" pitchFamily="49" charset="0"/>
                      <a:ea typeface="Segoe UI" pitchFamily="34" charset="0"/>
                      <a:cs typeface="Cascadia Code" panose="020B0609020000020004" pitchFamily="49" charset="0"/>
                    </a:rPr>
                    <a:t> </a:t>
                  </a:r>
                  <a:r>
                    <a:rPr kumimoji="0" lang="en-US" sz="800" b="1" i="0" u="none" strike="noStrike" kern="0" cap="none" spc="0" normalizeH="0" baseline="0" noProof="0">
                      <a:ln>
                        <a:noFill/>
                      </a:ln>
                      <a:solidFill>
                        <a:srgbClr val="DA2430"/>
                      </a:solidFill>
                      <a:effectLst/>
                      <a:uLnTx/>
                      <a:uFillTx/>
                      <a:latin typeface="Cascadia Code" panose="020B0609020000020004" pitchFamily="49" charset="0"/>
                      <a:ea typeface="Segoe UI" pitchFamily="34" charset="0"/>
                      <a:cs typeface="Cascadia Code" panose="020B0609020000020004" pitchFamily="49" charset="0"/>
                    </a:rPr>
                    <a:t>(heartbeat offline)</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a:t>
                  </a:r>
                </a:p>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endParaRP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Key differentiator:</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massively scalable because of Spark’s horizontal scalability (</a:t>
                  </a:r>
                  <a:r>
                    <a:rPr kumimoji="0" lang="en-US" sz="8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million+ events/min</a:t>
                  </a:r>
                  <a: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with guaranteed latency.</a:t>
                  </a: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br>
                    <a:rPr kumimoji="0" lang="en-US" sz="800" b="0" i="0"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br>
                  <a:r>
                    <a:rPr kumimoji="0" lang="en-US" sz="800" b="1"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Use cases:</a:t>
                  </a:r>
                  <a:r>
                    <a:rPr kumimoji="0" lang="en-US" sz="800" b="0" i="1" u="none" strike="noStrike" kern="0" cap="none" spc="0" normalizeH="0" baseline="0" noProof="0">
                      <a:ln>
                        <a:noFill/>
                      </a:ln>
                      <a:solidFill>
                        <a:srgbClr val="000000"/>
                      </a:solidFill>
                      <a:effectLst/>
                      <a:uLnTx/>
                      <a:uFillTx/>
                      <a:latin typeface="Segoe UI"/>
                      <a:ea typeface="Segoe UI" pitchFamily="34" charset="0"/>
                      <a:cs typeface="Cascadia Code" panose="020B0609020000020004" pitchFamily="49" charset="0"/>
                    </a:rPr>
                    <a:t> ClickStream Analytics, IoT Heartbeat</a:t>
                  </a:r>
                  <a:endParaRPr kumimoji="0" lang="en-US" sz="1100" b="1" i="1" u="none" strike="noStrike" kern="0" cap="none" spc="0" normalizeH="0" baseline="0" noProof="0">
                    <a:ln>
                      <a:noFill/>
                    </a:ln>
                    <a:solidFill>
                      <a:srgbClr val="000000"/>
                    </a:solidFill>
                    <a:effectLst/>
                    <a:uLnTx/>
                    <a:uFillTx/>
                    <a:latin typeface="Segoe UI"/>
                    <a:ea typeface="Segoe UI" pitchFamily="34" charset="0"/>
                    <a:cs typeface="Segoe UI Semibold" panose="020B0702040204020203" pitchFamily="34" charset="0"/>
                  </a:endParaRPr>
                </a:p>
              </p:txBody>
            </p:sp>
            <p:pic>
              <p:nvPicPr>
                <p:cNvPr id="193" name="Graphic 192">
                  <a:extLst>
                    <a:ext uri="{FF2B5EF4-FFF2-40B4-BE49-F238E27FC236}">
                      <a16:creationId xmlns:a16="http://schemas.microsoft.com/office/drawing/2014/main" id="{ECEBB3F3-B508-9471-67EC-B6F8A9B9D1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60616" y="3314052"/>
                  <a:ext cx="228600" cy="228600"/>
                </a:xfrm>
                <a:prstGeom prst="rect">
                  <a:avLst/>
                </a:prstGeom>
              </p:spPr>
            </p:pic>
          </p:grpSp>
          <p:sp>
            <p:nvSpPr>
              <p:cNvPr id="112" name="Rectangle: Rounded Corners 111">
                <a:extLst>
                  <a:ext uri="{FF2B5EF4-FFF2-40B4-BE49-F238E27FC236}">
                    <a16:creationId xmlns:a16="http://schemas.microsoft.com/office/drawing/2014/main" id="{F50291BE-1200-7296-0CDB-FD781F205E30}"/>
                  </a:ext>
                </a:extLst>
              </p:cNvPr>
              <p:cNvSpPr/>
              <p:nvPr/>
            </p:nvSpPr>
            <p:spPr bwMode="auto">
              <a:xfrm>
                <a:off x="2336485" y="2531804"/>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8" name="Rectangle 167">
                <a:extLst>
                  <a:ext uri="{FF2B5EF4-FFF2-40B4-BE49-F238E27FC236}">
                    <a16:creationId xmlns:a16="http://schemas.microsoft.com/office/drawing/2014/main" id="{B928BD88-4A6D-E86C-8C38-11E8E3073AC9}"/>
                  </a:ext>
                </a:extLst>
              </p:cNvPr>
              <p:cNvSpPr/>
              <p:nvPr/>
            </p:nvSpPr>
            <p:spPr bwMode="auto">
              <a:xfrm>
                <a:off x="2494056" y="2436690"/>
                <a:ext cx="2040675"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RocksDB </a:t>
                </a: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(Built-in State Store)</a:t>
                </a:r>
              </a:p>
            </p:txBody>
          </p:sp>
          <p:pic>
            <p:nvPicPr>
              <p:cNvPr id="170" name="Picture 169" descr="A yellow cheetah on a blue background&#10;&#10;Description automatically generated">
                <a:extLst>
                  <a:ext uri="{FF2B5EF4-FFF2-40B4-BE49-F238E27FC236}">
                    <a16:creationId xmlns:a16="http://schemas.microsoft.com/office/drawing/2014/main" id="{2E7814F7-8E0A-2AB6-B604-31FD6BD216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38685" y="2617458"/>
                <a:ext cx="176874" cy="177568"/>
              </a:xfrm>
              <a:prstGeom prst="rect">
                <a:avLst/>
              </a:prstGeom>
            </p:spPr>
          </p:pic>
          <p:pic>
            <p:nvPicPr>
              <p:cNvPr id="77" name="Picture 6" descr="Microsoft Fabric | Logopedia | Fandom">
                <a:extLst>
                  <a:ext uri="{FF2B5EF4-FFF2-40B4-BE49-F238E27FC236}">
                    <a16:creationId xmlns:a16="http://schemas.microsoft.com/office/drawing/2014/main" id="{F6BD4D6B-12DA-7F96-2BF0-F0503C05FB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1900" y="3112632"/>
                <a:ext cx="184481" cy="184481"/>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roup 33">
                <a:extLst>
                  <a:ext uri="{FF2B5EF4-FFF2-40B4-BE49-F238E27FC236}">
                    <a16:creationId xmlns:a16="http://schemas.microsoft.com/office/drawing/2014/main" id="{8793853A-BB0B-CDDA-C7DE-0F93E75FBF18}"/>
                  </a:ext>
                </a:extLst>
              </p:cNvPr>
              <p:cNvGrpSpPr/>
              <p:nvPr/>
            </p:nvGrpSpPr>
            <p:grpSpPr>
              <a:xfrm>
                <a:off x="2658254" y="2701470"/>
                <a:ext cx="1226973" cy="404075"/>
                <a:chOff x="5400851" y="3713092"/>
                <a:chExt cx="1226973" cy="404075"/>
              </a:xfrm>
            </p:grpSpPr>
            <p:sp>
              <p:nvSpPr>
                <p:cNvPr id="145" name="Rectangle 144">
                  <a:extLst>
                    <a:ext uri="{FF2B5EF4-FFF2-40B4-BE49-F238E27FC236}">
                      <a16:creationId xmlns:a16="http://schemas.microsoft.com/office/drawing/2014/main" id="{DE23EC19-36C8-75C3-52AC-3823BC771039}"/>
                    </a:ext>
                  </a:extLst>
                </p:cNvPr>
                <p:cNvSpPr/>
                <p:nvPr/>
              </p:nvSpPr>
              <p:spPr bwMode="auto">
                <a:xfrm>
                  <a:off x="5400851" y="3713092"/>
                  <a:ext cx="1226973" cy="40407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OneLake</a:t>
                  </a:r>
                  <a:endParaRPr kumimoji="0" lang="en-US" sz="800" b="1"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33" name="Picture 32" descr="How Azure OneLake will revolutionize the way we manage and ...">
                  <a:extLst>
                    <a:ext uri="{FF2B5EF4-FFF2-40B4-BE49-F238E27FC236}">
                      <a16:creationId xmlns:a16="http://schemas.microsoft.com/office/drawing/2014/main" id="{C082892C-8205-DDE1-8757-DD69802288E5}"/>
                    </a:ext>
                  </a:extLst>
                </p:cNvPr>
                <p:cNvPicPr>
                  <a:picLocks noChangeAspect="1"/>
                </p:cNvPicPr>
                <p:nvPr/>
              </p:nvPicPr>
              <p:blipFill>
                <a:blip r:embed="rId11"/>
                <a:srcRect b="16396"/>
                <a:stretch>
                  <a:fillRect/>
                </a:stretch>
              </p:blipFill>
              <p:spPr>
                <a:xfrm>
                  <a:off x="5736147" y="3871164"/>
                  <a:ext cx="95370" cy="99667"/>
                </a:xfrm>
                <a:prstGeom prst="rect">
                  <a:avLst/>
                </a:prstGeom>
              </p:spPr>
            </p:pic>
          </p:grpSp>
          <p:pic>
            <p:nvPicPr>
              <p:cNvPr id="113" name="Picture 112" descr="Lakehouse">
                <a:extLst>
                  <a:ext uri="{FF2B5EF4-FFF2-40B4-BE49-F238E27FC236}">
                    <a16:creationId xmlns:a16="http://schemas.microsoft.com/office/drawing/2014/main" id="{87415E71-AB05-B0E9-107A-0C8DC2FA3454}"/>
                  </a:ext>
                </a:extLst>
              </p:cNvPr>
              <p:cNvPicPr>
                <a:picLocks noChangeAspect="1"/>
              </p:cNvPicPr>
              <p:nvPr/>
            </p:nvPicPr>
            <p:blipFill>
              <a:blip r:embed="rId12"/>
              <a:stretch>
                <a:fillRect/>
              </a:stretch>
            </p:blipFill>
            <p:spPr>
              <a:xfrm>
                <a:off x="2145974" y="2935384"/>
                <a:ext cx="329389" cy="329389"/>
              </a:xfrm>
              <a:prstGeom prst="rect">
                <a:avLst/>
              </a:prstGeom>
            </p:spPr>
          </p:pic>
        </p:grpSp>
        <p:cxnSp>
          <p:nvCxnSpPr>
            <p:cNvPr id="118" name="Straight Arrow Connector 117">
              <a:extLst>
                <a:ext uri="{FF2B5EF4-FFF2-40B4-BE49-F238E27FC236}">
                  <a16:creationId xmlns:a16="http://schemas.microsoft.com/office/drawing/2014/main" id="{04683FAD-F183-24BC-71A9-99194742812B}"/>
                </a:ext>
              </a:extLst>
            </p:cNvPr>
            <p:cNvCxnSpPr>
              <a:cxnSpLocks/>
            </p:cNvCxnSpPr>
            <p:nvPr/>
          </p:nvCxnSpPr>
          <p:spPr>
            <a:xfrm flipH="1" flipV="1">
              <a:off x="3937684" y="1426980"/>
              <a:ext cx="5780" cy="426347"/>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sp>
          <p:nvSpPr>
            <p:cNvPr id="103" name="Rectangle: Rounded Corners 102">
              <a:extLst>
                <a:ext uri="{FF2B5EF4-FFF2-40B4-BE49-F238E27FC236}">
                  <a16:creationId xmlns:a16="http://schemas.microsoft.com/office/drawing/2014/main" id="{52D143A3-1B5E-4434-81F2-E3C49B929D20}"/>
                </a:ext>
              </a:extLst>
            </p:cNvPr>
            <p:cNvSpPr/>
            <p:nvPr/>
          </p:nvSpPr>
          <p:spPr bwMode="auto">
            <a:xfrm>
              <a:off x="3412147" y="918708"/>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7" name="Event Hubs" descr="Event Hubs">
              <a:extLst>
                <a:ext uri="{FF2B5EF4-FFF2-40B4-BE49-F238E27FC236}">
                  <a16:creationId xmlns:a16="http://schemas.microsoft.com/office/drawing/2014/main" id="{6434406A-5185-1E9F-47D7-3C77BC5326CE}"/>
                </a:ext>
              </a:extLst>
            </p:cNvPr>
            <p:cNvPicPr>
              <a:picLocks noChangeAspect="1"/>
            </p:cNvPicPr>
            <p:nvPr/>
          </p:nvPicPr>
          <p:blipFill>
            <a:blip r:embed="rId7"/>
            <a:stretch>
              <a:fillRect/>
            </a:stretch>
          </p:blipFill>
          <p:spPr>
            <a:xfrm>
              <a:off x="3489366" y="1062432"/>
              <a:ext cx="233868" cy="246263"/>
            </a:xfrm>
            <a:prstGeom prst="rect">
              <a:avLst/>
            </a:prstGeom>
          </p:spPr>
        </p:pic>
        <p:sp>
          <p:nvSpPr>
            <p:cNvPr id="38" name="Rectangle 37">
              <a:extLst>
                <a:ext uri="{FF2B5EF4-FFF2-40B4-BE49-F238E27FC236}">
                  <a16:creationId xmlns:a16="http://schemas.microsoft.com/office/drawing/2014/main" id="{5A03833A-13B2-F2AB-FA26-B326361F7CAD}"/>
                </a:ext>
              </a:extLst>
            </p:cNvPr>
            <p:cNvSpPr/>
            <p:nvPr/>
          </p:nvSpPr>
          <p:spPr bwMode="auto">
            <a:xfrm>
              <a:off x="3594461" y="904978"/>
              <a:ext cx="1049300"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Event Hubs</a:t>
              </a:r>
            </a:p>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a:t>
              </a:r>
            </a:p>
          </p:txBody>
        </p:sp>
        <p:grpSp>
          <p:nvGrpSpPr>
            <p:cNvPr id="130" name="Group 129">
              <a:extLst>
                <a:ext uri="{FF2B5EF4-FFF2-40B4-BE49-F238E27FC236}">
                  <a16:creationId xmlns:a16="http://schemas.microsoft.com/office/drawing/2014/main" id="{125783BD-8AAD-C6C6-84FE-3991AC96DAE6}"/>
                </a:ext>
              </a:extLst>
            </p:cNvPr>
            <p:cNvGrpSpPr/>
            <p:nvPr/>
          </p:nvGrpSpPr>
          <p:grpSpPr>
            <a:xfrm>
              <a:off x="4065519" y="1294140"/>
              <a:ext cx="1379971" cy="838923"/>
              <a:chOff x="8184668" y="2235922"/>
              <a:chExt cx="1379971" cy="838923"/>
            </a:xfrm>
          </p:grpSpPr>
          <p:sp>
            <p:nvSpPr>
              <p:cNvPr id="128" name="Rectangle 127">
                <a:extLst>
                  <a:ext uri="{FF2B5EF4-FFF2-40B4-BE49-F238E27FC236}">
                    <a16:creationId xmlns:a16="http://schemas.microsoft.com/office/drawing/2014/main" id="{009DABAD-5D83-8C3D-C075-1E8F1C7A6CBA}"/>
                  </a:ext>
                </a:extLst>
              </p:cNvPr>
              <p:cNvSpPr/>
              <p:nvPr/>
            </p:nvSpPr>
            <p:spPr bwMode="auto">
              <a:xfrm>
                <a:off x="8184668" y="2437033"/>
                <a:ext cx="816070" cy="396112"/>
              </a:xfrm>
              <a:prstGeom prst="rect">
                <a:avLst/>
              </a:prstGeom>
              <a:gradFill>
                <a:gsLst>
                  <a:gs pos="0">
                    <a:srgbClr val="E3E3E3">
                      <a:alpha val="55000"/>
                    </a:srgbClr>
                  </a:gs>
                  <a:gs pos="100000">
                    <a:srgbClr val="E3E3E3"/>
                  </a:gs>
                </a:gsLst>
                <a:lin ang="0" scaled="0"/>
              </a:gradFill>
              <a:ln w="2540">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27" name="Group 126">
                <a:extLst>
                  <a:ext uri="{FF2B5EF4-FFF2-40B4-BE49-F238E27FC236}">
                    <a16:creationId xmlns:a16="http://schemas.microsoft.com/office/drawing/2014/main" id="{78F8AB6E-F1B9-0E06-6AC6-2C4B876F8798}"/>
                  </a:ext>
                </a:extLst>
              </p:cNvPr>
              <p:cNvGrpSpPr/>
              <p:nvPr/>
            </p:nvGrpSpPr>
            <p:grpSpPr>
              <a:xfrm>
                <a:off x="8233492" y="2235922"/>
                <a:ext cx="1331147" cy="838923"/>
                <a:chOff x="8695830" y="2684363"/>
                <a:chExt cx="1331147" cy="838923"/>
              </a:xfrm>
            </p:grpSpPr>
            <p:pic>
              <p:nvPicPr>
                <p:cNvPr id="125" name="Graphic 124">
                  <a:extLst>
                    <a:ext uri="{FF2B5EF4-FFF2-40B4-BE49-F238E27FC236}">
                      <a16:creationId xmlns:a16="http://schemas.microsoft.com/office/drawing/2014/main" id="{0E523899-EC90-C620-52EC-14966DE10EE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95830" y="2898640"/>
                  <a:ext cx="314813" cy="314813"/>
                </a:xfrm>
                <a:prstGeom prst="rect">
                  <a:avLst/>
                </a:prstGeom>
              </p:spPr>
            </p:pic>
            <p:sp>
              <p:nvSpPr>
                <p:cNvPr id="126" name="Rectangle 125">
                  <a:extLst>
                    <a:ext uri="{FF2B5EF4-FFF2-40B4-BE49-F238E27FC236}">
                      <a16:creationId xmlns:a16="http://schemas.microsoft.com/office/drawing/2014/main" id="{B36BD814-5A1A-5DBD-1AF7-41B442239403}"/>
                    </a:ext>
                  </a:extLst>
                </p:cNvPr>
                <p:cNvSpPr/>
                <p:nvPr/>
              </p:nvSpPr>
              <p:spPr bwMode="auto">
                <a:xfrm>
                  <a:off x="8792688" y="2684363"/>
                  <a:ext cx="1234289" cy="83892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&lt; </a:t>
                  </a:r>
                  <a:r>
                    <a:rPr lang="en-US" sz="800" b="1">
                      <a:solidFill>
                        <a:srgbClr val="7030A0"/>
                      </a:solidFill>
                      <a:latin typeface="Cascadia Code" panose="020B0609020000020004" pitchFamily="49" charset="0"/>
                      <a:ea typeface="Segoe UI" pitchFamily="34" charset="0"/>
                      <a:cs typeface="Cascadia Code" panose="020B0609020000020004" pitchFamily="49" charset="0"/>
                    </a:rPr>
                    <a:t>1</a:t>
                  </a: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 sec</a:t>
                  </a:r>
                </a:p>
              </p:txBody>
            </p:sp>
          </p:grpSp>
        </p:grpSp>
        <p:sp>
          <p:nvSpPr>
            <p:cNvPr id="111" name="Rectangle: Rounded Corners 110">
              <a:extLst>
                <a:ext uri="{FF2B5EF4-FFF2-40B4-BE49-F238E27FC236}">
                  <a16:creationId xmlns:a16="http://schemas.microsoft.com/office/drawing/2014/main" id="{0D25FB63-46CB-E6FA-8AAC-D101FA821D06}"/>
                </a:ext>
              </a:extLst>
            </p:cNvPr>
            <p:cNvSpPr/>
            <p:nvPr/>
          </p:nvSpPr>
          <p:spPr bwMode="auto">
            <a:xfrm>
              <a:off x="2348515" y="1947703"/>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0" name="Rectangle 159">
              <a:extLst>
                <a:ext uri="{FF2B5EF4-FFF2-40B4-BE49-F238E27FC236}">
                  <a16:creationId xmlns:a16="http://schemas.microsoft.com/office/drawing/2014/main" id="{A6EF7820-3A88-07B3-7403-06962D11C7E8}"/>
                </a:ext>
              </a:extLst>
            </p:cNvPr>
            <p:cNvSpPr/>
            <p:nvPr/>
          </p:nvSpPr>
          <p:spPr bwMode="auto">
            <a:xfrm>
              <a:off x="2683976" y="1934725"/>
              <a:ext cx="1479478"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Apache Spark</a:t>
              </a:r>
              <a:br>
                <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Structured Streaming</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14" name="Picture 4" descr="Apache, spark, logo Icon in Vector Logo">
              <a:extLst>
                <a:ext uri="{FF2B5EF4-FFF2-40B4-BE49-F238E27FC236}">
                  <a16:creationId xmlns:a16="http://schemas.microsoft.com/office/drawing/2014/main" id="{E2521DF8-3DF4-F88B-D1A4-F0638F4C504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12771" y="2015656"/>
              <a:ext cx="403701" cy="403701"/>
            </a:xfrm>
            <a:prstGeom prst="rect">
              <a:avLst/>
            </a:prstGeom>
            <a:noFill/>
            <a:extLst>
              <a:ext uri="{909E8E84-426E-40DD-AFC4-6F175D3DCCD1}">
                <a14:hiddenFill xmlns:a14="http://schemas.microsoft.com/office/drawing/2010/main">
                  <a:solidFill>
                    <a:srgbClr val="FFFFFF"/>
                  </a:solidFill>
                </a14:hiddenFill>
              </a:ext>
            </a:extLst>
          </p:spPr>
        </p:pic>
        <p:sp>
          <p:nvSpPr>
            <p:cNvPr id="136" name="Rectangle: Rounded Corners 135">
              <a:extLst>
                <a:ext uri="{FF2B5EF4-FFF2-40B4-BE49-F238E27FC236}">
                  <a16:creationId xmlns:a16="http://schemas.microsoft.com/office/drawing/2014/main" id="{4187D66D-6674-3728-51D2-C8545C003EC3}"/>
                </a:ext>
              </a:extLst>
            </p:cNvPr>
            <p:cNvSpPr/>
            <p:nvPr/>
          </p:nvSpPr>
          <p:spPr bwMode="auto">
            <a:xfrm>
              <a:off x="5079197" y="925626"/>
              <a:ext cx="1049300" cy="517236"/>
            </a:xfrm>
            <a:prstGeom prst="roundRect">
              <a:avLst>
                <a:gd name="adj" fmla="val 5438"/>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8" name="Rectangle 47">
              <a:extLst>
                <a:ext uri="{FF2B5EF4-FFF2-40B4-BE49-F238E27FC236}">
                  <a16:creationId xmlns:a16="http://schemas.microsoft.com/office/drawing/2014/main" id="{181A5F5E-59F7-F996-F772-C112BE83C548}"/>
                </a:ext>
              </a:extLst>
            </p:cNvPr>
            <p:cNvSpPr/>
            <p:nvPr/>
          </p:nvSpPr>
          <p:spPr bwMode="auto">
            <a:xfrm>
              <a:off x="5335481" y="905795"/>
              <a:ext cx="1013221"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Consumers</a:t>
              </a:r>
            </a:p>
          </p:txBody>
        </p:sp>
        <p:pic>
          <p:nvPicPr>
            <p:cNvPr id="32" name="Graphic 31">
              <a:extLst>
                <a:ext uri="{FF2B5EF4-FFF2-40B4-BE49-F238E27FC236}">
                  <a16:creationId xmlns:a16="http://schemas.microsoft.com/office/drawing/2014/main" id="{86979612-E902-85C7-B92C-046ABF13C8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85010" y="1045978"/>
              <a:ext cx="262697" cy="262697"/>
            </a:xfrm>
            <a:prstGeom prst="rect">
              <a:avLst/>
            </a:prstGeom>
          </p:spPr>
        </p:pic>
        <p:cxnSp>
          <p:nvCxnSpPr>
            <p:cNvPr id="137" name="Straight Arrow Connector 136">
              <a:extLst>
                <a:ext uri="{FF2B5EF4-FFF2-40B4-BE49-F238E27FC236}">
                  <a16:creationId xmlns:a16="http://schemas.microsoft.com/office/drawing/2014/main" id="{AB6371CF-024A-6A0E-54BA-489D210DF63C}"/>
                </a:ext>
              </a:extLst>
            </p:cNvPr>
            <p:cNvCxnSpPr>
              <a:cxnSpLocks/>
              <a:stCxn id="103" idx="3"/>
              <a:endCxn id="136" idx="1"/>
            </p:cNvCxnSpPr>
            <p:nvPr/>
          </p:nvCxnSpPr>
          <p:spPr>
            <a:xfrm>
              <a:off x="4461447" y="1177326"/>
              <a:ext cx="617750" cy="691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pic>
          <p:nvPicPr>
            <p:cNvPr id="151" name="Graphic 150">
              <a:extLst>
                <a:ext uri="{FF2B5EF4-FFF2-40B4-BE49-F238E27FC236}">
                  <a16:creationId xmlns:a16="http://schemas.microsoft.com/office/drawing/2014/main" id="{0A41AB1C-EAE2-6FCA-A791-6E43800043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80556" y="1081324"/>
              <a:ext cx="227351" cy="227351"/>
            </a:xfrm>
            <a:prstGeom prst="rect">
              <a:avLst/>
            </a:prstGeom>
          </p:spPr>
        </p:pic>
        <p:cxnSp>
          <p:nvCxnSpPr>
            <p:cNvPr id="680" name="Straight Connector 679">
              <a:extLst>
                <a:ext uri="{FF2B5EF4-FFF2-40B4-BE49-F238E27FC236}">
                  <a16:creationId xmlns:a16="http://schemas.microsoft.com/office/drawing/2014/main" id="{568F3763-C89F-FB44-3644-6B8968B5EBBA}"/>
                </a:ext>
              </a:extLst>
            </p:cNvPr>
            <p:cNvCxnSpPr>
              <a:cxnSpLocks/>
            </p:cNvCxnSpPr>
            <p:nvPr/>
          </p:nvCxnSpPr>
          <p:spPr>
            <a:xfrm flipV="1">
              <a:off x="1928842" y="609073"/>
              <a:ext cx="4439642" cy="277515"/>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83" name="Straight Connector 682">
              <a:extLst>
                <a:ext uri="{FF2B5EF4-FFF2-40B4-BE49-F238E27FC236}">
                  <a16:creationId xmlns:a16="http://schemas.microsoft.com/office/drawing/2014/main" id="{20A14AA0-1551-1E7A-6EF4-07BCFD39213C}"/>
                </a:ext>
              </a:extLst>
            </p:cNvPr>
            <p:cNvCxnSpPr>
              <a:cxnSpLocks/>
            </p:cNvCxnSpPr>
            <p:nvPr/>
          </p:nvCxnSpPr>
          <p:spPr>
            <a:xfrm>
              <a:off x="6207587" y="5141601"/>
              <a:ext cx="5001702" cy="1544949"/>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86" name="Straight Connector 685">
              <a:extLst>
                <a:ext uri="{FF2B5EF4-FFF2-40B4-BE49-F238E27FC236}">
                  <a16:creationId xmlns:a16="http://schemas.microsoft.com/office/drawing/2014/main" id="{29AA4759-889A-F89A-009A-69E7349F5936}"/>
                </a:ext>
              </a:extLst>
            </p:cNvPr>
            <p:cNvCxnSpPr>
              <a:cxnSpLocks/>
            </p:cNvCxnSpPr>
            <p:nvPr/>
          </p:nvCxnSpPr>
          <p:spPr>
            <a:xfrm>
              <a:off x="1925417" y="5141601"/>
              <a:ext cx="4405829" cy="1544949"/>
            </a:xfrm>
            <a:prstGeom prst="line">
              <a:avLst/>
            </a:prstGeom>
            <a:ln w="3175">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881C1A0C-F895-F1CB-3038-3BF28D1A5B53}"/>
                </a:ext>
              </a:extLst>
            </p:cNvPr>
            <p:cNvCxnSpPr>
              <a:cxnSpLocks/>
            </p:cNvCxnSpPr>
            <p:nvPr/>
          </p:nvCxnSpPr>
          <p:spPr>
            <a:xfrm>
              <a:off x="6211253" y="660254"/>
              <a:ext cx="0" cy="4656601"/>
            </a:xfrm>
            <a:prstGeom prst="line">
              <a:avLst/>
            </a:prstGeom>
            <a:ln w="3175">
              <a:solidFill>
                <a:schemeClr val="bg2"/>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5" name="Rectangle: Rounded Corners 174">
              <a:extLst>
                <a:ext uri="{FF2B5EF4-FFF2-40B4-BE49-F238E27FC236}">
                  <a16:creationId xmlns:a16="http://schemas.microsoft.com/office/drawing/2014/main" id="{97BF82E5-E5EC-6DF8-9FD4-1C9F6748F9A6}"/>
                </a:ext>
              </a:extLst>
            </p:cNvPr>
            <p:cNvSpPr/>
            <p:nvPr/>
          </p:nvSpPr>
          <p:spPr bwMode="auto">
            <a:xfrm>
              <a:off x="6331246" y="593968"/>
              <a:ext cx="5506250" cy="6092582"/>
            </a:xfrm>
            <a:prstGeom prst="roundRect">
              <a:avLst>
                <a:gd name="adj" fmla="val 2093"/>
              </a:avLst>
            </a:prstGeom>
            <a:solidFill>
              <a:schemeClr val="bg1"/>
            </a:solidFill>
            <a:ln w="3175">
              <a:solidFill>
                <a:schemeClr val="tx1">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07" name="Group 206">
              <a:extLst>
                <a:ext uri="{FF2B5EF4-FFF2-40B4-BE49-F238E27FC236}">
                  <a16:creationId xmlns:a16="http://schemas.microsoft.com/office/drawing/2014/main" id="{2BE81CD2-345C-4BAF-12E2-2BEFD01E1BFD}"/>
                </a:ext>
              </a:extLst>
            </p:cNvPr>
            <p:cNvGrpSpPr/>
            <p:nvPr/>
          </p:nvGrpSpPr>
          <p:grpSpPr>
            <a:xfrm rot="5400000">
              <a:off x="6745717" y="827154"/>
              <a:ext cx="1857052" cy="2236627"/>
              <a:chOff x="7158054" y="4061997"/>
              <a:chExt cx="1857052" cy="2236627"/>
            </a:xfrm>
          </p:grpSpPr>
          <p:sp>
            <p:nvSpPr>
              <p:cNvPr id="208" name="Rectangle: Rounded Corners 207">
                <a:extLst>
                  <a:ext uri="{FF2B5EF4-FFF2-40B4-BE49-F238E27FC236}">
                    <a16:creationId xmlns:a16="http://schemas.microsoft.com/office/drawing/2014/main" id="{DE341B03-FD33-BF69-3472-CEBF8FB55DC9}"/>
                  </a:ext>
                </a:extLst>
              </p:cNvPr>
              <p:cNvSpPr/>
              <p:nvPr/>
            </p:nvSpPr>
            <p:spPr bwMode="auto">
              <a:xfrm>
                <a:off x="7158054" y="4061997"/>
                <a:ext cx="1857052" cy="2236627"/>
              </a:xfrm>
              <a:prstGeom prst="roundRect">
                <a:avLst>
                  <a:gd name="adj" fmla="val 1284"/>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2" name="Rectangle: Rounded Corners 211">
                <a:extLst>
                  <a:ext uri="{FF2B5EF4-FFF2-40B4-BE49-F238E27FC236}">
                    <a16:creationId xmlns:a16="http://schemas.microsoft.com/office/drawing/2014/main" id="{C2F6F8A1-AAB9-A66B-C37C-18A875CC9D33}"/>
                  </a:ext>
                </a:extLst>
              </p:cNvPr>
              <p:cNvSpPr/>
              <p:nvPr/>
            </p:nvSpPr>
            <p:spPr bwMode="auto">
              <a:xfrm>
                <a:off x="7273649" y="4191758"/>
                <a:ext cx="162511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3" name="Rectangle: Rounded Corners 212">
                <a:extLst>
                  <a:ext uri="{FF2B5EF4-FFF2-40B4-BE49-F238E27FC236}">
                    <a16:creationId xmlns:a16="http://schemas.microsoft.com/office/drawing/2014/main" id="{D31713F7-F055-ADE7-2261-64D094650839}"/>
                  </a:ext>
                </a:extLst>
              </p:cNvPr>
              <p:cNvSpPr/>
              <p:nvPr/>
            </p:nvSpPr>
            <p:spPr bwMode="auto">
              <a:xfrm>
                <a:off x="7273649" y="4748752"/>
                <a:ext cx="162511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4" name="Rectangle: Rounded Corners 213">
                <a:extLst>
                  <a:ext uri="{FF2B5EF4-FFF2-40B4-BE49-F238E27FC236}">
                    <a16:creationId xmlns:a16="http://schemas.microsoft.com/office/drawing/2014/main" id="{7071B15B-EBC2-7BD3-42C9-5E60A66E62A2}"/>
                  </a:ext>
                </a:extLst>
              </p:cNvPr>
              <p:cNvSpPr/>
              <p:nvPr/>
            </p:nvSpPr>
            <p:spPr bwMode="auto">
              <a:xfrm>
                <a:off x="7273650" y="5281603"/>
                <a:ext cx="1625116"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5" name="Rectangle: Rounded Corners 214">
                <a:extLst>
                  <a:ext uri="{FF2B5EF4-FFF2-40B4-BE49-F238E27FC236}">
                    <a16:creationId xmlns:a16="http://schemas.microsoft.com/office/drawing/2014/main" id="{C9EE9352-B318-7A75-B6A1-70780A83DAA9}"/>
                  </a:ext>
                </a:extLst>
              </p:cNvPr>
              <p:cNvSpPr/>
              <p:nvPr/>
            </p:nvSpPr>
            <p:spPr bwMode="auto">
              <a:xfrm>
                <a:off x="7273649" y="5800375"/>
                <a:ext cx="1625117"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6" name="Rectangle: Rounded Corners 215">
                <a:extLst>
                  <a:ext uri="{FF2B5EF4-FFF2-40B4-BE49-F238E27FC236}">
                    <a16:creationId xmlns:a16="http://schemas.microsoft.com/office/drawing/2014/main" id="{31419206-6D48-CC9B-0ED3-B3BF41C7F590}"/>
                  </a:ext>
                </a:extLst>
              </p:cNvPr>
              <p:cNvSpPr/>
              <p:nvPr/>
            </p:nvSpPr>
            <p:spPr bwMode="auto">
              <a:xfrm>
                <a:off x="734782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7" name="Rectangle: Rounded Corners 216">
                <a:extLst>
                  <a:ext uri="{FF2B5EF4-FFF2-40B4-BE49-F238E27FC236}">
                    <a16:creationId xmlns:a16="http://schemas.microsoft.com/office/drawing/2014/main" id="{194F60BC-9E97-3824-9C7A-D82A25EE9848}"/>
                  </a:ext>
                </a:extLst>
              </p:cNvPr>
              <p:cNvSpPr/>
              <p:nvPr/>
            </p:nvSpPr>
            <p:spPr bwMode="auto">
              <a:xfrm>
                <a:off x="751678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8" name="Rectangle: Rounded Corners 217">
                <a:extLst>
                  <a:ext uri="{FF2B5EF4-FFF2-40B4-BE49-F238E27FC236}">
                    <a16:creationId xmlns:a16="http://schemas.microsoft.com/office/drawing/2014/main" id="{724E4DEA-F373-F48E-ADE6-281554F58A56}"/>
                  </a:ext>
                </a:extLst>
              </p:cNvPr>
              <p:cNvSpPr/>
              <p:nvPr/>
            </p:nvSpPr>
            <p:spPr bwMode="auto">
              <a:xfrm>
                <a:off x="768574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19" name="Rectangle: Rounded Corners 218">
                <a:extLst>
                  <a:ext uri="{FF2B5EF4-FFF2-40B4-BE49-F238E27FC236}">
                    <a16:creationId xmlns:a16="http://schemas.microsoft.com/office/drawing/2014/main" id="{018DACCD-94D8-0B06-9A8B-18A3CF447C5D}"/>
                  </a:ext>
                </a:extLst>
              </p:cNvPr>
              <p:cNvSpPr/>
              <p:nvPr/>
            </p:nvSpPr>
            <p:spPr bwMode="auto">
              <a:xfrm>
                <a:off x="785470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0" name="Rectangle: Rounded Corners 219">
                <a:extLst>
                  <a:ext uri="{FF2B5EF4-FFF2-40B4-BE49-F238E27FC236}">
                    <a16:creationId xmlns:a16="http://schemas.microsoft.com/office/drawing/2014/main" id="{CA895474-AE94-77A0-38BF-9348E5A0DA3A}"/>
                  </a:ext>
                </a:extLst>
              </p:cNvPr>
              <p:cNvSpPr/>
              <p:nvPr/>
            </p:nvSpPr>
            <p:spPr bwMode="auto">
              <a:xfrm>
                <a:off x="802366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1" name="Rectangle: Rounded Corners 220">
                <a:extLst>
                  <a:ext uri="{FF2B5EF4-FFF2-40B4-BE49-F238E27FC236}">
                    <a16:creationId xmlns:a16="http://schemas.microsoft.com/office/drawing/2014/main" id="{0D8D048B-70B8-4568-B7D5-71AD857B6D30}"/>
                  </a:ext>
                </a:extLst>
              </p:cNvPr>
              <p:cNvSpPr/>
              <p:nvPr/>
            </p:nvSpPr>
            <p:spPr bwMode="auto">
              <a:xfrm>
                <a:off x="819262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2" name="Rectangle: Rounded Corners 221">
                <a:extLst>
                  <a:ext uri="{FF2B5EF4-FFF2-40B4-BE49-F238E27FC236}">
                    <a16:creationId xmlns:a16="http://schemas.microsoft.com/office/drawing/2014/main" id="{C0E7A211-F21B-8104-90D4-4E31FB6B1FC5}"/>
                  </a:ext>
                </a:extLst>
              </p:cNvPr>
              <p:cNvSpPr/>
              <p:nvPr/>
            </p:nvSpPr>
            <p:spPr bwMode="auto">
              <a:xfrm>
                <a:off x="836158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3" name="Rectangle: Rounded Corners 222">
                <a:extLst>
                  <a:ext uri="{FF2B5EF4-FFF2-40B4-BE49-F238E27FC236}">
                    <a16:creationId xmlns:a16="http://schemas.microsoft.com/office/drawing/2014/main" id="{2AEDDFD1-C9DC-3710-D383-BDBAF1BA0F59}"/>
                  </a:ext>
                </a:extLst>
              </p:cNvPr>
              <p:cNvSpPr/>
              <p:nvPr/>
            </p:nvSpPr>
            <p:spPr bwMode="auto">
              <a:xfrm>
                <a:off x="8530546"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4" name="Rectangle: Rounded Corners 223">
                <a:extLst>
                  <a:ext uri="{FF2B5EF4-FFF2-40B4-BE49-F238E27FC236}">
                    <a16:creationId xmlns:a16="http://schemas.microsoft.com/office/drawing/2014/main" id="{6BB039FE-DA66-4F9C-FE85-5FE974EF55E5}"/>
                  </a:ext>
                </a:extLst>
              </p:cNvPr>
              <p:cNvSpPr/>
              <p:nvPr/>
            </p:nvSpPr>
            <p:spPr bwMode="auto">
              <a:xfrm>
                <a:off x="8699508" y="426892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5" name="Rectangle: Rounded Corners 224">
                <a:extLst>
                  <a:ext uri="{FF2B5EF4-FFF2-40B4-BE49-F238E27FC236}">
                    <a16:creationId xmlns:a16="http://schemas.microsoft.com/office/drawing/2014/main" id="{7F66D148-30D9-5967-595B-2BA8D4A10F71}"/>
                  </a:ext>
                </a:extLst>
              </p:cNvPr>
              <p:cNvSpPr/>
              <p:nvPr/>
            </p:nvSpPr>
            <p:spPr bwMode="auto">
              <a:xfrm>
                <a:off x="735388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6" name="Rectangle: Rounded Corners 225">
                <a:extLst>
                  <a:ext uri="{FF2B5EF4-FFF2-40B4-BE49-F238E27FC236}">
                    <a16:creationId xmlns:a16="http://schemas.microsoft.com/office/drawing/2014/main" id="{3B221B6C-15B3-374A-0311-DC1DBCF00948}"/>
                  </a:ext>
                </a:extLst>
              </p:cNvPr>
              <p:cNvSpPr/>
              <p:nvPr/>
            </p:nvSpPr>
            <p:spPr bwMode="auto">
              <a:xfrm>
                <a:off x="752284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7" name="Rectangle: Rounded Corners 226">
                <a:extLst>
                  <a:ext uri="{FF2B5EF4-FFF2-40B4-BE49-F238E27FC236}">
                    <a16:creationId xmlns:a16="http://schemas.microsoft.com/office/drawing/2014/main" id="{C5FC6FD6-654A-2D04-9CF6-760B99509294}"/>
                  </a:ext>
                </a:extLst>
              </p:cNvPr>
              <p:cNvSpPr/>
              <p:nvPr/>
            </p:nvSpPr>
            <p:spPr bwMode="auto">
              <a:xfrm>
                <a:off x="769180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8" name="Rectangle: Rounded Corners 227">
                <a:extLst>
                  <a:ext uri="{FF2B5EF4-FFF2-40B4-BE49-F238E27FC236}">
                    <a16:creationId xmlns:a16="http://schemas.microsoft.com/office/drawing/2014/main" id="{C271BABC-73A9-485A-2AE9-074658768B6A}"/>
                  </a:ext>
                </a:extLst>
              </p:cNvPr>
              <p:cNvSpPr/>
              <p:nvPr/>
            </p:nvSpPr>
            <p:spPr bwMode="auto">
              <a:xfrm>
                <a:off x="786076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29" name="Rectangle: Rounded Corners 228">
                <a:extLst>
                  <a:ext uri="{FF2B5EF4-FFF2-40B4-BE49-F238E27FC236}">
                    <a16:creationId xmlns:a16="http://schemas.microsoft.com/office/drawing/2014/main" id="{5F1803A4-3597-F33A-B918-00E8EE9A286E}"/>
                  </a:ext>
                </a:extLst>
              </p:cNvPr>
              <p:cNvSpPr/>
              <p:nvPr/>
            </p:nvSpPr>
            <p:spPr bwMode="auto">
              <a:xfrm>
                <a:off x="802972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0" name="Rectangle: Rounded Corners 229">
                <a:extLst>
                  <a:ext uri="{FF2B5EF4-FFF2-40B4-BE49-F238E27FC236}">
                    <a16:creationId xmlns:a16="http://schemas.microsoft.com/office/drawing/2014/main" id="{15C432C9-4064-DDBE-E7BB-E370C460CC7C}"/>
                  </a:ext>
                </a:extLst>
              </p:cNvPr>
              <p:cNvSpPr/>
              <p:nvPr/>
            </p:nvSpPr>
            <p:spPr bwMode="auto">
              <a:xfrm>
                <a:off x="819868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1" name="Rectangle: Rounded Corners 230">
                <a:extLst>
                  <a:ext uri="{FF2B5EF4-FFF2-40B4-BE49-F238E27FC236}">
                    <a16:creationId xmlns:a16="http://schemas.microsoft.com/office/drawing/2014/main" id="{92F099A0-369F-6F1A-13CA-3CA1F69E5EC4}"/>
                  </a:ext>
                </a:extLst>
              </p:cNvPr>
              <p:cNvSpPr/>
              <p:nvPr/>
            </p:nvSpPr>
            <p:spPr bwMode="auto">
              <a:xfrm>
                <a:off x="836764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2" name="Rectangle: Rounded Corners 231">
                <a:extLst>
                  <a:ext uri="{FF2B5EF4-FFF2-40B4-BE49-F238E27FC236}">
                    <a16:creationId xmlns:a16="http://schemas.microsoft.com/office/drawing/2014/main" id="{92D7F217-8FAD-FF04-6EE5-ADB7F12B45D7}"/>
                  </a:ext>
                </a:extLst>
              </p:cNvPr>
              <p:cNvSpPr/>
              <p:nvPr/>
            </p:nvSpPr>
            <p:spPr bwMode="auto">
              <a:xfrm>
                <a:off x="853660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4" name="Rectangle: Rounded Corners 233">
                <a:extLst>
                  <a:ext uri="{FF2B5EF4-FFF2-40B4-BE49-F238E27FC236}">
                    <a16:creationId xmlns:a16="http://schemas.microsoft.com/office/drawing/2014/main" id="{BCF4762B-39E3-32BE-C65C-3B38C1E89107}"/>
                  </a:ext>
                </a:extLst>
              </p:cNvPr>
              <p:cNvSpPr/>
              <p:nvPr/>
            </p:nvSpPr>
            <p:spPr bwMode="auto">
              <a:xfrm>
                <a:off x="734782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5" name="Rectangle: Rounded Corners 234">
                <a:extLst>
                  <a:ext uri="{FF2B5EF4-FFF2-40B4-BE49-F238E27FC236}">
                    <a16:creationId xmlns:a16="http://schemas.microsoft.com/office/drawing/2014/main" id="{AA104431-0E5D-DCAA-504C-8CF340FA288E}"/>
                  </a:ext>
                </a:extLst>
              </p:cNvPr>
              <p:cNvSpPr/>
              <p:nvPr/>
            </p:nvSpPr>
            <p:spPr bwMode="auto">
              <a:xfrm>
                <a:off x="751678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6" name="Rectangle: Rounded Corners 235">
                <a:extLst>
                  <a:ext uri="{FF2B5EF4-FFF2-40B4-BE49-F238E27FC236}">
                    <a16:creationId xmlns:a16="http://schemas.microsoft.com/office/drawing/2014/main" id="{4D7392BA-78DC-CC87-3EA6-306EBA042ACF}"/>
                  </a:ext>
                </a:extLst>
              </p:cNvPr>
              <p:cNvSpPr/>
              <p:nvPr/>
            </p:nvSpPr>
            <p:spPr bwMode="auto">
              <a:xfrm>
                <a:off x="768574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7" name="Rectangle: Rounded Corners 236">
                <a:extLst>
                  <a:ext uri="{FF2B5EF4-FFF2-40B4-BE49-F238E27FC236}">
                    <a16:creationId xmlns:a16="http://schemas.microsoft.com/office/drawing/2014/main" id="{C924AA57-4324-D3A5-99DE-33207AF27875}"/>
                  </a:ext>
                </a:extLst>
              </p:cNvPr>
              <p:cNvSpPr/>
              <p:nvPr/>
            </p:nvSpPr>
            <p:spPr bwMode="auto">
              <a:xfrm>
                <a:off x="785470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8" name="Rectangle: Rounded Corners 237">
                <a:extLst>
                  <a:ext uri="{FF2B5EF4-FFF2-40B4-BE49-F238E27FC236}">
                    <a16:creationId xmlns:a16="http://schemas.microsoft.com/office/drawing/2014/main" id="{81238395-D2A7-06D5-FB37-16677787CE78}"/>
                  </a:ext>
                </a:extLst>
              </p:cNvPr>
              <p:cNvSpPr/>
              <p:nvPr/>
            </p:nvSpPr>
            <p:spPr bwMode="auto">
              <a:xfrm>
                <a:off x="802366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39" name="Rectangle: Rounded Corners 238">
                <a:extLst>
                  <a:ext uri="{FF2B5EF4-FFF2-40B4-BE49-F238E27FC236}">
                    <a16:creationId xmlns:a16="http://schemas.microsoft.com/office/drawing/2014/main" id="{F9C87B2C-1C9D-F157-3101-1ACB4A65174E}"/>
                  </a:ext>
                </a:extLst>
              </p:cNvPr>
              <p:cNvSpPr/>
              <p:nvPr/>
            </p:nvSpPr>
            <p:spPr bwMode="auto">
              <a:xfrm>
                <a:off x="819262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0" name="Rectangle: Rounded Corners 239">
                <a:extLst>
                  <a:ext uri="{FF2B5EF4-FFF2-40B4-BE49-F238E27FC236}">
                    <a16:creationId xmlns:a16="http://schemas.microsoft.com/office/drawing/2014/main" id="{A7137912-79D5-D4B9-EF03-86344AE3D0D5}"/>
                  </a:ext>
                </a:extLst>
              </p:cNvPr>
              <p:cNvSpPr/>
              <p:nvPr/>
            </p:nvSpPr>
            <p:spPr bwMode="auto">
              <a:xfrm>
                <a:off x="836158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1" name="Rectangle: Rounded Corners 240">
                <a:extLst>
                  <a:ext uri="{FF2B5EF4-FFF2-40B4-BE49-F238E27FC236}">
                    <a16:creationId xmlns:a16="http://schemas.microsoft.com/office/drawing/2014/main" id="{281C404B-41D3-9514-3E17-8C724055984A}"/>
                  </a:ext>
                </a:extLst>
              </p:cNvPr>
              <p:cNvSpPr/>
              <p:nvPr/>
            </p:nvSpPr>
            <p:spPr bwMode="auto">
              <a:xfrm>
                <a:off x="853054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2" name="Rectangle: Rounded Corners 241">
                <a:extLst>
                  <a:ext uri="{FF2B5EF4-FFF2-40B4-BE49-F238E27FC236}">
                    <a16:creationId xmlns:a16="http://schemas.microsoft.com/office/drawing/2014/main" id="{4929FEB0-5A56-05D3-A5A2-881C8A4313AD}"/>
                  </a:ext>
                </a:extLst>
              </p:cNvPr>
              <p:cNvSpPr/>
              <p:nvPr/>
            </p:nvSpPr>
            <p:spPr bwMode="auto">
              <a:xfrm>
                <a:off x="8699508"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6" name="Rectangle: Rounded Corners 245">
                <a:extLst>
                  <a:ext uri="{FF2B5EF4-FFF2-40B4-BE49-F238E27FC236}">
                    <a16:creationId xmlns:a16="http://schemas.microsoft.com/office/drawing/2014/main" id="{870BA878-A4D2-4D01-89EB-DFFA7646709F}"/>
                  </a:ext>
                </a:extLst>
              </p:cNvPr>
              <p:cNvSpPr/>
              <p:nvPr/>
            </p:nvSpPr>
            <p:spPr bwMode="auto">
              <a:xfrm>
                <a:off x="736882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7" name="Rectangle: Rounded Corners 246">
                <a:extLst>
                  <a:ext uri="{FF2B5EF4-FFF2-40B4-BE49-F238E27FC236}">
                    <a16:creationId xmlns:a16="http://schemas.microsoft.com/office/drawing/2014/main" id="{0F4FEF39-0590-0BE6-67A5-4C9A7A07E819}"/>
                  </a:ext>
                </a:extLst>
              </p:cNvPr>
              <p:cNvSpPr/>
              <p:nvPr/>
            </p:nvSpPr>
            <p:spPr bwMode="auto">
              <a:xfrm>
                <a:off x="753778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248" name="Rectangle: Rounded Corners 247">
                <a:extLst>
                  <a:ext uri="{FF2B5EF4-FFF2-40B4-BE49-F238E27FC236}">
                    <a16:creationId xmlns:a16="http://schemas.microsoft.com/office/drawing/2014/main" id="{937ECF8C-7D1B-1200-D120-E3EA6D6961ED}"/>
                  </a:ext>
                </a:extLst>
              </p:cNvPr>
              <p:cNvSpPr/>
              <p:nvPr/>
            </p:nvSpPr>
            <p:spPr bwMode="auto">
              <a:xfrm>
                <a:off x="770674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grpSp>
        <p:cxnSp>
          <p:nvCxnSpPr>
            <p:cNvPr id="255" name="Straight Connector 254">
              <a:extLst>
                <a:ext uri="{FF2B5EF4-FFF2-40B4-BE49-F238E27FC236}">
                  <a16:creationId xmlns:a16="http://schemas.microsoft.com/office/drawing/2014/main" id="{6A668BFD-FD68-74F2-3B8D-5157A6C348F6}"/>
                </a:ext>
              </a:extLst>
            </p:cNvPr>
            <p:cNvCxnSpPr>
              <a:cxnSpLocks/>
            </p:cNvCxnSpPr>
            <p:nvPr/>
          </p:nvCxnSpPr>
          <p:spPr>
            <a:xfrm rot="5400000" flipV="1">
              <a:off x="7673687" y="477853"/>
              <a:ext cx="0" cy="2430631"/>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6E8F029C-4A40-9B0F-619C-8E75416D5D5B}"/>
                </a:ext>
              </a:extLst>
            </p:cNvPr>
            <p:cNvSpPr/>
            <p:nvPr/>
          </p:nvSpPr>
          <p:spPr bwMode="auto">
            <a:xfrm>
              <a:off x="6631181" y="530368"/>
              <a:ext cx="2972595"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Spark Executors</a:t>
              </a:r>
              <a:br>
                <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Performs tasks as fast as possible</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60" name="Picture 4" descr="Apache, spark, logo Icon in Vector Logo">
              <a:extLst>
                <a:ext uri="{FF2B5EF4-FFF2-40B4-BE49-F238E27FC236}">
                  <a16:creationId xmlns:a16="http://schemas.microsoft.com/office/drawing/2014/main" id="{F94D98E2-F733-9E06-BBE4-8B4011987C6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00414" y="677624"/>
              <a:ext cx="272246" cy="272246"/>
            </a:xfrm>
            <a:prstGeom prst="rect">
              <a:avLst/>
            </a:prstGeom>
            <a:noFill/>
            <a:extLst>
              <a:ext uri="{909E8E84-426E-40DD-AFC4-6F175D3DCCD1}">
                <a14:hiddenFill xmlns:a14="http://schemas.microsoft.com/office/drawing/2010/main">
                  <a:solidFill>
                    <a:srgbClr val="FFFFFF"/>
                  </a:solidFill>
                </a14:hiddenFill>
              </a:ext>
            </a:extLst>
          </p:spPr>
        </p:pic>
        <p:cxnSp>
          <p:nvCxnSpPr>
            <p:cNvPr id="61" name="Straight Connector 60">
              <a:extLst>
                <a:ext uri="{FF2B5EF4-FFF2-40B4-BE49-F238E27FC236}">
                  <a16:creationId xmlns:a16="http://schemas.microsoft.com/office/drawing/2014/main" id="{ABF2ED92-EE63-B1A2-6E9C-5457E631C46A}"/>
                </a:ext>
              </a:extLst>
            </p:cNvPr>
            <p:cNvCxnSpPr>
              <a:cxnSpLocks/>
            </p:cNvCxnSpPr>
            <p:nvPr/>
          </p:nvCxnSpPr>
          <p:spPr>
            <a:xfrm rot="5400000" flipV="1">
              <a:off x="7652809" y="989669"/>
              <a:ext cx="0" cy="2430631"/>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29C1901-0B93-5331-CCFD-D8EB3598F020}"/>
                </a:ext>
              </a:extLst>
            </p:cNvPr>
            <p:cNvCxnSpPr>
              <a:cxnSpLocks/>
            </p:cNvCxnSpPr>
            <p:nvPr/>
          </p:nvCxnSpPr>
          <p:spPr>
            <a:xfrm rot="5400000" flipV="1">
              <a:off x="7689982" y="1481192"/>
              <a:ext cx="0" cy="2430631"/>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43A60E2-0B41-8089-A7C6-760CBB4C4301}"/>
                </a:ext>
              </a:extLst>
            </p:cNvPr>
            <p:cNvCxnSpPr>
              <a:cxnSpLocks/>
            </p:cNvCxnSpPr>
            <p:nvPr/>
          </p:nvCxnSpPr>
          <p:spPr>
            <a:xfrm>
              <a:off x="6836230" y="2798951"/>
              <a:ext cx="665798" cy="698629"/>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66" name="Straight Arrow Connector 65">
              <a:extLst>
                <a:ext uri="{FF2B5EF4-FFF2-40B4-BE49-F238E27FC236}">
                  <a16:creationId xmlns:a16="http://schemas.microsoft.com/office/drawing/2014/main" id="{700EB539-42DF-8107-DB47-EF4C82C21693}"/>
                </a:ext>
              </a:extLst>
            </p:cNvPr>
            <p:cNvCxnSpPr>
              <a:cxnSpLocks/>
            </p:cNvCxnSpPr>
            <p:nvPr/>
          </p:nvCxnSpPr>
          <p:spPr>
            <a:xfrm flipH="1">
              <a:off x="6830443" y="2760108"/>
              <a:ext cx="586430" cy="7374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69" name="Straight Arrow Connector 68">
              <a:extLst>
                <a:ext uri="{FF2B5EF4-FFF2-40B4-BE49-F238E27FC236}">
                  <a16:creationId xmlns:a16="http://schemas.microsoft.com/office/drawing/2014/main" id="{F0AB2271-A604-3FB3-BC7D-FD47F8FFCE97}"/>
                </a:ext>
              </a:extLst>
            </p:cNvPr>
            <p:cNvCxnSpPr>
              <a:cxnSpLocks/>
            </p:cNvCxnSpPr>
            <p:nvPr/>
          </p:nvCxnSpPr>
          <p:spPr>
            <a:xfrm flipH="1">
              <a:off x="6824656" y="2770305"/>
              <a:ext cx="1120819" cy="741767"/>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72" name="Straight Arrow Connector 71">
              <a:extLst>
                <a:ext uri="{FF2B5EF4-FFF2-40B4-BE49-F238E27FC236}">
                  <a16:creationId xmlns:a16="http://schemas.microsoft.com/office/drawing/2014/main" id="{C32493E1-67ED-D155-7C48-352E8D36CA49}"/>
                </a:ext>
              </a:extLst>
            </p:cNvPr>
            <p:cNvCxnSpPr>
              <a:cxnSpLocks/>
            </p:cNvCxnSpPr>
            <p:nvPr/>
          </p:nvCxnSpPr>
          <p:spPr>
            <a:xfrm>
              <a:off x="8493063" y="2767265"/>
              <a:ext cx="0" cy="751563"/>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79" name="Straight Arrow Connector 78">
              <a:extLst>
                <a:ext uri="{FF2B5EF4-FFF2-40B4-BE49-F238E27FC236}">
                  <a16:creationId xmlns:a16="http://schemas.microsoft.com/office/drawing/2014/main" id="{A9BAAE60-E331-2D32-94D5-EFF7D26DE7E4}"/>
                </a:ext>
              </a:extLst>
            </p:cNvPr>
            <p:cNvCxnSpPr>
              <a:cxnSpLocks/>
            </p:cNvCxnSpPr>
            <p:nvPr/>
          </p:nvCxnSpPr>
          <p:spPr>
            <a:xfrm>
              <a:off x="7942544" y="2791553"/>
              <a:ext cx="557399" cy="74509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82" name="Straight Arrow Connector 81">
              <a:extLst>
                <a:ext uri="{FF2B5EF4-FFF2-40B4-BE49-F238E27FC236}">
                  <a16:creationId xmlns:a16="http://schemas.microsoft.com/office/drawing/2014/main" id="{4C32065E-F927-B608-6A37-527FCA2133F4}"/>
                </a:ext>
              </a:extLst>
            </p:cNvPr>
            <p:cNvCxnSpPr>
              <a:cxnSpLocks/>
            </p:cNvCxnSpPr>
            <p:nvPr/>
          </p:nvCxnSpPr>
          <p:spPr>
            <a:xfrm flipH="1">
              <a:off x="7845906" y="2767265"/>
              <a:ext cx="647157" cy="730315"/>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85" name="Straight Arrow Connector 84">
              <a:extLst>
                <a:ext uri="{FF2B5EF4-FFF2-40B4-BE49-F238E27FC236}">
                  <a16:creationId xmlns:a16="http://schemas.microsoft.com/office/drawing/2014/main" id="{B8FFC322-C7E9-FA46-0DC2-DB598A299E8B}"/>
                </a:ext>
              </a:extLst>
            </p:cNvPr>
            <p:cNvCxnSpPr>
              <a:cxnSpLocks/>
              <a:stCxn id="214" idx="3"/>
            </p:cNvCxnSpPr>
            <p:nvPr/>
          </p:nvCxnSpPr>
          <p:spPr>
            <a:xfrm>
              <a:off x="7390698" y="2757654"/>
              <a:ext cx="515274" cy="730134"/>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grpSp>
          <p:nvGrpSpPr>
            <p:cNvPr id="88" name="Group 87">
              <a:extLst>
                <a:ext uri="{FF2B5EF4-FFF2-40B4-BE49-F238E27FC236}">
                  <a16:creationId xmlns:a16="http://schemas.microsoft.com/office/drawing/2014/main" id="{624A1D54-4F4C-A1FF-6AB6-9E130DB591E4}"/>
                </a:ext>
              </a:extLst>
            </p:cNvPr>
            <p:cNvGrpSpPr/>
            <p:nvPr/>
          </p:nvGrpSpPr>
          <p:grpSpPr>
            <a:xfrm rot="5400000">
              <a:off x="6909514" y="3175684"/>
              <a:ext cx="1559300" cy="2236627"/>
              <a:chOff x="7158055" y="4062000"/>
              <a:chExt cx="1559300" cy="2236627"/>
            </a:xfrm>
          </p:grpSpPr>
          <p:sp>
            <p:nvSpPr>
              <p:cNvPr id="89" name="Rectangle: Rounded Corners 88">
                <a:extLst>
                  <a:ext uri="{FF2B5EF4-FFF2-40B4-BE49-F238E27FC236}">
                    <a16:creationId xmlns:a16="http://schemas.microsoft.com/office/drawing/2014/main" id="{C48F9FDF-7824-65F7-4E61-355D22C45A03}"/>
                  </a:ext>
                </a:extLst>
              </p:cNvPr>
              <p:cNvSpPr/>
              <p:nvPr/>
            </p:nvSpPr>
            <p:spPr bwMode="auto">
              <a:xfrm>
                <a:off x="7158055" y="4062000"/>
                <a:ext cx="1559300" cy="2236627"/>
              </a:xfrm>
              <a:prstGeom prst="roundRect">
                <a:avLst>
                  <a:gd name="adj" fmla="val 1284"/>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90" name="Rectangle: Rounded Corners 89">
                <a:extLst>
                  <a:ext uri="{FF2B5EF4-FFF2-40B4-BE49-F238E27FC236}">
                    <a16:creationId xmlns:a16="http://schemas.microsoft.com/office/drawing/2014/main" id="{08D329FB-E147-15E1-1AFA-ADA2F6C89A0B}"/>
                  </a:ext>
                </a:extLst>
              </p:cNvPr>
              <p:cNvSpPr/>
              <p:nvPr/>
            </p:nvSpPr>
            <p:spPr bwMode="auto">
              <a:xfrm>
                <a:off x="7273652" y="4191758"/>
                <a:ext cx="1329406"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91" name="Rectangle: Rounded Corners 90">
                <a:extLst>
                  <a:ext uri="{FF2B5EF4-FFF2-40B4-BE49-F238E27FC236}">
                    <a16:creationId xmlns:a16="http://schemas.microsoft.com/office/drawing/2014/main" id="{7F9D6008-B7DA-2845-D6BF-65BFCC341FE5}"/>
                  </a:ext>
                </a:extLst>
              </p:cNvPr>
              <p:cNvSpPr/>
              <p:nvPr/>
            </p:nvSpPr>
            <p:spPr bwMode="auto">
              <a:xfrm>
                <a:off x="7273652" y="4748752"/>
                <a:ext cx="1329406"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92" name="Rectangle: Rounded Corners 91">
                <a:extLst>
                  <a:ext uri="{FF2B5EF4-FFF2-40B4-BE49-F238E27FC236}">
                    <a16:creationId xmlns:a16="http://schemas.microsoft.com/office/drawing/2014/main" id="{5A92219B-7A60-7622-EF56-0C6B1858B0E9}"/>
                  </a:ext>
                </a:extLst>
              </p:cNvPr>
              <p:cNvSpPr/>
              <p:nvPr/>
            </p:nvSpPr>
            <p:spPr bwMode="auto">
              <a:xfrm>
                <a:off x="7273652" y="5281603"/>
                <a:ext cx="1329402"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93" name="Rectangle: Rounded Corners 92">
                <a:extLst>
                  <a:ext uri="{FF2B5EF4-FFF2-40B4-BE49-F238E27FC236}">
                    <a16:creationId xmlns:a16="http://schemas.microsoft.com/office/drawing/2014/main" id="{A3437257-4D7A-80AB-EB5C-138D5C02933A}"/>
                  </a:ext>
                </a:extLst>
              </p:cNvPr>
              <p:cNvSpPr/>
              <p:nvPr/>
            </p:nvSpPr>
            <p:spPr bwMode="auto">
              <a:xfrm>
                <a:off x="7273652" y="5800375"/>
                <a:ext cx="1329406" cy="364506"/>
              </a:xfrm>
              <a:prstGeom prst="roundRect">
                <a:avLst/>
              </a:prstGeom>
              <a:solidFill>
                <a:schemeClr val="bg1">
                  <a:lumMod val="95000"/>
                </a:schemeClr>
              </a:solidFill>
              <a:ln>
                <a:solidFill>
                  <a:schemeClr val="tx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108" name="Rectangle: Rounded Corners 107">
                <a:extLst>
                  <a:ext uri="{FF2B5EF4-FFF2-40B4-BE49-F238E27FC236}">
                    <a16:creationId xmlns:a16="http://schemas.microsoft.com/office/drawing/2014/main" id="{418C01A9-4341-FC41-9F57-F165637546DA}"/>
                  </a:ext>
                </a:extLst>
              </p:cNvPr>
              <p:cNvSpPr/>
              <p:nvPr/>
            </p:nvSpPr>
            <p:spPr bwMode="auto">
              <a:xfrm>
                <a:off x="735388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116" name="Rectangle: Rounded Corners 115">
                <a:extLst>
                  <a:ext uri="{FF2B5EF4-FFF2-40B4-BE49-F238E27FC236}">
                    <a16:creationId xmlns:a16="http://schemas.microsoft.com/office/drawing/2014/main" id="{CA6BB9E9-CD9C-B2D4-772D-C09654B60F2A}"/>
                  </a:ext>
                </a:extLst>
              </p:cNvPr>
              <p:cNvSpPr/>
              <p:nvPr/>
            </p:nvSpPr>
            <p:spPr bwMode="auto">
              <a:xfrm>
                <a:off x="752284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119" name="Rectangle: Rounded Corners 118">
                <a:extLst>
                  <a:ext uri="{FF2B5EF4-FFF2-40B4-BE49-F238E27FC236}">
                    <a16:creationId xmlns:a16="http://schemas.microsoft.com/office/drawing/2014/main" id="{3B0554B2-285A-C9E6-3A05-6489C32154D6}"/>
                  </a:ext>
                </a:extLst>
              </p:cNvPr>
              <p:cNvSpPr/>
              <p:nvPr/>
            </p:nvSpPr>
            <p:spPr bwMode="auto">
              <a:xfrm>
                <a:off x="7691809" y="5350681"/>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76" name="Rectangle: Rounded Corners 575">
                <a:extLst>
                  <a:ext uri="{FF2B5EF4-FFF2-40B4-BE49-F238E27FC236}">
                    <a16:creationId xmlns:a16="http://schemas.microsoft.com/office/drawing/2014/main" id="{609D16FB-7DB8-5FD7-9A3C-81B731021153}"/>
                  </a:ext>
                </a:extLst>
              </p:cNvPr>
              <p:cNvSpPr/>
              <p:nvPr/>
            </p:nvSpPr>
            <p:spPr bwMode="auto">
              <a:xfrm>
                <a:off x="734782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77" name="Rectangle: Rounded Corners 576">
                <a:extLst>
                  <a:ext uri="{FF2B5EF4-FFF2-40B4-BE49-F238E27FC236}">
                    <a16:creationId xmlns:a16="http://schemas.microsoft.com/office/drawing/2014/main" id="{962D3074-57ED-8F93-8592-E632CC51EF02}"/>
                  </a:ext>
                </a:extLst>
              </p:cNvPr>
              <p:cNvSpPr/>
              <p:nvPr/>
            </p:nvSpPr>
            <p:spPr bwMode="auto">
              <a:xfrm>
                <a:off x="751678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78" name="Rectangle: Rounded Corners 577">
                <a:extLst>
                  <a:ext uri="{FF2B5EF4-FFF2-40B4-BE49-F238E27FC236}">
                    <a16:creationId xmlns:a16="http://schemas.microsoft.com/office/drawing/2014/main" id="{11D07877-20BC-1711-240D-DA4D7C06CA2E}"/>
                  </a:ext>
                </a:extLst>
              </p:cNvPr>
              <p:cNvSpPr/>
              <p:nvPr/>
            </p:nvSpPr>
            <p:spPr bwMode="auto">
              <a:xfrm>
                <a:off x="7685746" y="4823489"/>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85" name="Rectangle: Rounded Corners 584">
                <a:extLst>
                  <a:ext uri="{FF2B5EF4-FFF2-40B4-BE49-F238E27FC236}">
                    <a16:creationId xmlns:a16="http://schemas.microsoft.com/office/drawing/2014/main" id="{CE33A47A-5E0A-42DC-59A1-A612FCE2FD59}"/>
                  </a:ext>
                </a:extLst>
              </p:cNvPr>
              <p:cNvSpPr/>
              <p:nvPr/>
            </p:nvSpPr>
            <p:spPr bwMode="auto">
              <a:xfrm>
                <a:off x="736882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86" name="Rectangle: Rounded Corners 585">
                <a:extLst>
                  <a:ext uri="{FF2B5EF4-FFF2-40B4-BE49-F238E27FC236}">
                    <a16:creationId xmlns:a16="http://schemas.microsoft.com/office/drawing/2014/main" id="{782D65AF-5603-B896-FA4E-C605F720385C}"/>
                  </a:ext>
                </a:extLst>
              </p:cNvPr>
              <p:cNvSpPr/>
              <p:nvPr/>
            </p:nvSpPr>
            <p:spPr bwMode="auto">
              <a:xfrm>
                <a:off x="753778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sp>
            <p:nvSpPr>
              <p:cNvPr id="588" name="Rectangle: Rounded Corners 587">
                <a:extLst>
                  <a:ext uri="{FF2B5EF4-FFF2-40B4-BE49-F238E27FC236}">
                    <a16:creationId xmlns:a16="http://schemas.microsoft.com/office/drawing/2014/main" id="{F0615030-E551-87C7-69FD-03B12A60175E}"/>
                  </a:ext>
                </a:extLst>
              </p:cNvPr>
              <p:cNvSpPr/>
              <p:nvPr/>
            </p:nvSpPr>
            <p:spPr bwMode="auto">
              <a:xfrm>
                <a:off x="7706748" y="5864237"/>
                <a:ext cx="120145" cy="232700"/>
              </a:xfrm>
              <a:prstGeom prst="roundRect">
                <a:avLst/>
              </a:prstGeom>
              <a:solidFill>
                <a:srgbClr val="38D37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solidFill>
                    <a:srgbClr val="FFFFFF"/>
                  </a:solidFill>
                  <a:ea typeface="Segoe UI" pitchFamily="34" charset="0"/>
                  <a:cs typeface="Segoe UI" pitchFamily="34" charset="0"/>
                </a:endParaRPr>
              </a:p>
            </p:txBody>
          </p:sp>
        </p:grpSp>
        <p:sp>
          <p:nvSpPr>
            <p:cNvPr id="591" name="Rectangle 590">
              <a:extLst>
                <a:ext uri="{FF2B5EF4-FFF2-40B4-BE49-F238E27FC236}">
                  <a16:creationId xmlns:a16="http://schemas.microsoft.com/office/drawing/2014/main" id="{FEFE49AC-8004-F362-5F8F-685C381EE6AE}"/>
                </a:ext>
              </a:extLst>
            </p:cNvPr>
            <p:cNvSpPr/>
            <p:nvPr/>
          </p:nvSpPr>
          <p:spPr bwMode="auto">
            <a:xfrm>
              <a:off x="8940459" y="2859889"/>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Shuffled by machine_name</a:t>
              </a:r>
              <a:b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So all data for a given unique identifier ends up on the same computer in a microbatch</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596" name="Rectangle: Rounded Corners 595">
              <a:extLst>
                <a:ext uri="{FF2B5EF4-FFF2-40B4-BE49-F238E27FC236}">
                  <a16:creationId xmlns:a16="http://schemas.microsoft.com/office/drawing/2014/main" id="{7389F3BA-45BB-627C-6496-A958CC4EA168}"/>
                </a:ext>
              </a:extLst>
            </p:cNvPr>
            <p:cNvSpPr/>
            <p:nvPr/>
          </p:nvSpPr>
          <p:spPr bwMode="auto">
            <a:xfrm>
              <a:off x="9084934" y="5055947"/>
              <a:ext cx="1780477" cy="521815"/>
            </a:xfrm>
            <a:prstGeom prst="roundRect">
              <a:avLst>
                <a:gd name="adj" fmla="val 8292"/>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597" name="Rectangle 596">
              <a:extLst>
                <a:ext uri="{FF2B5EF4-FFF2-40B4-BE49-F238E27FC236}">
                  <a16:creationId xmlns:a16="http://schemas.microsoft.com/office/drawing/2014/main" id="{20ED5388-17FC-5D2F-44B4-7CD04E82CC23}"/>
                </a:ext>
              </a:extLst>
            </p:cNvPr>
            <p:cNvSpPr/>
            <p:nvPr/>
          </p:nvSpPr>
          <p:spPr bwMode="auto">
            <a:xfrm>
              <a:off x="9242505" y="4960833"/>
              <a:ext cx="2040675" cy="5446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6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RocksDB </a:t>
              </a:r>
              <a:r>
                <a:rPr kumimoji="0" lang="en-US" sz="6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(Built-in State Store)</a:t>
              </a:r>
            </a:p>
          </p:txBody>
        </p:sp>
        <p:pic>
          <p:nvPicPr>
            <p:cNvPr id="598" name="Picture 597" descr="A yellow cheetah on a blue background&#10;&#10;Description automatically generated">
              <a:extLst>
                <a:ext uri="{FF2B5EF4-FFF2-40B4-BE49-F238E27FC236}">
                  <a16:creationId xmlns:a16="http://schemas.microsoft.com/office/drawing/2014/main" id="{BB6F999E-B3CD-4A8C-2ED5-7A5F0FEC95B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87134" y="5141601"/>
              <a:ext cx="176874" cy="177568"/>
            </a:xfrm>
            <a:prstGeom prst="rect">
              <a:avLst/>
            </a:prstGeom>
          </p:spPr>
        </p:pic>
        <p:sp>
          <p:nvSpPr>
            <p:cNvPr id="599" name="Rectangle 598">
              <a:extLst>
                <a:ext uri="{FF2B5EF4-FFF2-40B4-BE49-F238E27FC236}">
                  <a16:creationId xmlns:a16="http://schemas.microsoft.com/office/drawing/2014/main" id="{C144940D-0914-1C46-6D80-34AD9166EBC6}"/>
                </a:ext>
              </a:extLst>
            </p:cNvPr>
            <p:cNvSpPr/>
            <p:nvPr/>
          </p:nvSpPr>
          <p:spPr bwMode="auto">
            <a:xfrm>
              <a:off x="9406703" y="5225613"/>
              <a:ext cx="1226973" cy="40407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600" b="0"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OneLake</a:t>
              </a:r>
              <a:endParaRPr kumimoji="0" lang="en-US" sz="800" b="1" i="0" u="none" strike="noStrike" kern="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600" name="Picture 599" descr="How Azure OneLake will revolutionize the way we manage and ...">
              <a:extLst>
                <a:ext uri="{FF2B5EF4-FFF2-40B4-BE49-F238E27FC236}">
                  <a16:creationId xmlns:a16="http://schemas.microsoft.com/office/drawing/2014/main" id="{C897D2DE-2414-9D08-EB63-CBA36F244757}"/>
                </a:ext>
              </a:extLst>
            </p:cNvPr>
            <p:cNvPicPr>
              <a:picLocks noChangeAspect="1"/>
            </p:cNvPicPr>
            <p:nvPr/>
          </p:nvPicPr>
          <p:blipFill>
            <a:blip r:embed="rId11"/>
            <a:srcRect b="16396"/>
            <a:stretch>
              <a:fillRect/>
            </a:stretch>
          </p:blipFill>
          <p:spPr>
            <a:xfrm>
              <a:off x="9741999" y="5383685"/>
              <a:ext cx="95370" cy="99667"/>
            </a:xfrm>
            <a:prstGeom prst="rect">
              <a:avLst/>
            </a:prstGeom>
          </p:spPr>
        </p:pic>
        <p:pic>
          <p:nvPicPr>
            <p:cNvPr id="601" name="Picture 600" descr="A yellow cheetah on a blue background&#10;&#10;Description automatically generated">
              <a:extLst>
                <a:ext uri="{FF2B5EF4-FFF2-40B4-BE49-F238E27FC236}">
                  <a16:creationId xmlns:a16="http://schemas.microsoft.com/office/drawing/2014/main" id="{6FD31981-EEE0-6E8C-FDAD-A71968669C1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95285" y="4694670"/>
              <a:ext cx="176874" cy="177568"/>
            </a:xfrm>
            <a:prstGeom prst="rect">
              <a:avLst/>
            </a:prstGeom>
          </p:spPr>
        </p:pic>
        <p:pic>
          <p:nvPicPr>
            <p:cNvPr id="602" name="Picture 601" descr="A yellow cheetah on a blue background&#10;&#10;Description automatically generated">
              <a:extLst>
                <a:ext uri="{FF2B5EF4-FFF2-40B4-BE49-F238E27FC236}">
                  <a16:creationId xmlns:a16="http://schemas.microsoft.com/office/drawing/2014/main" id="{302D3EB4-FC0C-51E7-0804-C963958CEF8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03302" y="4691438"/>
              <a:ext cx="176874" cy="177568"/>
            </a:xfrm>
            <a:prstGeom prst="rect">
              <a:avLst/>
            </a:prstGeom>
          </p:spPr>
        </p:pic>
        <p:pic>
          <p:nvPicPr>
            <p:cNvPr id="603" name="Picture 602" descr="A yellow cheetah on a blue background&#10;&#10;Description automatically generated">
              <a:extLst>
                <a:ext uri="{FF2B5EF4-FFF2-40B4-BE49-F238E27FC236}">
                  <a16:creationId xmlns:a16="http://schemas.microsoft.com/office/drawing/2014/main" id="{3CFE3EBC-F537-38B0-94BD-E9DBFB9B662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45906" y="4694670"/>
              <a:ext cx="176874" cy="177568"/>
            </a:xfrm>
            <a:prstGeom prst="rect">
              <a:avLst/>
            </a:prstGeom>
          </p:spPr>
        </p:pic>
        <p:pic>
          <p:nvPicPr>
            <p:cNvPr id="604" name="Picture 603" descr="A yellow cheetah on a blue background&#10;&#10;Description automatically generated">
              <a:extLst>
                <a:ext uri="{FF2B5EF4-FFF2-40B4-BE49-F238E27FC236}">
                  <a16:creationId xmlns:a16="http://schemas.microsoft.com/office/drawing/2014/main" id="{2F3DDA52-80BE-860E-1DBB-4365BB13A8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04626" y="4694670"/>
              <a:ext cx="176874" cy="177568"/>
            </a:xfrm>
            <a:prstGeom prst="rect">
              <a:avLst/>
            </a:prstGeom>
          </p:spPr>
        </p:pic>
        <p:cxnSp>
          <p:nvCxnSpPr>
            <p:cNvPr id="605" name="Straight Arrow Connector 604">
              <a:extLst>
                <a:ext uri="{FF2B5EF4-FFF2-40B4-BE49-F238E27FC236}">
                  <a16:creationId xmlns:a16="http://schemas.microsoft.com/office/drawing/2014/main" id="{DFC5BFB5-A132-4CCD-A1A8-BD3CD56CB20B}"/>
                </a:ext>
              </a:extLst>
            </p:cNvPr>
            <p:cNvCxnSpPr>
              <a:cxnSpLocks/>
              <a:endCxn id="601" idx="0"/>
            </p:cNvCxnSpPr>
            <p:nvPr/>
          </p:nvCxnSpPr>
          <p:spPr>
            <a:xfrm>
              <a:off x="6883722" y="4267198"/>
              <a:ext cx="0" cy="4274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622" name="Straight Arrow Connector 621">
              <a:extLst>
                <a:ext uri="{FF2B5EF4-FFF2-40B4-BE49-F238E27FC236}">
                  <a16:creationId xmlns:a16="http://schemas.microsoft.com/office/drawing/2014/main" id="{D80C89F5-C50A-3140-93E3-5FEF6F0FD90C}"/>
                </a:ext>
              </a:extLst>
            </p:cNvPr>
            <p:cNvCxnSpPr>
              <a:cxnSpLocks/>
            </p:cNvCxnSpPr>
            <p:nvPr/>
          </p:nvCxnSpPr>
          <p:spPr>
            <a:xfrm>
              <a:off x="7385065" y="4267198"/>
              <a:ext cx="0" cy="4274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623" name="Straight Arrow Connector 622">
              <a:extLst>
                <a:ext uri="{FF2B5EF4-FFF2-40B4-BE49-F238E27FC236}">
                  <a16:creationId xmlns:a16="http://schemas.microsoft.com/office/drawing/2014/main" id="{EA4F18D4-1482-8696-F14D-A86ABF297A5F}"/>
                </a:ext>
              </a:extLst>
            </p:cNvPr>
            <p:cNvCxnSpPr>
              <a:cxnSpLocks/>
            </p:cNvCxnSpPr>
            <p:nvPr/>
          </p:nvCxnSpPr>
          <p:spPr>
            <a:xfrm>
              <a:off x="7937052" y="4267198"/>
              <a:ext cx="0" cy="4274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624" name="Straight Arrow Connector 623">
              <a:extLst>
                <a:ext uri="{FF2B5EF4-FFF2-40B4-BE49-F238E27FC236}">
                  <a16:creationId xmlns:a16="http://schemas.microsoft.com/office/drawing/2014/main" id="{AB774AB7-58BC-2400-0C2C-69B586F956A6}"/>
                </a:ext>
              </a:extLst>
            </p:cNvPr>
            <p:cNvCxnSpPr>
              <a:cxnSpLocks/>
            </p:cNvCxnSpPr>
            <p:nvPr/>
          </p:nvCxnSpPr>
          <p:spPr>
            <a:xfrm>
              <a:off x="8499943" y="3816001"/>
              <a:ext cx="0" cy="878669"/>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sp>
          <p:nvSpPr>
            <p:cNvPr id="629" name="Rectangle 628">
              <a:extLst>
                <a:ext uri="{FF2B5EF4-FFF2-40B4-BE49-F238E27FC236}">
                  <a16:creationId xmlns:a16="http://schemas.microsoft.com/office/drawing/2014/main" id="{9A796AB0-F7EB-7BA4-2890-53E7552782A8}"/>
                </a:ext>
              </a:extLst>
            </p:cNvPr>
            <p:cNvSpPr/>
            <p:nvPr/>
          </p:nvSpPr>
          <p:spPr bwMode="auto">
            <a:xfrm>
              <a:off x="8922031" y="3383088"/>
              <a:ext cx="2223049" cy="95603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000" b="1" i="1"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Lack</a:t>
              </a: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 of data per key</a:t>
              </a:r>
              <a:b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Is also registered as an event. So if a given key is missing data for a given amount of time, we know when that time elapses</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135" name="Rectangle 134">
              <a:extLst>
                <a:ext uri="{FF2B5EF4-FFF2-40B4-BE49-F238E27FC236}">
                  <a16:creationId xmlns:a16="http://schemas.microsoft.com/office/drawing/2014/main" id="{2490FEEF-8438-0638-D5E2-BF8F2D19918D}"/>
                </a:ext>
              </a:extLst>
            </p:cNvPr>
            <p:cNvSpPr/>
            <p:nvPr/>
          </p:nvSpPr>
          <p:spPr bwMode="auto">
            <a:xfrm>
              <a:off x="8919855" y="4115550"/>
              <a:ext cx="2389419" cy="95603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Concurrent flush to OneLake</a:t>
              </a:r>
              <a:b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No chance of conflict as executo task durability guarantees for a given microbatch, 2 procs cannot write to the same path</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138" name="Rectangle 137">
              <a:extLst>
                <a:ext uri="{FF2B5EF4-FFF2-40B4-BE49-F238E27FC236}">
                  <a16:creationId xmlns:a16="http://schemas.microsoft.com/office/drawing/2014/main" id="{CF8854A2-3674-9366-4677-A7C48F413D4A}"/>
                </a:ext>
              </a:extLst>
            </p:cNvPr>
            <p:cNvSpPr/>
            <p:nvPr/>
          </p:nvSpPr>
          <p:spPr bwMode="auto">
            <a:xfrm>
              <a:off x="8908664" y="5641362"/>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Perform whatever business logic</a:t>
              </a:r>
              <a:b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GROUP BYs, WINDOWed JOINs, including flatMapGroupWithState or applyInPandasWithState etc.</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cxnSp>
          <p:nvCxnSpPr>
            <p:cNvPr id="142" name="Straight Arrow Connector 141">
              <a:extLst>
                <a:ext uri="{FF2B5EF4-FFF2-40B4-BE49-F238E27FC236}">
                  <a16:creationId xmlns:a16="http://schemas.microsoft.com/office/drawing/2014/main" id="{4CAFB95A-5808-B4EB-F817-375734F88F74}"/>
                </a:ext>
              </a:extLst>
            </p:cNvPr>
            <p:cNvCxnSpPr>
              <a:cxnSpLocks/>
            </p:cNvCxnSpPr>
            <p:nvPr/>
          </p:nvCxnSpPr>
          <p:spPr>
            <a:xfrm>
              <a:off x="6889609" y="5212830"/>
              <a:ext cx="0" cy="4274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143" name="Straight Arrow Connector 142">
              <a:extLst>
                <a:ext uri="{FF2B5EF4-FFF2-40B4-BE49-F238E27FC236}">
                  <a16:creationId xmlns:a16="http://schemas.microsoft.com/office/drawing/2014/main" id="{8CAAEC76-46E6-ED50-0D86-0F5B4E27CE80}"/>
                </a:ext>
              </a:extLst>
            </p:cNvPr>
            <p:cNvCxnSpPr>
              <a:cxnSpLocks/>
            </p:cNvCxnSpPr>
            <p:nvPr/>
          </p:nvCxnSpPr>
          <p:spPr>
            <a:xfrm>
              <a:off x="7390952" y="5212830"/>
              <a:ext cx="0" cy="4274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144" name="Straight Arrow Connector 143">
              <a:extLst>
                <a:ext uri="{FF2B5EF4-FFF2-40B4-BE49-F238E27FC236}">
                  <a16:creationId xmlns:a16="http://schemas.microsoft.com/office/drawing/2014/main" id="{5AE85BD9-11BB-2CD0-2577-8031D104578B}"/>
                </a:ext>
              </a:extLst>
            </p:cNvPr>
            <p:cNvCxnSpPr>
              <a:cxnSpLocks/>
            </p:cNvCxnSpPr>
            <p:nvPr/>
          </p:nvCxnSpPr>
          <p:spPr>
            <a:xfrm>
              <a:off x="7942939" y="5212830"/>
              <a:ext cx="0" cy="4274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146" name="Straight Arrow Connector 145">
              <a:extLst>
                <a:ext uri="{FF2B5EF4-FFF2-40B4-BE49-F238E27FC236}">
                  <a16:creationId xmlns:a16="http://schemas.microsoft.com/office/drawing/2014/main" id="{DFB20C56-8C25-85AC-17A3-631C9216FCCE}"/>
                </a:ext>
              </a:extLst>
            </p:cNvPr>
            <p:cNvCxnSpPr>
              <a:cxnSpLocks/>
            </p:cNvCxnSpPr>
            <p:nvPr/>
          </p:nvCxnSpPr>
          <p:spPr>
            <a:xfrm>
              <a:off x="8457289" y="5212830"/>
              <a:ext cx="0" cy="427472"/>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cxnSp>
          <p:nvCxnSpPr>
            <p:cNvPr id="147" name="Straight Arrow Connector 146">
              <a:extLst>
                <a:ext uri="{FF2B5EF4-FFF2-40B4-BE49-F238E27FC236}">
                  <a16:creationId xmlns:a16="http://schemas.microsoft.com/office/drawing/2014/main" id="{50946256-64BE-1EEF-AB5C-3CEAB62EFC0C}"/>
                </a:ext>
              </a:extLst>
            </p:cNvPr>
            <p:cNvCxnSpPr>
              <a:cxnSpLocks/>
              <a:endCxn id="598" idx="1"/>
            </p:cNvCxnSpPr>
            <p:nvPr/>
          </p:nvCxnSpPr>
          <p:spPr>
            <a:xfrm>
              <a:off x="8800257" y="5055947"/>
              <a:ext cx="386877" cy="174438"/>
            </a:xfrm>
            <a:prstGeom prst="straightConnector1">
              <a:avLst/>
            </a:prstGeom>
            <a:noFill/>
            <a:ln w="34925" cap="flat" cmpd="sng" algn="ctr">
              <a:solidFill>
                <a:srgbClr val="000000">
                  <a:lumMod val="75000"/>
                  <a:lumOff val="25000"/>
                </a:srgbClr>
              </a:solidFill>
              <a:prstDash val="solid"/>
              <a:headEnd type="none" w="sm" len="sm"/>
              <a:tailEnd type="triangle" w="med" len="med"/>
            </a:ln>
            <a:effectLst/>
          </p:spPr>
        </p:cxnSp>
        <p:sp>
          <p:nvSpPr>
            <p:cNvPr id="172" name="Rectangle: Rounded Corners 171">
              <a:extLst>
                <a:ext uri="{FF2B5EF4-FFF2-40B4-BE49-F238E27FC236}">
                  <a16:creationId xmlns:a16="http://schemas.microsoft.com/office/drawing/2014/main" id="{C32F0E5B-96E9-A0B9-930C-10F82001F5BE}"/>
                </a:ext>
              </a:extLst>
            </p:cNvPr>
            <p:cNvSpPr/>
            <p:nvPr/>
          </p:nvSpPr>
          <p:spPr bwMode="auto">
            <a:xfrm rot="5400000">
              <a:off x="7377801" y="4896835"/>
              <a:ext cx="624968" cy="2236627"/>
            </a:xfrm>
            <a:prstGeom prst="roundRect">
              <a:avLst>
                <a:gd name="adj" fmla="val 1284"/>
              </a:avLst>
            </a:prstGeom>
            <a:solidFill>
              <a:srgbClr val="FFFFFF"/>
            </a:solidFill>
            <a:ln w="3175">
              <a:solidFill>
                <a:schemeClr val="tx1">
                  <a:lumMod val="75000"/>
                </a:schemeClr>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CA" sz="20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73" name="Event Hubs" descr="Event Hubs">
              <a:extLst>
                <a:ext uri="{FF2B5EF4-FFF2-40B4-BE49-F238E27FC236}">
                  <a16:creationId xmlns:a16="http://schemas.microsoft.com/office/drawing/2014/main" id="{C8072E97-53F5-F62D-6272-20D0D648B5AE}"/>
                </a:ext>
              </a:extLst>
            </p:cNvPr>
            <p:cNvPicPr>
              <a:picLocks noChangeAspect="1"/>
            </p:cNvPicPr>
            <p:nvPr/>
          </p:nvPicPr>
          <p:blipFill>
            <a:blip r:embed="rId7"/>
            <a:stretch>
              <a:fillRect/>
            </a:stretch>
          </p:blipFill>
          <p:spPr>
            <a:xfrm>
              <a:off x="6707722" y="5901084"/>
              <a:ext cx="233868" cy="246263"/>
            </a:xfrm>
            <a:prstGeom prst="rect">
              <a:avLst/>
            </a:prstGeom>
          </p:spPr>
        </p:pic>
        <p:sp>
          <p:nvSpPr>
            <p:cNvPr id="174" name="Rectangle 173">
              <a:extLst>
                <a:ext uri="{FF2B5EF4-FFF2-40B4-BE49-F238E27FC236}">
                  <a16:creationId xmlns:a16="http://schemas.microsoft.com/office/drawing/2014/main" id="{DA6A880E-8F8F-802E-9520-7FD0C9D65ECD}"/>
                </a:ext>
              </a:extLst>
            </p:cNvPr>
            <p:cNvSpPr/>
            <p:nvPr/>
          </p:nvSpPr>
          <p:spPr bwMode="auto">
            <a:xfrm>
              <a:off x="6867568" y="5692388"/>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defTabSz="932472" fontAlgn="base">
                <a:spcBef>
                  <a:spcPct val="0"/>
                </a:spcBef>
                <a:spcAft>
                  <a:spcPct val="0"/>
                </a:spcAf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Interesting events</a:t>
              </a:r>
              <a:b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lang="en-US" sz="800">
                  <a:solidFill>
                    <a:srgbClr val="000000"/>
                  </a:solidFill>
                  <a:latin typeface="Cascadia Code" panose="020B0609020000020004" pitchFamily="49" charset="0"/>
                  <a:ea typeface="Segoe UI" pitchFamily="34" charset="0"/>
                  <a:cs typeface="Cascadia Code" panose="020B0609020000020004" pitchFamily="49" charset="0"/>
                </a:rPr>
                <a:t>In </a:t>
              </a:r>
              <a:r>
                <a:rPr lang="en-US" sz="800" b="1" u="sng">
                  <a:solidFill>
                    <a:srgbClr val="000000"/>
                  </a:solidFill>
                  <a:latin typeface="Cascadia Code" panose="020B0609020000020004" pitchFamily="49" charset="0"/>
                  <a:ea typeface="Segoe UI" pitchFamily="34" charset="0"/>
                  <a:cs typeface="Cascadia Code" panose="020B0609020000020004" pitchFamily="49" charset="0"/>
                </a:rPr>
                <a:t>&lt;1 s </a:t>
              </a:r>
              <a:r>
                <a:rPr lang="en-US" sz="800">
                  <a:solidFill>
                    <a:srgbClr val="000000"/>
                  </a:solidFill>
                  <a:latin typeface="Cascadia Code" panose="020B0609020000020004" pitchFamily="49" charset="0"/>
                  <a:ea typeface="Segoe UI" pitchFamily="34" charset="0"/>
                  <a:cs typeface="Cascadia Code" panose="020B0609020000020004" pitchFamily="49" charset="0"/>
                </a:rPr>
                <a:t>for downstream subscribers</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grpSp>
          <p:nvGrpSpPr>
            <p:cNvPr id="176" name="Group 175">
              <a:extLst>
                <a:ext uri="{FF2B5EF4-FFF2-40B4-BE49-F238E27FC236}">
                  <a16:creationId xmlns:a16="http://schemas.microsoft.com/office/drawing/2014/main" id="{226B58B9-44E0-156C-D0E3-E44F9C58E2AF}"/>
                </a:ext>
              </a:extLst>
            </p:cNvPr>
            <p:cNvGrpSpPr/>
            <p:nvPr/>
          </p:nvGrpSpPr>
          <p:grpSpPr>
            <a:xfrm>
              <a:off x="8223805" y="5883005"/>
              <a:ext cx="1379971" cy="838923"/>
              <a:chOff x="8184668" y="2235922"/>
              <a:chExt cx="1379971" cy="838923"/>
            </a:xfrm>
          </p:grpSpPr>
          <p:sp>
            <p:nvSpPr>
              <p:cNvPr id="177" name="Rectangle 176">
                <a:extLst>
                  <a:ext uri="{FF2B5EF4-FFF2-40B4-BE49-F238E27FC236}">
                    <a16:creationId xmlns:a16="http://schemas.microsoft.com/office/drawing/2014/main" id="{EA5D2765-DD7A-CC42-D32E-FBB830F0771D}"/>
                  </a:ext>
                </a:extLst>
              </p:cNvPr>
              <p:cNvSpPr/>
              <p:nvPr/>
            </p:nvSpPr>
            <p:spPr bwMode="auto">
              <a:xfrm>
                <a:off x="8184668" y="2437033"/>
                <a:ext cx="816070" cy="396112"/>
              </a:xfrm>
              <a:prstGeom prst="rect">
                <a:avLst/>
              </a:prstGeom>
              <a:gradFill>
                <a:gsLst>
                  <a:gs pos="0">
                    <a:srgbClr val="E3E3E3">
                      <a:alpha val="55000"/>
                    </a:srgbClr>
                  </a:gs>
                  <a:gs pos="100000">
                    <a:srgbClr val="E3E3E3"/>
                  </a:gs>
                </a:gsLst>
                <a:lin ang="0" scaled="0"/>
              </a:gradFill>
              <a:ln w="2540">
                <a:solidFill>
                  <a:srgbClr val="E2E2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78" name="Group 177">
                <a:extLst>
                  <a:ext uri="{FF2B5EF4-FFF2-40B4-BE49-F238E27FC236}">
                    <a16:creationId xmlns:a16="http://schemas.microsoft.com/office/drawing/2014/main" id="{12962927-54CD-EC0B-B14F-52D5C7E8D34C}"/>
                  </a:ext>
                </a:extLst>
              </p:cNvPr>
              <p:cNvGrpSpPr/>
              <p:nvPr/>
            </p:nvGrpSpPr>
            <p:grpSpPr>
              <a:xfrm>
                <a:off x="8233492" y="2235922"/>
                <a:ext cx="1331147" cy="838923"/>
                <a:chOff x="8695830" y="2684363"/>
                <a:chExt cx="1331147" cy="838923"/>
              </a:xfrm>
            </p:grpSpPr>
            <p:pic>
              <p:nvPicPr>
                <p:cNvPr id="179" name="Graphic 178">
                  <a:extLst>
                    <a:ext uri="{FF2B5EF4-FFF2-40B4-BE49-F238E27FC236}">
                      <a16:creationId xmlns:a16="http://schemas.microsoft.com/office/drawing/2014/main" id="{7DBA041A-0123-FFB3-7F93-439258D9B66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95830" y="2898640"/>
                  <a:ext cx="314813" cy="314813"/>
                </a:xfrm>
                <a:prstGeom prst="rect">
                  <a:avLst/>
                </a:prstGeom>
              </p:spPr>
            </p:pic>
            <p:sp>
              <p:nvSpPr>
                <p:cNvPr id="180" name="Rectangle 179">
                  <a:extLst>
                    <a:ext uri="{FF2B5EF4-FFF2-40B4-BE49-F238E27FC236}">
                      <a16:creationId xmlns:a16="http://schemas.microsoft.com/office/drawing/2014/main" id="{4F31D6FB-417D-5C7B-A472-9EC934AAE355}"/>
                    </a:ext>
                  </a:extLst>
                </p:cNvPr>
                <p:cNvSpPr/>
                <p:nvPr/>
              </p:nvSpPr>
              <p:spPr bwMode="auto">
                <a:xfrm>
                  <a:off x="8792688" y="2684363"/>
                  <a:ext cx="1234289" cy="83892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&lt; </a:t>
                  </a:r>
                  <a:r>
                    <a:rPr lang="en-US" sz="800" b="1">
                      <a:solidFill>
                        <a:srgbClr val="7030A0"/>
                      </a:solidFill>
                      <a:latin typeface="Cascadia Code" panose="020B0609020000020004" pitchFamily="49" charset="0"/>
                      <a:ea typeface="Segoe UI" pitchFamily="34" charset="0"/>
                      <a:cs typeface="Cascadia Code" panose="020B0609020000020004" pitchFamily="49" charset="0"/>
                    </a:rPr>
                    <a:t>1</a:t>
                  </a:r>
                  <a:r>
                    <a:rPr kumimoji="0" lang="en-US" sz="800" b="1" i="0" u="none" strike="noStrike" kern="1200" cap="none" spc="0" normalizeH="0" baseline="0" noProof="0">
                      <a:ln>
                        <a:noFill/>
                      </a:ln>
                      <a:solidFill>
                        <a:srgbClr val="7030A0"/>
                      </a:solidFill>
                      <a:effectLst/>
                      <a:uLnTx/>
                      <a:uFillTx/>
                      <a:latin typeface="Cascadia Code" panose="020B0609020000020004" pitchFamily="49" charset="0"/>
                      <a:ea typeface="Segoe UI" pitchFamily="34" charset="0"/>
                      <a:cs typeface="Cascadia Code" panose="020B0609020000020004" pitchFamily="49" charset="0"/>
                    </a:rPr>
                    <a:t> sec</a:t>
                  </a:r>
                </a:p>
              </p:txBody>
            </p:sp>
          </p:grpSp>
        </p:grpSp>
        <p:sp>
          <p:nvSpPr>
            <p:cNvPr id="765" name="Rectangle 764">
              <a:extLst>
                <a:ext uri="{FF2B5EF4-FFF2-40B4-BE49-F238E27FC236}">
                  <a16:creationId xmlns:a16="http://schemas.microsoft.com/office/drawing/2014/main" id="{059CF9C1-1880-F600-62EA-1B79F09972EF}"/>
                </a:ext>
              </a:extLst>
            </p:cNvPr>
            <p:cNvSpPr/>
            <p:nvPr/>
          </p:nvSpPr>
          <p:spPr bwMode="auto">
            <a:xfrm>
              <a:off x="8754779" y="1355105"/>
              <a:ext cx="413713"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0</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766" name="Rectangle 765">
              <a:extLst>
                <a:ext uri="{FF2B5EF4-FFF2-40B4-BE49-F238E27FC236}">
                  <a16:creationId xmlns:a16="http://schemas.microsoft.com/office/drawing/2014/main" id="{85558DFA-406D-B2A8-67DF-FDEF20E742DD}"/>
                </a:ext>
              </a:extLst>
            </p:cNvPr>
            <p:cNvSpPr/>
            <p:nvPr/>
          </p:nvSpPr>
          <p:spPr bwMode="auto">
            <a:xfrm>
              <a:off x="8758400" y="1854415"/>
              <a:ext cx="413713"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1</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767" name="Rectangle 766">
              <a:extLst>
                <a:ext uri="{FF2B5EF4-FFF2-40B4-BE49-F238E27FC236}">
                  <a16:creationId xmlns:a16="http://schemas.microsoft.com/office/drawing/2014/main" id="{86672EFA-CA34-2010-A8D6-21BB87EB609F}"/>
                </a:ext>
              </a:extLst>
            </p:cNvPr>
            <p:cNvSpPr/>
            <p:nvPr/>
          </p:nvSpPr>
          <p:spPr bwMode="auto">
            <a:xfrm>
              <a:off x="8757827" y="2328003"/>
              <a:ext cx="413713"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2</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113" name="Rectangle 2112">
              <a:extLst>
                <a:ext uri="{FF2B5EF4-FFF2-40B4-BE49-F238E27FC236}">
                  <a16:creationId xmlns:a16="http://schemas.microsoft.com/office/drawing/2014/main" id="{38455608-370D-89C0-5A5E-1951F97DA4A4}"/>
                </a:ext>
              </a:extLst>
            </p:cNvPr>
            <p:cNvSpPr/>
            <p:nvPr/>
          </p:nvSpPr>
          <p:spPr bwMode="auto">
            <a:xfrm>
              <a:off x="8967711" y="757603"/>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Microbatch checkpoint</a:t>
              </a:r>
              <a:br>
                <a:rPr kumimoji="0" lang="en-US" sz="1000" b="1"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br>
              <a:r>
                <a:rPr kumimoji="0" lang="en-US" sz="7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Each Microbatch is checkpointed into OneLake to ensure resiliency on failures with exactly once guarantees</a:t>
              </a:r>
              <a:endParaRPr kumimoji="0" lang="en-US" sz="10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pic>
          <p:nvPicPr>
            <p:cNvPr id="2115" name="Picture 2114">
              <a:extLst>
                <a:ext uri="{FF2B5EF4-FFF2-40B4-BE49-F238E27FC236}">
                  <a16:creationId xmlns:a16="http://schemas.microsoft.com/office/drawing/2014/main" id="{BF62DC09-5D8C-8B90-CC1B-A9E46383A677}"/>
                </a:ext>
              </a:extLst>
            </p:cNvPr>
            <p:cNvPicPr>
              <a:picLocks noChangeAspect="1"/>
            </p:cNvPicPr>
            <p:nvPr/>
          </p:nvPicPr>
          <p:blipFill>
            <a:blip r:embed="rId16"/>
            <a:srcRect t="34578" r="63666"/>
            <a:stretch>
              <a:fillRect/>
            </a:stretch>
          </p:blipFill>
          <p:spPr>
            <a:xfrm>
              <a:off x="9102506" y="1440656"/>
              <a:ext cx="924668" cy="1312728"/>
            </a:xfrm>
            <a:prstGeom prst="rect">
              <a:avLst/>
            </a:prstGeom>
          </p:spPr>
        </p:pic>
        <p:sp>
          <p:nvSpPr>
            <p:cNvPr id="2116" name="Rectangle 2115">
              <a:extLst>
                <a:ext uri="{FF2B5EF4-FFF2-40B4-BE49-F238E27FC236}">
                  <a16:creationId xmlns:a16="http://schemas.microsoft.com/office/drawing/2014/main" id="{E5DC37C8-7B73-5132-2D59-9EA1134F5631}"/>
                </a:ext>
              </a:extLst>
            </p:cNvPr>
            <p:cNvSpPr/>
            <p:nvPr/>
          </p:nvSpPr>
          <p:spPr bwMode="auto">
            <a:xfrm>
              <a:off x="9714908" y="1274174"/>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Batch completion marker</a:t>
              </a:r>
              <a:endPar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117" name="Rectangle 2116">
              <a:extLst>
                <a:ext uri="{FF2B5EF4-FFF2-40B4-BE49-F238E27FC236}">
                  <a16:creationId xmlns:a16="http://schemas.microsoft.com/office/drawing/2014/main" id="{F425B781-4329-D4AF-CFEA-D03864CE45D6}"/>
                </a:ext>
              </a:extLst>
            </p:cNvPr>
            <p:cNvSpPr/>
            <p:nvPr/>
          </p:nvSpPr>
          <p:spPr bwMode="auto">
            <a:xfrm>
              <a:off x="9734439" y="1534534"/>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Query Unique ID</a:t>
              </a:r>
              <a:endPar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118" name="Rectangle 2117">
              <a:extLst>
                <a:ext uri="{FF2B5EF4-FFF2-40B4-BE49-F238E27FC236}">
                  <a16:creationId xmlns:a16="http://schemas.microsoft.com/office/drawing/2014/main" id="{7741C19D-1E25-9D45-E79C-5F9EFC1F176A}"/>
                </a:ext>
              </a:extLst>
            </p:cNvPr>
            <p:cNvSpPr/>
            <p:nvPr/>
          </p:nvSpPr>
          <p:spPr bwMode="auto">
            <a:xfrm>
              <a:off x="9734439" y="1774806"/>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Source read positions</a:t>
              </a:r>
              <a:endPar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119" name="Rectangle 2118">
              <a:extLst>
                <a:ext uri="{FF2B5EF4-FFF2-40B4-BE49-F238E27FC236}">
                  <a16:creationId xmlns:a16="http://schemas.microsoft.com/office/drawing/2014/main" id="{1B212206-4B3C-73C5-9FD1-DB6D4C20CA58}"/>
                </a:ext>
              </a:extLst>
            </p:cNvPr>
            <p:cNvSpPr/>
            <p:nvPr/>
          </p:nvSpPr>
          <p:spPr bwMode="auto">
            <a:xfrm>
              <a:off x="9734439" y="2023268"/>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Initial metadata</a:t>
              </a:r>
              <a:endPar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sp>
          <p:nvSpPr>
            <p:cNvPr id="2120" name="Rectangle 2119">
              <a:extLst>
                <a:ext uri="{FF2B5EF4-FFF2-40B4-BE49-F238E27FC236}">
                  <a16:creationId xmlns:a16="http://schemas.microsoft.com/office/drawing/2014/main" id="{48D10C83-58DE-D74A-77DA-4A4FA7A8A1C6}"/>
                </a:ext>
              </a:extLst>
            </p:cNvPr>
            <p:cNvSpPr/>
            <p:nvPr/>
          </p:nvSpPr>
          <p:spPr bwMode="auto">
            <a:xfrm>
              <a:off x="9734439" y="2302413"/>
              <a:ext cx="2223049" cy="66055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rPr>
                <a:t>Rocks DB query state</a:t>
              </a:r>
              <a:endParaRPr kumimoji="0" lang="en-US" sz="1100" b="0" i="0" u="none" strike="noStrike" kern="1200" cap="none" spc="0" normalizeH="0" baseline="0" noProof="0">
                <a:ln>
                  <a:noFill/>
                </a:ln>
                <a:solidFill>
                  <a:srgbClr val="000000"/>
                </a:solidFill>
                <a:effectLst/>
                <a:uLnTx/>
                <a:uFillTx/>
                <a:latin typeface="Cascadia Code" panose="020B0609020000020004" pitchFamily="49" charset="0"/>
                <a:ea typeface="Segoe UI" pitchFamily="34" charset="0"/>
                <a:cs typeface="Cascadia Code" panose="020B0609020000020004" pitchFamily="49" charset="0"/>
              </a:endParaRPr>
            </a:p>
          </p:txBody>
        </p:sp>
      </p:grpSp>
    </p:spTree>
    <p:extLst>
      <p:ext uri="{BB962C8B-B14F-4D97-AF65-F5344CB8AC3E}">
        <p14:creationId xmlns:p14="http://schemas.microsoft.com/office/powerpoint/2010/main" val="130478380"/>
      </p:ext>
    </p:extLst>
  </p:cSld>
  <p:clrMapOvr>
    <a:masterClrMapping/>
  </p:clrMapOvr>
  <p:transition>
    <p:fade/>
  </p:transition>
</p:sld>
</file>

<file path=ppt/theme/theme1.xml><?xml version="1.0" encoding="utf-8"?>
<a:theme xmlns:a="http://schemas.openxmlformats.org/drawingml/2006/main" name="1_White Template">
  <a:themeElements>
    <a:clrScheme name="TS_20_Teal on White">
      <a:dk1>
        <a:srgbClr val="000000"/>
      </a:dk1>
      <a:lt1>
        <a:srgbClr val="FFFFFF"/>
      </a:lt1>
      <a:dk2>
        <a:srgbClr val="274B47"/>
      </a:dk2>
      <a:lt2>
        <a:srgbClr val="E6E6E6"/>
      </a:lt2>
      <a:accent1>
        <a:srgbClr val="008575"/>
      </a:accent1>
      <a:accent2>
        <a:srgbClr val="274B47"/>
      </a:accent2>
      <a:accent3>
        <a:srgbClr val="50E6FF"/>
      </a:accent3>
      <a:accent4>
        <a:srgbClr val="0078D4"/>
      </a:accent4>
      <a:accent5>
        <a:srgbClr val="243A5E"/>
      </a:accent5>
      <a:accent6>
        <a:srgbClr val="737373"/>
      </a:accent6>
      <a:hlink>
        <a:srgbClr val="008575"/>
      </a:hlink>
      <a:folHlink>
        <a:srgbClr val="00857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7.potx" id="{38B949A8-B0F9-42B1-8EAB-90FE813F2E82}" vid="{DAD8D2DF-92EF-4645-90C4-AC83445A57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137</TotalTime>
  <Words>934</Words>
  <Application>Microsoft Office PowerPoint</Application>
  <PresentationFormat>Widescreen</PresentationFormat>
  <Paragraphs>129</Paragraphs>
  <Slides>4</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vt:i4>
      </vt:variant>
    </vt:vector>
  </HeadingPairs>
  <TitlesOfParts>
    <vt:vector size="13" baseType="lpstr">
      <vt:lpstr>Aptos</vt:lpstr>
      <vt:lpstr>Arial</vt:lpstr>
      <vt:lpstr>Calibri</vt:lpstr>
      <vt:lpstr>Cascadia Code</vt:lpstr>
      <vt:lpstr>Consolas</vt:lpstr>
      <vt:lpstr>Segoe UI</vt:lpstr>
      <vt:lpstr>Segoe UI Semibold</vt:lpstr>
      <vt:lpstr>Wingdings</vt:lpstr>
      <vt:lpstr>1_White Template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Raki Rahman</dc:creator>
  <cp:lastModifiedBy>Raki Rahman</cp:lastModifiedBy>
  <cp:revision>6</cp:revision>
  <dcterms:created xsi:type="dcterms:W3CDTF">2026-01-19T18:29:05Z</dcterms:created>
  <dcterms:modified xsi:type="dcterms:W3CDTF">2026-03-07T19:43:21Z</dcterms:modified>
</cp:coreProperties>
</file>